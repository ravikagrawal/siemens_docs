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1034"/>
                </a:solidFill>
                <a:latin typeface="Arial"/>
              </a:defRPr>
            </a:pPr>
            <a:r>
              <a:rPr sz="1200" b="0" i="0" u="none" strike="noStrike">
                <a:solidFill>
                  <a:srgbClr val="001034"/>
                </a:solidFill>
                <a:latin typeface="Arial"/>
              </a:rPr>
              <a:t>Person-days per scenario (API + UI layers combined)</a:t>
            </a:r>
          </a:p>
        </c:rich>
      </c:tx>
      <c:layout/>
      <c:overlay val="0"/>
    </c:title>
    <c:autoTitleDeleted val="0"/>
    <c:plotArea>
      <c:layout/>
      <c:barChart>
        <c:barDir val="bar"/>
        <c:grouping val="clustered"/>
        <c:varyColors val="0"/>
        <c:ser>
          <c:idx val="0"/>
          <c:order val="0"/>
          <c:tx>
            <c:strRef>
              <c:f>Sheet1!$B$1</c:f>
              <c:strCache>
                <c:ptCount val="1"/>
                <c:pt idx="0">
                  <c:v>Conventional</c:v>
                </c:pt>
              </c:strCache>
            </c:strRef>
          </c:tx>
          <c:spPr>
            <a:solidFill>
              <a:srgbClr val="9FB3C2"/>
            </a:solidFill>
            <a:effectLst/>
          </c:spPr>
          <c:invertIfNegative val="0"/>
          <c:dLbls>
            <c:numFmt formatCode="0.#" sourceLinked="0"/>
            <c:txPr>
              <a:bodyPr/>
              <a:lstStyle/>
              <a:p>
                <a:pPr>
                  <a:defRPr b="0" i="0" strike="noStrike" sz="900" u="none">
                    <a:solidFill>
                      <a:srgbClr val="5A6672"/>
                    </a:solidFill>
                    <a:latin typeface="Arial"/>
                  </a:defRPr>
                </a:pPr>
              </a:p>
            </c:txPr>
            <c:showLegendKey val="0"/>
            <c:showVal val="1"/>
            <c:showCatName val="0"/>
            <c:showSerName val="0"/>
            <c:showPercent val="0"/>
            <c:showBubbleSize val="0"/>
            <c:showLeaderLines val="0"/>
          </c:dLbls>
          <c:cat>
            <c:multiLvlStrRef>
              <c:f>Sheet1!$A$2:$A$7</c:f>
              <c:multiLvlStrCache>
                <c:ptCount val="6"/>
                <c:lvl>
                  <c:pt idx="0">
                    <c:v>Solution variants</c:v>
                  </c:pt>
                  <c:pt idx="1">
                    <c:v>EBOM–MBOM alignment</c:v>
                  </c:pt>
                  <c:pt idx="2">
                    <c:v>BOM building</c:v>
                  </c:pt>
                  <c:pt idx="3">
                    <c:v>Datasets &amp; files</c:v>
                  </c:pt>
                  <c:pt idx="4">
                    <c:v>Edit properties</c:v>
                  </c:pt>
                  <c:pt idx="5">
                    <c:v>Create objects</c:v>
                  </c:pt>
                </c:lvl>
              </c:multiLvlStrCache>
            </c:multiLvlStrRef>
          </c:cat>
          <c:val>
            <c:numRef>
              <c:f>Sheet1!$B$2:$B$7</c:f>
              <c:numCache>
                <c:formatCode>General</c:formatCode>
                <c:ptCount val="6"/>
                <c:pt idx="0">
                  <c:v>12</c:v>
                </c:pt>
                <c:pt idx="1">
                  <c:v>12</c:v>
                </c:pt>
                <c:pt idx="2">
                  <c:v>9</c:v>
                </c:pt>
                <c:pt idx="3">
                  <c:v>6.5</c:v>
                </c:pt>
                <c:pt idx="4">
                  <c:v>4</c:v>
                </c:pt>
                <c:pt idx="5">
                  <c:v>5</c:v>
                </c:pt>
              </c:numCache>
            </c:numRef>
          </c:val>
        </c:ser>
        <c:ser>
          <c:idx val="1"/>
          <c:order val="1"/>
          <c:tx>
            <c:strRef>
              <c:f>Sheet1!$C$1</c:f>
              <c:strCache>
                <c:ptCount val="1"/>
                <c:pt idx="0">
                  <c:v>AI-assisted</c:v>
                </c:pt>
              </c:strCache>
            </c:strRef>
          </c:tx>
          <c:spPr>
            <a:solidFill>
              <a:srgbClr val="007F80"/>
            </a:solidFill>
            <a:effectLst/>
          </c:spPr>
          <c:invertIfNegative val="0"/>
          <c:dLbls>
            <c:numFmt formatCode="0.#" sourceLinked="0"/>
            <c:txPr>
              <a:bodyPr/>
              <a:lstStyle/>
              <a:p>
                <a:pPr>
                  <a:defRPr b="0" i="0" strike="noStrike" sz="900" u="none">
                    <a:solidFill>
                      <a:srgbClr val="5A6672"/>
                    </a:solidFill>
                    <a:latin typeface="Arial"/>
                  </a:defRPr>
                </a:pPr>
              </a:p>
            </c:txPr>
            <c:showLegendKey val="0"/>
            <c:showVal val="1"/>
            <c:showCatName val="0"/>
            <c:showSerName val="0"/>
            <c:showPercent val="0"/>
            <c:showBubbleSize val="0"/>
            <c:showLeaderLines val="0"/>
          </c:dLbls>
          <c:cat>
            <c:multiLvlStrRef>
              <c:f>Sheet1!$A$2:$A$7</c:f>
              <c:multiLvlStrCache>
                <c:ptCount val="6"/>
                <c:lvl>
                  <c:pt idx="0">
                    <c:v>Solution variants</c:v>
                  </c:pt>
                  <c:pt idx="1">
                    <c:v>EBOM–MBOM alignment</c:v>
                  </c:pt>
                  <c:pt idx="2">
                    <c:v>BOM building</c:v>
                  </c:pt>
                  <c:pt idx="3">
                    <c:v>Datasets &amp; files</c:v>
                  </c:pt>
                  <c:pt idx="4">
                    <c:v>Edit properties</c:v>
                  </c:pt>
                  <c:pt idx="5">
                    <c:v>Create objects</c:v>
                  </c:pt>
                </c:lvl>
              </c:multiLvlStrCache>
            </c:multiLvlStrRef>
          </c:cat>
          <c:val>
            <c:numRef>
              <c:f>Sheet1!$C$2:$C$7</c:f>
              <c:numCache>
                <c:formatCode>General</c:formatCode>
                <c:ptCount val="6"/>
                <c:pt idx="0">
                  <c:v>7.5</c:v>
                </c:pt>
                <c:pt idx="1">
                  <c:v>7.5</c:v>
                </c:pt>
                <c:pt idx="2">
                  <c:v>5.5</c:v>
                </c:pt>
                <c:pt idx="3">
                  <c:v>4</c:v>
                </c:pt>
                <c:pt idx="4">
                  <c:v>2.5</c:v>
                </c:pt>
                <c:pt idx="5">
                  <c:v>3</c:v>
                </c:pt>
              </c:numCache>
            </c:numRef>
          </c:val>
        </c:ser>
        <c:dLbls>
          <c:numFmt formatCode="0.#" sourceLinked="0"/>
          <c:txPr>
            <a:bodyPr/>
            <a:lstStyle/>
            <a:p>
              <a:pPr>
                <a:defRPr b="0" i="0" strike="noStrike" sz="900" u="none">
                  <a:solidFill>
                    <a:srgbClr val="5A6672"/>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672"/>
                </a:solidFill>
                <a:latin typeface="Calibri"/>
              </a:defRPr>
            </a:pPr>
            <a:endParaRPr lang="en-US"/>
          </a:p>
        </c:txPr>
        <c:crossAx val="2094734552"/>
        <c:crosses val="autoZero"/>
        <c:auto val="1"/>
        <c:lblAlgn val="ctr"/>
        <c:noMultiLvlLbl val="1"/>
      </c:catAx>
      <c:valAx>
        <c:axId val="2094734552"/>
        <c:scaling>
          <c:orientation val="minMax"/>
          <c:max val="14"/>
        </c:scaling>
        <c:delete val="1"/>
        <c:axPos val="b"/>
        <c:majorGridlines>
          <c:spPr>
            <a:ln w="9525" cap="flat">
              <a:solidFill>
                <a:srgbClr val="E6EB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A66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not a concept looking for a build. Three repositories exist; the pipeline runs; the test layers are partly built. The pitch is about completing and productising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review: spend the time on slides 10-17. Customer session: slides 3, 6, 10, 18,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four the room recognises. It converts a pitch into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idea of the deck.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name the owner of each repo and its current maturity. Customer: follow this slide with a short live demo of the build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build and deploy are separate jobs on purpose: the artefact deployed to QA is byte-identical to the one tested in DEV, fetched via copyArtifacts.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revision gate is worth calling out: it makes redeployment idempotent, which is what allows dry runs to be repeated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split exists because preferences referencing new LOV values, queries against new types and workflow templates on new types all fail if the data model has not landed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for a technical audience. It shows the pipeline was built by someone who had reviewed a real one and knew what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objection that UI tests are brittle. The answer is on this slide: the UI layer is deliberately the narrowest, sitting on top of a much broader API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is invisible to the customer but is what makes the rest trustworthy. Mention that one of these tests exists because a real bug was found in smoke testing - it shows the discipline is live, not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Cookie/XSRF handling differs between deployments - some issue XSRF-TOKEN and require the header, some only JSESSIONID. The collection detects which applies. Worth mentioning as evidence of real-world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argument: without the gateway, every client re-implements cookie and XSRF handling. With it, that logic is tested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scope: one scenario exists today. The framework around it - environments, credentials, screenshots, headless execution - is the part that took the effort, and adding journeys is now incremental.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scenarios are the ones every upgrade touches. P2 are the ones that hurt most when they break, but affect fewer customers - sequence them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line here: the last bullet of the variants card is the whole reason for the programme. Variant conditions are exactly the thing that silently changes across a Teamcenter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planning figures, not a quote. The assumptions in the footnote are what a customer will challenge - state them before they ask. Variants and MBOM are the expensive ones because the expected result itself needs engineering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to name one tool: an agentic assistant in the IDE, paired with a browser MCP server. The pairing matters more than the brand - without live DOM access the assistant guesses selectors, which is worse than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directly. The locator contract lives in the repo as a reviewed file; the AI reads it and is not permitted to invent an anchor outside it. Selectors are the one thing a human must always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data belongs in the spec's data table so the same scenario runs with different inputs per environment. That is also what stops the assistant from inventing item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protects the estimate. A customer who has been promised a flat 50% saving and then hits two weeks of flaky-run stabilisation stops trusting the whole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regulated customers: this is also the audit story. The evidence is generated as a by-product of the release rather than assembled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remove this slide for the internal review - it is what makes the roadmap credible. For the customer deck, the 'Open' column becomes 'What the pilot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matters. Nobody should start with UI automation. Harden what exists, broaden coverage, then scale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connects the engineering asset to the customer's programme plan. Spend time here in the customer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pilot small. The objective is a reference and a measured baseline, not a finished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a summary. One sentence, then open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034"/>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A1E4A"/>
          </a:solidFill>
          <a:ln w="9525">
            <a:solidFill>
              <a:srgbClr val="007F80">
                <a:alpha val="45000"/>
              </a:srgbClr>
            </a:solidFill>
            <a:prstDash val="solid"/>
          </a:ln>
        </p:spPr>
      </p:sp>
      <p:sp>
        <p:nvSpPr>
          <p:cNvPr id="3" name="Shape 1"/>
          <p:cNvSpPr/>
          <p:nvPr/>
        </p:nvSpPr>
        <p:spPr>
          <a:xfrm>
            <a:off x="10881360" y="4754880"/>
            <a:ext cx="2926080" cy="2926080"/>
          </a:xfrm>
          <a:prstGeom prst="ellipse">
            <a:avLst/>
          </a:prstGeom>
          <a:solidFill>
            <a:srgbClr val="0A1E4A"/>
          </a:solidFill>
          <a:ln w="9525">
            <a:solidFill>
              <a:srgbClr val="00E1A0">
                <a:alpha val="35000"/>
              </a:srgbClr>
            </a:solidFill>
            <a:prstDash val="solid"/>
          </a:ln>
        </p:spPr>
      </p:sp>
      <p:sp>
        <p:nvSpPr>
          <p:cNvPr id="4" name="Text 2"/>
          <p:cNvSpPr/>
          <p:nvPr/>
        </p:nvSpPr>
        <p:spPr>
          <a:xfrm>
            <a:off x="640080" y="1188720"/>
            <a:ext cx="7315200" cy="274320"/>
          </a:xfrm>
          <a:prstGeom prst="rect">
            <a:avLst/>
          </a:prstGeom>
          <a:noFill/>
          <a:ln/>
        </p:spPr>
        <p:txBody>
          <a:bodyPr wrap="square" lIns="0" tIns="0" rIns="0" bIns="0" rtlCol="0" anchor="ctr"/>
          <a:lstStyle/>
          <a:p>
            <a:pPr indent="0" marL="0">
              <a:buNone/>
            </a:pPr>
            <a:r>
              <a:rPr lang="en-US" sz="1200" b="1" spc="300" kern="0" dirty="0">
                <a:solidFill>
                  <a:srgbClr val="00E1A0"/>
                </a:solidFill>
                <a:latin typeface="Arial" pitchFamily="34" charset="0"/>
                <a:ea typeface="Arial" pitchFamily="34" charset="-122"/>
                <a:cs typeface="Arial" pitchFamily="34" charset="-120"/>
              </a:rPr>
              <a:t>MHP  |  PLM ENGINEERING</a:t>
            </a:r>
            <a:endParaRPr lang="en-US" sz="1200" dirty="0"/>
          </a:p>
        </p:txBody>
      </p:sp>
      <p:sp>
        <p:nvSpPr>
          <p:cNvPr id="5" name="Text 3"/>
          <p:cNvSpPr/>
          <p:nvPr/>
        </p:nvSpPr>
        <p:spPr>
          <a:xfrm>
            <a:off x="640080" y="1627632"/>
            <a:ext cx="7863840" cy="1691640"/>
          </a:xfrm>
          <a:prstGeom prst="rect">
            <a:avLst/>
          </a:prstGeom>
          <a:noFill/>
          <a:ln/>
        </p:spPr>
        <p:txBody>
          <a:bodyPr wrap="square" lIns="0" tIns="0" rIns="0" bIns="0" rtlCol="0" anchor="ctr"/>
          <a:lstStyle/>
          <a:p>
            <a:pPr indent="0" marL="0">
              <a:lnSpc>
                <a:spcPts val="4400"/>
              </a:lnSpc>
              <a:buNone/>
            </a:pPr>
            <a:r>
              <a:rPr lang="en-US" sz="4200" b="1" dirty="0">
                <a:solidFill>
                  <a:srgbClr val="FFFFFF"/>
                </a:solidFill>
                <a:latin typeface="Arial" pitchFamily="34" charset="0"/>
                <a:ea typeface="Arial" pitchFamily="34" charset="-122"/>
                <a:cs typeface="Arial" pitchFamily="34" charset="-120"/>
              </a:rPr>
              <a:t>Continuous Delivery</a:t>
            </a:r>
            <a:endParaRPr lang="en-US" sz="4200" dirty="0"/>
          </a:p>
          <a:p>
            <a:pPr indent="0" marL="0">
              <a:lnSpc>
                <a:spcPts val="4400"/>
              </a:lnSpc>
              <a:buNone/>
            </a:pPr>
            <a:r>
              <a:rPr lang="en-US" sz="4200" b="1" dirty="0">
                <a:solidFill>
                  <a:srgbClr val="FFFFFF"/>
                </a:solidFill>
                <a:latin typeface="Arial" pitchFamily="34" charset="0"/>
                <a:ea typeface="Arial" pitchFamily="34" charset="-122"/>
                <a:cs typeface="Arial" pitchFamily="34" charset="-120"/>
              </a:rPr>
              <a:t>for Teamcenter</a:t>
            </a:r>
            <a:endParaRPr lang="en-US" sz="4200" dirty="0"/>
          </a:p>
        </p:txBody>
      </p:sp>
      <p:sp>
        <p:nvSpPr>
          <p:cNvPr id="6" name="Text 4"/>
          <p:cNvSpPr/>
          <p:nvPr/>
        </p:nvSpPr>
        <p:spPr>
          <a:xfrm>
            <a:off x="640080" y="3493008"/>
            <a:ext cx="7589520" cy="914400"/>
          </a:xfrm>
          <a:prstGeom prst="rect">
            <a:avLst/>
          </a:prstGeom>
          <a:noFill/>
          <a:ln/>
        </p:spPr>
        <p:txBody>
          <a:bodyPr wrap="square" lIns="0" tIns="0" rIns="0" bIns="0" rtlCol="0" anchor="ctr"/>
          <a:lstStyle/>
          <a:p>
            <a:pPr indent="0" marL="0">
              <a:lnSpc>
                <a:spcPts val="2300"/>
              </a:lnSpc>
              <a:buNone/>
            </a:pPr>
            <a:r>
              <a:rPr lang="en-US" sz="1550" dirty="0">
                <a:solidFill>
                  <a:srgbClr val="C7D3DE"/>
                </a:solidFill>
                <a:latin typeface="Calibri" pitchFamily="34" charset="0"/>
                <a:ea typeface="Calibri" pitchFamily="34" charset="-122"/>
                <a:cs typeface="Calibri" pitchFamily="34" charset="-120"/>
              </a:rPr>
              <a:t>A working CI/CD and test-automation stack for Teamcenter 2606 — pipeline, deployment engine and a four-layer test strategy covering the platform, the REST API and Active Workspace.</a:t>
            </a:r>
            <a:endParaRPr lang="en-US" sz="1550" dirty="0"/>
          </a:p>
        </p:txBody>
      </p:sp>
      <p:sp>
        <p:nvSpPr>
          <p:cNvPr id="7" name="Shape 5"/>
          <p:cNvSpPr/>
          <p:nvPr/>
        </p:nvSpPr>
        <p:spPr>
          <a:xfrm>
            <a:off x="640080" y="4617720"/>
            <a:ext cx="2468880" cy="841248"/>
          </a:xfrm>
          <a:prstGeom prst="roundRect">
            <a:avLst>
              <a:gd name="adj" fmla="val 10870"/>
            </a:avLst>
          </a:prstGeom>
          <a:solidFill>
            <a:srgbClr val="0A1E4A"/>
          </a:solidFill>
          <a:ln w="9525">
            <a:solidFill>
              <a:srgbClr val="00A5A6"/>
            </a:solidFill>
            <a:prstDash val="solid"/>
          </a:ln>
        </p:spPr>
      </p:sp>
      <p:sp>
        <p:nvSpPr>
          <p:cNvPr id="8" name="Text 6"/>
          <p:cNvSpPr/>
          <p:nvPr/>
        </p:nvSpPr>
        <p:spPr>
          <a:xfrm>
            <a:off x="804672" y="4736592"/>
            <a:ext cx="2194560" cy="27432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tc2606-plm-ci</a:t>
            </a:r>
            <a:endParaRPr lang="en-US" sz="1150" dirty="0"/>
          </a:p>
        </p:txBody>
      </p:sp>
      <p:sp>
        <p:nvSpPr>
          <p:cNvPr id="9" name="Text 7"/>
          <p:cNvSpPr/>
          <p:nvPr/>
        </p:nvSpPr>
        <p:spPr>
          <a:xfrm>
            <a:off x="804672" y="5029200"/>
            <a:ext cx="2194560" cy="329184"/>
          </a:xfrm>
          <a:prstGeom prst="rect">
            <a:avLst/>
          </a:prstGeom>
          <a:noFill/>
          <a:ln/>
        </p:spPr>
        <p:txBody>
          <a:bodyPr wrap="square" lIns="0" tIns="0" rIns="0" bIns="0" rtlCol="0" anchor="ctr"/>
          <a:lstStyle/>
          <a:p>
            <a:pPr indent="0" marL="0">
              <a:buNone/>
            </a:pPr>
            <a:r>
              <a:rPr lang="en-US" sz="1000" dirty="0">
                <a:solidFill>
                  <a:srgbClr val="9FB3C2"/>
                </a:solidFill>
                <a:latin typeface="Calibri" pitchFamily="34" charset="0"/>
                <a:ea typeface="Calibri" pitchFamily="34" charset="-122"/>
                <a:cs typeface="Calibri" pitchFamily="34" charset="-120"/>
              </a:rPr>
              <a:t>Jenkins · Python · TC utilities</a:t>
            </a:r>
            <a:endParaRPr lang="en-US" sz="1000" dirty="0"/>
          </a:p>
        </p:txBody>
      </p:sp>
      <p:sp>
        <p:nvSpPr>
          <p:cNvPr id="10" name="Shape 8"/>
          <p:cNvSpPr/>
          <p:nvPr/>
        </p:nvSpPr>
        <p:spPr>
          <a:xfrm>
            <a:off x="3246120" y="4617720"/>
            <a:ext cx="2468880" cy="841248"/>
          </a:xfrm>
          <a:prstGeom prst="roundRect">
            <a:avLst>
              <a:gd name="adj" fmla="val 10870"/>
            </a:avLst>
          </a:prstGeom>
          <a:solidFill>
            <a:srgbClr val="0A1E4A"/>
          </a:solidFill>
          <a:ln w="9525">
            <a:solidFill>
              <a:srgbClr val="00A5A6"/>
            </a:solidFill>
            <a:prstDash val="solid"/>
          </a:ln>
        </p:spPr>
      </p:sp>
      <p:sp>
        <p:nvSpPr>
          <p:cNvPr id="11" name="Text 9"/>
          <p:cNvSpPr/>
          <p:nvPr/>
        </p:nvSpPr>
        <p:spPr>
          <a:xfrm>
            <a:off x="3410712" y="4736592"/>
            <a:ext cx="2194560" cy="27432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mhp_webapps</a:t>
            </a:r>
            <a:endParaRPr lang="en-US" sz="1150" dirty="0"/>
          </a:p>
        </p:txBody>
      </p:sp>
      <p:sp>
        <p:nvSpPr>
          <p:cNvPr id="12" name="Text 10"/>
          <p:cNvSpPr/>
          <p:nvPr/>
        </p:nvSpPr>
        <p:spPr>
          <a:xfrm>
            <a:off x="3410712" y="5029200"/>
            <a:ext cx="2194560" cy="329184"/>
          </a:xfrm>
          <a:prstGeom prst="rect">
            <a:avLst/>
          </a:prstGeom>
          <a:noFill/>
          <a:ln/>
        </p:spPr>
        <p:txBody>
          <a:bodyPr wrap="square" lIns="0" tIns="0" rIns="0" bIns="0" rtlCol="0" anchor="ctr"/>
          <a:lstStyle/>
          <a:p>
            <a:pPr indent="0" marL="0">
              <a:buNone/>
            </a:pPr>
            <a:r>
              <a:rPr lang="en-US" sz="1000" dirty="0">
                <a:solidFill>
                  <a:srgbClr val="9FB3C2"/>
                </a:solidFill>
                <a:latin typeface="Calibri" pitchFamily="34" charset="0"/>
                <a:ea typeface="Calibri" pitchFamily="34" charset="-122"/>
                <a:cs typeface="Calibri" pitchFamily="34" charset="-120"/>
              </a:rPr>
              <a:t>Postman/Newman · Spring Boot gateway</a:t>
            </a:r>
            <a:endParaRPr lang="en-US" sz="1000" dirty="0"/>
          </a:p>
        </p:txBody>
      </p:sp>
      <p:sp>
        <p:nvSpPr>
          <p:cNvPr id="13" name="Shape 11"/>
          <p:cNvSpPr/>
          <p:nvPr/>
        </p:nvSpPr>
        <p:spPr>
          <a:xfrm>
            <a:off x="5852160" y="4617720"/>
            <a:ext cx="2468880" cy="841248"/>
          </a:xfrm>
          <a:prstGeom prst="roundRect">
            <a:avLst>
              <a:gd name="adj" fmla="val 10870"/>
            </a:avLst>
          </a:prstGeom>
          <a:solidFill>
            <a:srgbClr val="0A1E4A"/>
          </a:solidFill>
          <a:ln w="9525">
            <a:solidFill>
              <a:srgbClr val="00A5A6"/>
            </a:solidFill>
            <a:prstDash val="solid"/>
          </a:ln>
        </p:spPr>
      </p:sp>
      <p:sp>
        <p:nvSpPr>
          <p:cNvPr id="14" name="Text 12"/>
          <p:cNvSpPr/>
          <p:nvPr/>
        </p:nvSpPr>
        <p:spPr>
          <a:xfrm>
            <a:off x="6016752" y="4736592"/>
            <a:ext cx="2194560" cy="27432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aw_ui_test</a:t>
            </a:r>
            <a:endParaRPr lang="en-US" sz="1150" dirty="0"/>
          </a:p>
        </p:txBody>
      </p:sp>
      <p:sp>
        <p:nvSpPr>
          <p:cNvPr id="15" name="Text 13"/>
          <p:cNvSpPr/>
          <p:nvPr/>
        </p:nvSpPr>
        <p:spPr>
          <a:xfrm>
            <a:off x="6016752" y="5029200"/>
            <a:ext cx="2194560" cy="329184"/>
          </a:xfrm>
          <a:prstGeom prst="rect">
            <a:avLst/>
          </a:prstGeom>
          <a:noFill/>
          <a:ln/>
        </p:spPr>
        <p:txBody>
          <a:bodyPr wrap="square" lIns="0" tIns="0" rIns="0" bIns="0" rtlCol="0" anchor="ctr"/>
          <a:lstStyle/>
          <a:p>
            <a:pPr indent="0" marL="0">
              <a:buNone/>
            </a:pPr>
            <a:r>
              <a:rPr lang="en-US" sz="1000" dirty="0">
                <a:solidFill>
                  <a:srgbClr val="9FB3C2"/>
                </a:solidFill>
                <a:latin typeface="Calibri" pitchFamily="34" charset="0"/>
                <a:ea typeface="Calibri" pitchFamily="34" charset="-122"/>
                <a:cs typeface="Calibri" pitchFamily="34" charset="-120"/>
              </a:rPr>
              <a:t>Gauge · Geb · Selenium</a:t>
            </a:r>
            <a:endParaRPr lang="en-US" sz="1000" dirty="0"/>
          </a:p>
        </p:txBody>
      </p:sp>
      <p:sp>
        <p:nvSpPr>
          <p:cNvPr id="16" name="Text 14"/>
          <p:cNvSpPr/>
          <p:nvPr/>
        </p:nvSpPr>
        <p:spPr>
          <a:xfrm>
            <a:off x="640080" y="5852160"/>
            <a:ext cx="7315200" cy="274320"/>
          </a:xfrm>
          <a:prstGeom prst="rect">
            <a:avLst/>
          </a:prstGeom>
          <a:noFill/>
          <a:ln/>
        </p:spPr>
        <p:txBody>
          <a:bodyPr wrap="square" lIns="0" tIns="0" rIns="0" bIns="0" rtlCol="0" anchor="ctr"/>
          <a:lstStyle/>
          <a:p>
            <a:pPr indent="0" marL="0">
              <a:buNone/>
            </a:pPr>
            <a:r>
              <a:rPr lang="en-US" sz="1100" i="1" dirty="0">
                <a:solidFill>
                  <a:srgbClr val="8FA3B5"/>
                </a:solidFill>
                <a:latin typeface="Calibri" pitchFamily="34" charset="0"/>
                <a:ea typeface="Calibri" pitchFamily="34" charset="-122"/>
                <a:cs typeface="Calibri" pitchFamily="34" charset="-120"/>
              </a:rPr>
              <a:t>Internal concept review  ·  Basis for customer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AGENDA</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What we will cover</a:t>
            </a:r>
            <a:endParaRPr lang="en-US" sz="2900" dirty="0"/>
          </a:p>
        </p:txBody>
      </p:sp>
      <p:sp>
        <p:nvSpPr>
          <p:cNvPr id="4" name="Shape 2"/>
          <p:cNvSpPr/>
          <p:nvPr/>
        </p:nvSpPr>
        <p:spPr>
          <a:xfrm>
            <a:off x="640080" y="160020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896112" y="1856232"/>
            <a:ext cx="566928" cy="566928"/>
          </a:xfrm>
          <a:prstGeom prst="ellipse">
            <a:avLst/>
          </a:prstGeom>
          <a:solidFill>
            <a:srgbClr val="001034"/>
          </a:solidFill>
          <a:ln w="12700">
            <a:solidFill>
              <a:srgbClr val="001034"/>
            </a:solidFill>
            <a:prstDash val="solid"/>
          </a:ln>
        </p:spPr>
      </p:sp>
      <p:pic>
        <p:nvPicPr>
          <p:cNvPr id="6" name="Image 0" descr="preencoded.png">    </p:cNvPr>
          <p:cNvPicPr>
            <a:picLocks noChangeAspect="1"/>
          </p:cNvPicPr>
          <p:nvPr/>
        </p:nvPicPr>
        <p:blipFill>
          <a:blip r:embed="rId1"/>
          <a:stretch>
            <a:fillRect/>
          </a:stretch>
        </p:blipFill>
        <p:spPr>
          <a:xfrm>
            <a:off x="1032175" y="1992295"/>
            <a:ext cx="294803" cy="294803"/>
          </a:xfrm>
          <a:prstGeom prst="rect">
            <a:avLst/>
          </a:prstGeom>
        </p:spPr>
      </p:pic>
      <p:sp>
        <p:nvSpPr>
          <p:cNvPr id="7" name="Text 4"/>
          <p:cNvSpPr/>
          <p:nvPr/>
        </p:nvSpPr>
        <p:spPr>
          <a:xfrm>
            <a:off x="896112" y="253288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The problem</a:t>
            </a:r>
            <a:endParaRPr lang="en-US" sz="1500" dirty="0"/>
          </a:p>
        </p:txBody>
      </p:sp>
      <p:sp>
        <p:nvSpPr>
          <p:cNvPr id="8" name="Text 5"/>
          <p:cNvSpPr/>
          <p:nvPr/>
        </p:nvSpPr>
        <p:spPr>
          <a:xfrm>
            <a:off x="896112" y="286207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Why Teamcenter releases and upgrades run late</a:t>
            </a:r>
            <a:endParaRPr lang="en-US" sz="1150" dirty="0"/>
          </a:p>
        </p:txBody>
      </p:sp>
      <p:sp>
        <p:nvSpPr>
          <p:cNvPr id="9" name="Text 6"/>
          <p:cNvSpPr/>
          <p:nvPr/>
        </p:nvSpPr>
        <p:spPr>
          <a:xfrm>
            <a:off x="3337560" y="183794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01</a:t>
            </a:r>
            <a:endParaRPr lang="en-US" sz="1600" dirty="0"/>
          </a:p>
        </p:txBody>
      </p:sp>
      <p:sp>
        <p:nvSpPr>
          <p:cNvPr id="10" name="Shape 7"/>
          <p:cNvSpPr/>
          <p:nvPr/>
        </p:nvSpPr>
        <p:spPr>
          <a:xfrm>
            <a:off x="4343400" y="160020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Shape 8"/>
          <p:cNvSpPr/>
          <p:nvPr/>
        </p:nvSpPr>
        <p:spPr>
          <a:xfrm>
            <a:off x="4599432" y="1856232"/>
            <a:ext cx="566928" cy="566928"/>
          </a:xfrm>
          <a:prstGeom prst="ellipse">
            <a:avLst/>
          </a:prstGeom>
          <a:solidFill>
            <a:srgbClr val="001034"/>
          </a:solidFill>
          <a:ln w="12700">
            <a:solidFill>
              <a:srgbClr val="001034"/>
            </a:solidFill>
            <a:prstDash val="solid"/>
          </a:ln>
        </p:spPr>
      </p:sp>
      <p:pic>
        <p:nvPicPr>
          <p:cNvPr id="12" name="Image 1" descr="preencoded.png">    </p:cNvPr>
          <p:cNvPicPr>
            <a:picLocks noChangeAspect="1"/>
          </p:cNvPicPr>
          <p:nvPr/>
        </p:nvPicPr>
        <p:blipFill>
          <a:blip r:embed="rId2"/>
          <a:stretch>
            <a:fillRect/>
          </a:stretch>
        </p:blipFill>
        <p:spPr>
          <a:xfrm>
            <a:off x="4735495" y="1992295"/>
            <a:ext cx="294803" cy="294803"/>
          </a:xfrm>
          <a:prstGeom prst="rect">
            <a:avLst/>
          </a:prstGeom>
        </p:spPr>
      </p:pic>
      <p:sp>
        <p:nvSpPr>
          <p:cNvPr id="13" name="Text 9"/>
          <p:cNvSpPr/>
          <p:nvPr/>
        </p:nvSpPr>
        <p:spPr>
          <a:xfrm>
            <a:off x="4599432" y="253288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The pipeline</a:t>
            </a:r>
            <a:endParaRPr lang="en-US" sz="1500" dirty="0"/>
          </a:p>
        </p:txBody>
      </p:sp>
      <p:sp>
        <p:nvSpPr>
          <p:cNvPr id="14" name="Text 10"/>
          <p:cNvSpPr/>
          <p:nvPr/>
        </p:nvSpPr>
        <p:spPr>
          <a:xfrm>
            <a:off x="4599432" y="286207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Build, package and deploy TC 2606 configuration</a:t>
            </a:r>
            <a:endParaRPr lang="en-US" sz="1150" dirty="0"/>
          </a:p>
        </p:txBody>
      </p:sp>
      <p:sp>
        <p:nvSpPr>
          <p:cNvPr id="15" name="Text 11"/>
          <p:cNvSpPr/>
          <p:nvPr/>
        </p:nvSpPr>
        <p:spPr>
          <a:xfrm>
            <a:off x="7040880" y="183794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02</a:t>
            </a:r>
            <a:endParaRPr lang="en-US" sz="1600" dirty="0"/>
          </a:p>
        </p:txBody>
      </p:sp>
      <p:sp>
        <p:nvSpPr>
          <p:cNvPr id="16" name="Shape 12"/>
          <p:cNvSpPr/>
          <p:nvPr/>
        </p:nvSpPr>
        <p:spPr>
          <a:xfrm>
            <a:off x="8046720" y="160020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7" name="Shape 13"/>
          <p:cNvSpPr/>
          <p:nvPr/>
        </p:nvSpPr>
        <p:spPr>
          <a:xfrm>
            <a:off x="8302752" y="1856232"/>
            <a:ext cx="566928" cy="566928"/>
          </a:xfrm>
          <a:prstGeom prst="ellipse">
            <a:avLst/>
          </a:prstGeom>
          <a:solidFill>
            <a:srgbClr val="001034"/>
          </a:solidFill>
          <a:ln w="12700">
            <a:solidFill>
              <a:srgbClr val="001034"/>
            </a:solidFill>
            <a:prstDash val="solid"/>
          </a:ln>
        </p:spPr>
      </p:sp>
      <p:pic>
        <p:nvPicPr>
          <p:cNvPr id="18" name="Image 2" descr="preencoded.png">    </p:cNvPr>
          <p:cNvPicPr>
            <a:picLocks noChangeAspect="1"/>
          </p:cNvPicPr>
          <p:nvPr/>
        </p:nvPicPr>
        <p:blipFill>
          <a:blip r:embed="rId3"/>
          <a:stretch>
            <a:fillRect/>
          </a:stretch>
        </p:blipFill>
        <p:spPr>
          <a:xfrm>
            <a:off x="8438815" y="1992295"/>
            <a:ext cx="294803" cy="294803"/>
          </a:xfrm>
          <a:prstGeom prst="rect">
            <a:avLst/>
          </a:prstGeom>
        </p:spPr>
      </p:pic>
      <p:sp>
        <p:nvSpPr>
          <p:cNvPr id="19" name="Text 14"/>
          <p:cNvSpPr/>
          <p:nvPr/>
        </p:nvSpPr>
        <p:spPr>
          <a:xfrm>
            <a:off x="8302752" y="253288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The test strategy</a:t>
            </a:r>
            <a:endParaRPr lang="en-US" sz="1500" dirty="0"/>
          </a:p>
        </p:txBody>
      </p:sp>
      <p:sp>
        <p:nvSpPr>
          <p:cNvPr id="20" name="Text 15"/>
          <p:cNvSpPr/>
          <p:nvPr/>
        </p:nvSpPr>
        <p:spPr>
          <a:xfrm>
            <a:off x="8302752" y="286207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Four layers: pipeline, OOTB API, gateway API, AW UI</a:t>
            </a:r>
            <a:endParaRPr lang="en-US" sz="1150" dirty="0"/>
          </a:p>
        </p:txBody>
      </p:sp>
      <p:sp>
        <p:nvSpPr>
          <p:cNvPr id="21" name="Text 16"/>
          <p:cNvSpPr/>
          <p:nvPr/>
        </p:nvSpPr>
        <p:spPr>
          <a:xfrm>
            <a:off x="10744200" y="183794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03</a:t>
            </a:r>
            <a:endParaRPr lang="en-US" sz="1600" dirty="0"/>
          </a:p>
        </p:txBody>
      </p:sp>
      <p:sp>
        <p:nvSpPr>
          <p:cNvPr id="22" name="Shape 17"/>
          <p:cNvSpPr/>
          <p:nvPr/>
        </p:nvSpPr>
        <p:spPr>
          <a:xfrm>
            <a:off x="640080" y="374904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3" name="Shape 18"/>
          <p:cNvSpPr/>
          <p:nvPr/>
        </p:nvSpPr>
        <p:spPr>
          <a:xfrm>
            <a:off x="896112" y="4005072"/>
            <a:ext cx="566928" cy="566928"/>
          </a:xfrm>
          <a:prstGeom prst="ellipse">
            <a:avLst/>
          </a:prstGeom>
          <a:solidFill>
            <a:srgbClr val="001034"/>
          </a:solidFill>
          <a:ln w="12700">
            <a:solidFill>
              <a:srgbClr val="001034"/>
            </a:solidFill>
            <a:prstDash val="solid"/>
          </a:ln>
        </p:spPr>
      </p:sp>
      <p:pic>
        <p:nvPicPr>
          <p:cNvPr id="24" name="Image 3" descr="preencoded.png">    </p:cNvPr>
          <p:cNvPicPr>
            <a:picLocks noChangeAspect="1"/>
          </p:cNvPicPr>
          <p:nvPr/>
        </p:nvPicPr>
        <p:blipFill>
          <a:blip r:embed="rId4"/>
          <a:stretch>
            <a:fillRect/>
          </a:stretch>
        </p:blipFill>
        <p:spPr>
          <a:xfrm>
            <a:off x="1032175" y="4141135"/>
            <a:ext cx="294803" cy="294803"/>
          </a:xfrm>
          <a:prstGeom prst="rect">
            <a:avLst/>
          </a:prstGeom>
        </p:spPr>
      </p:pic>
      <p:sp>
        <p:nvSpPr>
          <p:cNvPr id="25" name="Text 19"/>
          <p:cNvSpPr/>
          <p:nvPr/>
        </p:nvSpPr>
        <p:spPr>
          <a:xfrm>
            <a:off x="896112" y="468172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Scope &amp; effort</a:t>
            </a:r>
            <a:endParaRPr lang="en-US" sz="1500" dirty="0"/>
          </a:p>
        </p:txBody>
      </p:sp>
      <p:sp>
        <p:nvSpPr>
          <p:cNvPr id="26" name="Text 20"/>
          <p:cNvSpPr/>
          <p:nvPr/>
        </p:nvSpPr>
        <p:spPr>
          <a:xfrm>
            <a:off x="896112" y="501091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The scenario catalogue and what it costs to build</a:t>
            </a:r>
            <a:endParaRPr lang="en-US" sz="1150" dirty="0"/>
          </a:p>
        </p:txBody>
      </p:sp>
      <p:sp>
        <p:nvSpPr>
          <p:cNvPr id="27" name="Text 21"/>
          <p:cNvSpPr/>
          <p:nvPr/>
        </p:nvSpPr>
        <p:spPr>
          <a:xfrm>
            <a:off x="3337560" y="398678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04</a:t>
            </a:r>
            <a:endParaRPr lang="en-US" sz="1600" dirty="0"/>
          </a:p>
        </p:txBody>
      </p:sp>
      <p:sp>
        <p:nvSpPr>
          <p:cNvPr id="28" name="Shape 22"/>
          <p:cNvSpPr/>
          <p:nvPr/>
        </p:nvSpPr>
        <p:spPr>
          <a:xfrm>
            <a:off x="4343400" y="374904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9" name="Shape 23"/>
          <p:cNvSpPr/>
          <p:nvPr/>
        </p:nvSpPr>
        <p:spPr>
          <a:xfrm>
            <a:off x="4599432" y="4005072"/>
            <a:ext cx="566928" cy="566928"/>
          </a:xfrm>
          <a:prstGeom prst="ellipse">
            <a:avLst/>
          </a:prstGeom>
          <a:solidFill>
            <a:srgbClr val="001034"/>
          </a:solidFill>
          <a:ln w="12700">
            <a:solidFill>
              <a:srgbClr val="001034"/>
            </a:solidFill>
            <a:prstDash val="solid"/>
          </a:ln>
        </p:spPr>
      </p:sp>
      <p:pic>
        <p:nvPicPr>
          <p:cNvPr id="30" name="Image 4" descr="preencoded.png">    </p:cNvPr>
          <p:cNvPicPr>
            <a:picLocks noChangeAspect="1"/>
          </p:cNvPicPr>
          <p:nvPr/>
        </p:nvPicPr>
        <p:blipFill>
          <a:blip r:embed="rId5"/>
          <a:stretch>
            <a:fillRect/>
          </a:stretch>
        </p:blipFill>
        <p:spPr>
          <a:xfrm>
            <a:off x="4735495" y="4141135"/>
            <a:ext cx="294803" cy="294803"/>
          </a:xfrm>
          <a:prstGeom prst="rect">
            <a:avLst/>
          </a:prstGeom>
        </p:spPr>
      </p:pic>
      <p:sp>
        <p:nvSpPr>
          <p:cNvPr id="31" name="Text 24"/>
          <p:cNvSpPr/>
          <p:nvPr/>
        </p:nvSpPr>
        <p:spPr>
          <a:xfrm>
            <a:off x="4599432" y="468172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AI acceleration</a:t>
            </a:r>
            <a:endParaRPr lang="en-US" sz="1500" dirty="0"/>
          </a:p>
        </p:txBody>
      </p:sp>
      <p:sp>
        <p:nvSpPr>
          <p:cNvPr id="32" name="Text 25"/>
          <p:cNvSpPr/>
          <p:nvPr/>
        </p:nvSpPr>
        <p:spPr>
          <a:xfrm>
            <a:off x="4599432" y="501091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Tooling, IDE integration and the selector contract</a:t>
            </a:r>
            <a:endParaRPr lang="en-US" sz="1150" dirty="0"/>
          </a:p>
        </p:txBody>
      </p:sp>
      <p:sp>
        <p:nvSpPr>
          <p:cNvPr id="33" name="Text 26"/>
          <p:cNvSpPr/>
          <p:nvPr/>
        </p:nvSpPr>
        <p:spPr>
          <a:xfrm>
            <a:off x="7040880" y="398678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05</a:t>
            </a:r>
            <a:endParaRPr lang="en-US" sz="1600" dirty="0"/>
          </a:p>
        </p:txBody>
      </p:sp>
      <p:sp>
        <p:nvSpPr>
          <p:cNvPr id="34" name="Shape 27"/>
          <p:cNvSpPr/>
          <p:nvPr/>
        </p:nvSpPr>
        <p:spPr>
          <a:xfrm>
            <a:off x="8046720" y="3749040"/>
            <a:ext cx="3429000" cy="1828800"/>
          </a:xfrm>
          <a:prstGeom prst="roundRect">
            <a:avLst>
              <a:gd name="adj" fmla="val 4500"/>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35" name="Shape 28"/>
          <p:cNvSpPr/>
          <p:nvPr/>
        </p:nvSpPr>
        <p:spPr>
          <a:xfrm>
            <a:off x="8302752" y="4005072"/>
            <a:ext cx="566928" cy="566928"/>
          </a:xfrm>
          <a:prstGeom prst="ellipse">
            <a:avLst/>
          </a:prstGeom>
          <a:solidFill>
            <a:srgbClr val="001034"/>
          </a:solidFill>
          <a:ln w="12700">
            <a:solidFill>
              <a:srgbClr val="001034"/>
            </a:solidFill>
            <a:prstDash val="solid"/>
          </a:ln>
        </p:spPr>
      </p:sp>
      <p:pic>
        <p:nvPicPr>
          <p:cNvPr id="36" name="Image 5" descr="preencoded.png">    </p:cNvPr>
          <p:cNvPicPr>
            <a:picLocks noChangeAspect="1"/>
          </p:cNvPicPr>
          <p:nvPr/>
        </p:nvPicPr>
        <p:blipFill>
          <a:blip r:embed="rId6"/>
          <a:stretch>
            <a:fillRect/>
          </a:stretch>
        </p:blipFill>
        <p:spPr>
          <a:xfrm>
            <a:off x="8438815" y="4141135"/>
            <a:ext cx="294803" cy="294803"/>
          </a:xfrm>
          <a:prstGeom prst="rect">
            <a:avLst/>
          </a:prstGeom>
        </p:spPr>
      </p:pic>
      <p:sp>
        <p:nvSpPr>
          <p:cNvPr id="37" name="Text 29"/>
          <p:cNvSpPr/>
          <p:nvPr/>
        </p:nvSpPr>
        <p:spPr>
          <a:xfrm>
            <a:off x="8302752" y="4681728"/>
            <a:ext cx="2926080" cy="310896"/>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Current state &amp; ask</a:t>
            </a:r>
            <a:endParaRPr lang="en-US" sz="1500" dirty="0"/>
          </a:p>
        </p:txBody>
      </p:sp>
      <p:sp>
        <p:nvSpPr>
          <p:cNvPr id="38" name="Text 30"/>
          <p:cNvSpPr/>
          <p:nvPr/>
        </p:nvSpPr>
        <p:spPr>
          <a:xfrm>
            <a:off x="8302752" y="5010912"/>
            <a:ext cx="2926080" cy="502920"/>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What is open today, and the pilot proposal</a:t>
            </a:r>
            <a:endParaRPr lang="en-US" sz="1150" dirty="0"/>
          </a:p>
        </p:txBody>
      </p:sp>
      <p:sp>
        <p:nvSpPr>
          <p:cNvPr id="39" name="Text 31"/>
          <p:cNvSpPr/>
          <p:nvPr/>
        </p:nvSpPr>
        <p:spPr>
          <a:xfrm>
            <a:off x="10744200" y="3986784"/>
            <a:ext cx="548640" cy="365760"/>
          </a:xfrm>
          <a:prstGeom prst="rect">
            <a:avLst/>
          </a:prstGeom>
          <a:noFill/>
          <a:ln/>
        </p:spPr>
        <p:txBody>
          <a:bodyPr wrap="square" lIns="0" tIns="0" rIns="0" bIns="0" rtlCol="0" anchor="ctr"/>
          <a:lstStyle/>
          <a:p>
            <a:pPr algn="r" indent="0" marL="0">
              <a:buNone/>
            </a:pPr>
            <a:r>
              <a:rPr lang="en-US" sz="1600" b="1" dirty="0">
                <a:solidFill>
                  <a:srgbClr val="C9D6DE"/>
                </a:solidFill>
                <a:latin typeface="Arial" pitchFamily="34" charset="0"/>
                <a:ea typeface="Arial" pitchFamily="34" charset="-122"/>
                <a:cs typeface="Arial" pitchFamily="34" charset="-120"/>
              </a:rPr>
              <a:t>06</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Upgrades are not hard because of Teamcenter</a:t>
            </a:r>
            <a:endParaRPr lang="en-US" sz="2900" dirty="0"/>
          </a:p>
        </p:txBody>
      </p:sp>
      <p:sp>
        <p:nvSpPr>
          <p:cNvPr id="4" name="Text 2"/>
          <p:cNvSpPr/>
          <p:nvPr/>
        </p:nvSpPr>
        <p:spPr>
          <a:xfrm>
            <a:off x="640080" y="1353312"/>
            <a:ext cx="7772400" cy="320040"/>
          </a:xfrm>
          <a:prstGeom prst="rect">
            <a:avLst/>
          </a:prstGeom>
          <a:noFill/>
          <a:ln/>
        </p:spPr>
        <p:txBody>
          <a:bodyPr wrap="square" lIns="0" tIns="0" rIns="0" bIns="0" rtlCol="0" anchor="ctr"/>
          <a:lstStyle/>
          <a:p>
            <a:pPr indent="0" marL="0">
              <a:buNone/>
            </a:pPr>
            <a:r>
              <a:rPr lang="en-US" sz="1500" dirty="0">
                <a:solidFill>
                  <a:srgbClr val="5A6672"/>
                </a:solidFill>
                <a:latin typeface="Calibri" pitchFamily="34" charset="0"/>
                <a:ea typeface="Calibri" pitchFamily="34" charset="-122"/>
                <a:cs typeface="Calibri" pitchFamily="34" charset="-120"/>
              </a:rPr>
              <a:t>They are hard because everything around the release is manual.</a:t>
            </a:r>
            <a:endParaRPr lang="en-US" sz="1500" dirty="0"/>
          </a:p>
        </p:txBody>
      </p:sp>
      <p:sp>
        <p:nvSpPr>
          <p:cNvPr id="5" name="Shape 3"/>
          <p:cNvSpPr/>
          <p:nvPr/>
        </p:nvSpPr>
        <p:spPr>
          <a:xfrm>
            <a:off x="640080" y="1810512"/>
            <a:ext cx="5257800" cy="1371600"/>
          </a:xfrm>
          <a:prstGeom prst="roundRect">
            <a:avLst>
              <a:gd name="adj" fmla="val 6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77824" y="2194560"/>
            <a:ext cx="566928" cy="566928"/>
          </a:xfrm>
          <a:prstGeom prst="ellipse">
            <a:avLst/>
          </a:prstGeom>
          <a:solidFill>
            <a:srgbClr val="FDEEEE"/>
          </a:solidFill>
          <a:ln w="12700">
            <a:solidFill>
              <a:srgbClr val="FDEEEE"/>
            </a:solidFill>
            <a:prstDash val="solid"/>
          </a:ln>
        </p:spPr>
      </p:sp>
      <p:pic>
        <p:nvPicPr>
          <p:cNvPr id="7" name="Image 0" descr="preencoded.png">    </p:cNvPr>
          <p:cNvPicPr>
            <a:picLocks noChangeAspect="1"/>
          </p:cNvPicPr>
          <p:nvPr/>
        </p:nvPicPr>
        <p:blipFill>
          <a:blip r:embed="rId1"/>
          <a:stretch>
            <a:fillRect/>
          </a:stretch>
        </p:blipFill>
        <p:spPr>
          <a:xfrm>
            <a:off x="1013887" y="2330623"/>
            <a:ext cx="294803" cy="294803"/>
          </a:xfrm>
          <a:prstGeom prst="rect">
            <a:avLst/>
          </a:prstGeom>
        </p:spPr>
      </p:pic>
      <p:sp>
        <p:nvSpPr>
          <p:cNvPr id="8" name="Text 5"/>
          <p:cNvSpPr/>
          <p:nvPr/>
        </p:nvSpPr>
        <p:spPr>
          <a:xfrm>
            <a:off x="1600200" y="1993392"/>
            <a:ext cx="411480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Manual regression cycles</a:t>
            </a:r>
            <a:endParaRPr lang="en-US" sz="1400" dirty="0"/>
          </a:p>
        </p:txBody>
      </p:sp>
      <p:sp>
        <p:nvSpPr>
          <p:cNvPr id="9" name="Text 6"/>
          <p:cNvSpPr/>
          <p:nvPr/>
        </p:nvSpPr>
        <p:spPr>
          <a:xfrm>
            <a:off x="1600200" y="2304288"/>
            <a:ext cx="4114800" cy="77724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Every dry run is re-tested by hand. Evidence lives in spreadsheets and is rebuilt from scratch each round.</a:t>
            </a:r>
            <a:endParaRPr lang="en-US" sz="1100" dirty="0"/>
          </a:p>
        </p:txBody>
      </p:sp>
      <p:sp>
        <p:nvSpPr>
          <p:cNvPr id="10" name="Shape 7"/>
          <p:cNvSpPr/>
          <p:nvPr/>
        </p:nvSpPr>
        <p:spPr>
          <a:xfrm>
            <a:off x="6172200" y="1810512"/>
            <a:ext cx="5257800" cy="1371600"/>
          </a:xfrm>
          <a:prstGeom prst="roundRect">
            <a:avLst>
              <a:gd name="adj" fmla="val 6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Shape 8"/>
          <p:cNvSpPr/>
          <p:nvPr/>
        </p:nvSpPr>
        <p:spPr>
          <a:xfrm>
            <a:off x="6409944" y="2194560"/>
            <a:ext cx="566928" cy="566928"/>
          </a:xfrm>
          <a:prstGeom prst="ellipse">
            <a:avLst/>
          </a:prstGeom>
          <a:solidFill>
            <a:srgbClr val="FDEEEE"/>
          </a:solidFill>
          <a:ln w="12700">
            <a:solidFill>
              <a:srgbClr val="FDEEEE"/>
            </a:solidFill>
            <a:prstDash val="solid"/>
          </a:ln>
        </p:spPr>
      </p:sp>
      <p:pic>
        <p:nvPicPr>
          <p:cNvPr id="12" name="Image 1" descr="preencoded.png">    </p:cNvPr>
          <p:cNvPicPr>
            <a:picLocks noChangeAspect="1"/>
          </p:cNvPicPr>
          <p:nvPr/>
        </p:nvPicPr>
        <p:blipFill>
          <a:blip r:embed="rId2"/>
          <a:stretch>
            <a:fillRect/>
          </a:stretch>
        </p:blipFill>
        <p:spPr>
          <a:xfrm>
            <a:off x="6546007" y="2330623"/>
            <a:ext cx="294803" cy="294803"/>
          </a:xfrm>
          <a:prstGeom prst="rect">
            <a:avLst/>
          </a:prstGeom>
        </p:spPr>
      </p:pic>
      <p:sp>
        <p:nvSpPr>
          <p:cNvPr id="13" name="Text 9"/>
          <p:cNvSpPr/>
          <p:nvPr/>
        </p:nvSpPr>
        <p:spPr>
          <a:xfrm>
            <a:off x="7132320" y="1993392"/>
            <a:ext cx="411480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Hand-built deployments</a:t>
            </a:r>
            <a:endParaRPr lang="en-US" sz="1400" dirty="0"/>
          </a:p>
        </p:txBody>
      </p:sp>
      <p:sp>
        <p:nvSpPr>
          <p:cNvPr id="14" name="Text 10"/>
          <p:cNvSpPr/>
          <p:nvPr/>
        </p:nvSpPr>
        <p:spPr>
          <a:xfrm>
            <a:off x="7132320" y="2304288"/>
            <a:ext cx="4114800" cy="77724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Preferences, stylesheets, queries, BMIDE templates and workflow templates installed by individuals, utility by utility.</a:t>
            </a:r>
            <a:endParaRPr lang="en-US" sz="1100" dirty="0"/>
          </a:p>
        </p:txBody>
      </p:sp>
      <p:sp>
        <p:nvSpPr>
          <p:cNvPr id="15" name="Shape 11"/>
          <p:cNvSpPr/>
          <p:nvPr/>
        </p:nvSpPr>
        <p:spPr>
          <a:xfrm>
            <a:off x="640080" y="3383280"/>
            <a:ext cx="5257800" cy="1371600"/>
          </a:xfrm>
          <a:prstGeom prst="roundRect">
            <a:avLst>
              <a:gd name="adj" fmla="val 6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6" name="Shape 12"/>
          <p:cNvSpPr/>
          <p:nvPr/>
        </p:nvSpPr>
        <p:spPr>
          <a:xfrm>
            <a:off x="877824" y="3767328"/>
            <a:ext cx="566928" cy="566928"/>
          </a:xfrm>
          <a:prstGeom prst="ellipse">
            <a:avLst/>
          </a:prstGeom>
          <a:solidFill>
            <a:srgbClr val="FDEEEE"/>
          </a:solidFill>
          <a:ln w="12700">
            <a:solidFill>
              <a:srgbClr val="FDEEEE"/>
            </a:solidFill>
            <a:prstDash val="solid"/>
          </a:ln>
        </p:spPr>
      </p:sp>
      <p:pic>
        <p:nvPicPr>
          <p:cNvPr id="17" name="Image 2" descr="preencoded.png">    </p:cNvPr>
          <p:cNvPicPr>
            <a:picLocks noChangeAspect="1"/>
          </p:cNvPicPr>
          <p:nvPr/>
        </p:nvPicPr>
        <p:blipFill>
          <a:blip r:embed="rId3"/>
          <a:stretch>
            <a:fillRect/>
          </a:stretch>
        </p:blipFill>
        <p:spPr>
          <a:xfrm>
            <a:off x="1013887" y="3903391"/>
            <a:ext cx="294803" cy="294803"/>
          </a:xfrm>
          <a:prstGeom prst="rect">
            <a:avLst/>
          </a:prstGeom>
        </p:spPr>
      </p:pic>
      <p:sp>
        <p:nvSpPr>
          <p:cNvPr id="18" name="Text 13"/>
          <p:cNvSpPr/>
          <p:nvPr/>
        </p:nvSpPr>
        <p:spPr>
          <a:xfrm>
            <a:off x="1600200" y="3566160"/>
            <a:ext cx="411480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Late defect discovery</a:t>
            </a:r>
            <a:endParaRPr lang="en-US" sz="1400" dirty="0"/>
          </a:p>
        </p:txBody>
      </p:sp>
      <p:sp>
        <p:nvSpPr>
          <p:cNvPr id="19" name="Text 14"/>
          <p:cNvSpPr/>
          <p:nvPr/>
        </p:nvSpPr>
        <p:spPr>
          <a:xfrm>
            <a:off x="1600200" y="3877056"/>
            <a:ext cx="4114800" cy="77724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Custom code, integrations and data problems surface inside the migration window, when there is no time to fix them.</a:t>
            </a:r>
            <a:endParaRPr lang="en-US" sz="1100" dirty="0"/>
          </a:p>
        </p:txBody>
      </p:sp>
      <p:sp>
        <p:nvSpPr>
          <p:cNvPr id="20" name="Shape 15"/>
          <p:cNvSpPr/>
          <p:nvPr/>
        </p:nvSpPr>
        <p:spPr>
          <a:xfrm>
            <a:off x="6172200" y="3383280"/>
            <a:ext cx="5257800" cy="1371600"/>
          </a:xfrm>
          <a:prstGeom prst="roundRect">
            <a:avLst>
              <a:gd name="adj" fmla="val 6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1" name="Shape 16"/>
          <p:cNvSpPr/>
          <p:nvPr/>
        </p:nvSpPr>
        <p:spPr>
          <a:xfrm>
            <a:off x="6409944" y="3767328"/>
            <a:ext cx="566928" cy="566928"/>
          </a:xfrm>
          <a:prstGeom prst="ellipse">
            <a:avLst/>
          </a:prstGeom>
          <a:solidFill>
            <a:srgbClr val="FDEEEE"/>
          </a:solidFill>
          <a:ln w="12700">
            <a:solidFill>
              <a:srgbClr val="FDEEEE"/>
            </a:solidFill>
            <a:prstDash val="solid"/>
          </a:ln>
        </p:spPr>
      </p:sp>
      <p:pic>
        <p:nvPicPr>
          <p:cNvPr id="22" name="Image 3" descr="preencoded.png">    </p:cNvPr>
          <p:cNvPicPr>
            <a:picLocks noChangeAspect="1"/>
          </p:cNvPicPr>
          <p:nvPr/>
        </p:nvPicPr>
        <p:blipFill>
          <a:blip r:embed="rId4"/>
          <a:stretch>
            <a:fillRect/>
          </a:stretch>
        </p:blipFill>
        <p:spPr>
          <a:xfrm>
            <a:off x="6546007" y="3903391"/>
            <a:ext cx="294803" cy="294803"/>
          </a:xfrm>
          <a:prstGeom prst="rect">
            <a:avLst/>
          </a:prstGeom>
        </p:spPr>
      </p:pic>
      <p:sp>
        <p:nvSpPr>
          <p:cNvPr id="23" name="Text 17"/>
          <p:cNvSpPr/>
          <p:nvPr/>
        </p:nvSpPr>
        <p:spPr>
          <a:xfrm>
            <a:off x="7132320" y="3566160"/>
            <a:ext cx="411480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Environment drift</a:t>
            </a:r>
            <a:endParaRPr lang="en-US" sz="1400" dirty="0"/>
          </a:p>
        </p:txBody>
      </p:sp>
      <p:sp>
        <p:nvSpPr>
          <p:cNvPr id="24" name="Text 18"/>
          <p:cNvSpPr/>
          <p:nvPr/>
        </p:nvSpPr>
        <p:spPr>
          <a:xfrm>
            <a:off x="7132320" y="3877056"/>
            <a:ext cx="4114800" cy="77724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DEV, QA and production diverge. "It worked on the other server" becomes the standard explanation.</a:t>
            </a:r>
            <a:endParaRPr lang="en-US" sz="1100" dirty="0"/>
          </a:p>
        </p:txBody>
      </p:sp>
      <p:sp>
        <p:nvSpPr>
          <p:cNvPr id="25" name="Shape 19"/>
          <p:cNvSpPr/>
          <p:nvPr/>
        </p:nvSpPr>
        <p:spPr>
          <a:xfrm>
            <a:off x="640080" y="5120640"/>
            <a:ext cx="10908792" cy="868680"/>
          </a:xfrm>
          <a:prstGeom prst="roundRect">
            <a:avLst>
              <a:gd name="adj" fmla="val 10526"/>
            </a:avLst>
          </a:prstGeom>
          <a:solidFill>
            <a:srgbClr val="001034"/>
          </a:solidFill>
          <a:ln/>
        </p:spPr>
      </p:sp>
      <p:sp>
        <p:nvSpPr>
          <p:cNvPr id="26" name="Text 20"/>
          <p:cNvSpPr/>
          <p:nvPr/>
        </p:nvSpPr>
        <p:spPr>
          <a:xfrm>
            <a:off x="1005840" y="5120640"/>
            <a:ext cx="1014984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Net effect: the upgrade budget is consumed by re-testing, and the business postpones the release rather than risk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THE CONCEPT</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Treat the PLM stack like a software product</a:t>
            </a:r>
            <a:endParaRPr lang="en-US" sz="2900" dirty="0"/>
          </a:p>
        </p:txBody>
      </p:sp>
      <p:sp>
        <p:nvSpPr>
          <p:cNvPr id="4" name="Text 2"/>
          <p:cNvSpPr/>
          <p:nvPr/>
        </p:nvSpPr>
        <p:spPr>
          <a:xfrm>
            <a:off x="640080" y="1353312"/>
            <a:ext cx="10881360" cy="320040"/>
          </a:xfrm>
          <a:prstGeom prst="rect">
            <a:avLst/>
          </a:prstGeom>
          <a:noFill/>
          <a:ln/>
        </p:spPr>
        <p:txBody>
          <a:bodyPr wrap="square" lIns="0" tIns="0" rIns="0" bIns="0" rtlCol="0" anchor="ctr"/>
          <a:lstStyle/>
          <a:p>
            <a:pPr indent="0" marL="0">
              <a:buNone/>
            </a:pPr>
            <a:r>
              <a:rPr lang="en-US" sz="1450" dirty="0">
                <a:solidFill>
                  <a:srgbClr val="5A6672"/>
                </a:solidFill>
                <a:latin typeface="Calibri" pitchFamily="34" charset="0"/>
                <a:ea typeface="Calibri" pitchFamily="34" charset="-122"/>
                <a:cs typeface="Calibri" pitchFamily="34" charset="-120"/>
              </a:rPr>
              <a:t>Version everything, build once, deploy by pipeline, test continuously — the discipline any application team already applies.</a:t>
            </a:r>
            <a:endParaRPr lang="en-US" sz="1450" dirty="0"/>
          </a:p>
        </p:txBody>
      </p:sp>
      <p:sp>
        <p:nvSpPr>
          <p:cNvPr id="5" name="Shape 3"/>
          <p:cNvSpPr/>
          <p:nvPr/>
        </p:nvSpPr>
        <p:spPr>
          <a:xfrm>
            <a:off x="640080" y="1847088"/>
            <a:ext cx="5257800" cy="3931920"/>
          </a:xfrm>
          <a:prstGeom prst="roundRect">
            <a:avLst>
              <a:gd name="adj" fmla="val 2093"/>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Text 4"/>
          <p:cNvSpPr/>
          <p:nvPr/>
        </p:nvSpPr>
        <p:spPr>
          <a:xfrm>
            <a:off x="960120" y="2029968"/>
            <a:ext cx="2743200" cy="329184"/>
          </a:xfrm>
          <a:prstGeom prst="rect">
            <a:avLst/>
          </a:prstGeom>
          <a:noFill/>
          <a:ln/>
        </p:spPr>
        <p:txBody>
          <a:bodyPr wrap="square" lIns="0" tIns="0" rIns="0" bIns="0" rtlCol="0" anchor="ctr"/>
          <a:lstStyle/>
          <a:p>
            <a:pPr indent="0" marL="0">
              <a:buNone/>
            </a:pPr>
            <a:r>
              <a:rPr lang="en-US" sz="1800" b="1" dirty="0">
                <a:solidFill>
                  <a:srgbClr val="5A6672"/>
                </a:solidFill>
                <a:latin typeface="Arial" pitchFamily="34" charset="0"/>
                <a:ea typeface="Arial" pitchFamily="34" charset="-122"/>
                <a:cs typeface="Arial" pitchFamily="34" charset="-120"/>
              </a:rPr>
              <a:t>Today</a:t>
            </a:r>
            <a:endParaRPr lang="en-US" sz="1800" dirty="0"/>
          </a:p>
        </p:txBody>
      </p:sp>
      <p:sp>
        <p:nvSpPr>
          <p:cNvPr id="7" name="Text 5"/>
          <p:cNvSpPr/>
          <p:nvPr/>
        </p:nvSpPr>
        <p:spPr>
          <a:xfrm>
            <a:off x="960120" y="2542032"/>
            <a:ext cx="4617720" cy="292608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Configuration changes tracked in documents</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Utilities invoked by hand, per environment</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Test scope decided by gut feel</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Evidence collected after the fact</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Go / no-go based on opinion</a:t>
            </a:r>
            <a:endParaRPr lang="en-US" sz="1350" dirty="0"/>
          </a:p>
        </p:txBody>
      </p:sp>
      <p:sp>
        <p:nvSpPr>
          <p:cNvPr id="8" name="Shape 6"/>
          <p:cNvSpPr/>
          <p:nvPr/>
        </p:nvSpPr>
        <p:spPr>
          <a:xfrm>
            <a:off x="6291072" y="1847088"/>
            <a:ext cx="5257800" cy="3931920"/>
          </a:xfrm>
          <a:prstGeom prst="roundRect">
            <a:avLst>
              <a:gd name="adj" fmla="val 2093"/>
            </a:avLst>
          </a:prstGeom>
          <a:solidFill>
            <a:srgbClr val="F0FBF7"/>
          </a:solidFill>
          <a:ln w="15875">
            <a:solidFill>
              <a:srgbClr val="00E1A0"/>
            </a:solidFill>
            <a:prstDash val="solid"/>
          </a:ln>
        </p:spPr>
      </p:sp>
      <p:sp>
        <p:nvSpPr>
          <p:cNvPr id="9" name="Text 7"/>
          <p:cNvSpPr/>
          <p:nvPr/>
        </p:nvSpPr>
        <p:spPr>
          <a:xfrm>
            <a:off x="6611112" y="2029968"/>
            <a:ext cx="4023360" cy="329184"/>
          </a:xfrm>
          <a:prstGeom prst="rect">
            <a:avLst/>
          </a:prstGeom>
          <a:noFill/>
          <a:ln/>
        </p:spPr>
        <p:txBody>
          <a:bodyPr wrap="square" lIns="0" tIns="0" rIns="0" bIns="0" rtlCol="0" anchor="ctr"/>
          <a:lstStyle/>
          <a:p>
            <a:pPr indent="0" marL="0">
              <a:buNone/>
            </a:pPr>
            <a:r>
              <a:rPr lang="en-US" sz="1800" b="1" dirty="0">
                <a:solidFill>
                  <a:srgbClr val="007F80"/>
                </a:solidFill>
                <a:latin typeface="Arial" pitchFamily="34" charset="0"/>
                <a:ea typeface="Arial" pitchFamily="34" charset="-122"/>
                <a:cs typeface="Arial" pitchFamily="34" charset="-120"/>
              </a:rPr>
              <a:t>With the pipeline</a:t>
            </a:r>
            <a:endParaRPr lang="en-US" sz="1800" dirty="0"/>
          </a:p>
        </p:txBody>
      </p:sp>
      <p:sp>
        <p:nvSpPr>
          <p:cNvPr id="10" name="Text 8"/>
          <p:cNvSpPr/>
          <p:nvPr/>
        </p:nvSpPr>
        <p:spPr>
          <a:xfrm>
            <a:off x="6611112" y="2542032"/>
            <a:ext cx="4617720" cy="292608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Every configuration artefact versioned in Git</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One package promoted through environments</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Automated suites run on every change</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Evidence generated by the pipeline</a:t>
            </a:r>
            <a:endParaRPr lang="en-US" sz="1350" dirty="0"/>
          </a:p>
          <a:p>
            <a:pPr marL="342900" indent="-342900">
              <a:spcAft>
                <a:spcPts val="1200"/>
              </a:spcAft>
              <a:buSzPct val="100000"/>
              <a:buChar char="•"/>
            </a:pPr>
            <a:r>
              <a:rPr lang="en-US" sz="1350" dirty="0">
                <a:solidFill>
                  <a:srgbClr val="12233A"/>
                </a:solidFill>
                <a:latin typeface="Calibri" pitchFamily="34" charset="0"/>
                <a:ea typeface="Calibri" pitchFamily="34" charset="-122"/>
                <a:cs typeface="Calibri" pitchFamily="34" charset="-120"/>
              </a:rPr>
              <a:t>Go / no-go based on a quality gate</a:t>
            </a:r>
            <a:endParaRPr lang="en-US" sz="1350" dirty="0"/>
          </a:p>
        </p:txBody>
      </p:sp>
      <p:sp>
        <p:nvSpPr>
          <p:cNvPr id="11" name="Shape 9"/>
          <p:cNvSpPr/>
          <p:nvPr/>
        </p:nvSpPr>
        <p:spPr>
          <a:xfrm>
            <a:off x="5998464" y="3566160"/>
            <a:ext cx="594360" cy="594360"/>
          </a:xfrm>
          <a:prstGeom prst="ellipse">
            <a:avLst/>
          </a:prstGeom>
          <a:solidFill>
            <a:srgbClr val="001034"/>
          </a:solidFill>
          <a:ln w="12700">
            <a:solidFill>
              <a:srgbClr val="001034"/>
            </a:solidFill>
            <a:prstDash val="solid"/>
          </a:ln>
        </p:spPr>
      </p:sp>
      <p:pic>
        <p:nvPicPr>
          <p:cNvPr id="12" name="Image 0" descr="preencoded.png">    </p:cNvPr>
          <p:cNvPicPr>
            <a:picLocks noChangeAspect="1"/>
          </p:cNvPicPr>
          <p:nvPr/>
        </p:nvPicPr>
        <p:blipFill>
          <a:blip r:embed="rId1"/>
          <a:stretch>
            <a:fillRect/>
          </a:stretch>
        </p:blipFill>
        <p:spPr>
          <a:xfrm>
            <a:off x="6141110" y="3708806"/>
            <a:ext cx="309067" cy="3090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ASSETS</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What already exists</a:t>
            </a:r>
            <a:endParaRPr lang="en-US" sz="2900" dirty="0"/>
          </a:p>
        </p:txBody>
      </p:sp>
      <p:sp>
        <p:nvSpPr>
          <p:cNvPr id="4" name="Text 2"/>
          <p:cNvSpPr/>
          <p:nvPr/>
        </p:nvSpPr>
        <p:spPr>
          <a:xfrm>
            <a:off x="640080" y="1353312"/>
            <a:ext cx="10058400" cy="320040"/>
          </a:xfrm>
          <a:prstGeom prst="rect">
            <a:avLst/>
          </a:prstGeom>
          <a:noFill/>
          <a:ln/>
        </p:spPr>
        <p:txBody>
          <a:bodyPr wrap="square" lIns="0" tIns="0" rIns="0" bIns="0" rtlCol="0" anchor="ctr"/>
          <a:lstStyle/>
          <a:p>
            <a:pPr indent="0" marL="0">
              <a:buNone/>
            </a:pPr>
            <a:r>
              <a:rPr lang="en-US" sz="1450" dirty="0">
                <a:solidFill>
                  <a:srgbClr val="5A6672"/>
                </a:solidFill>
                <a:latin typeface="Calibri" pitchFamily="34" charset="0"/>
                <a:ea typeface="Calibri" pitchFamily="34" charset="-122"/>
                <a:cs typeface="Calibri" pitchFamily="34" charset="-120"/>
              </a:rPr>
              <a:t>Three repositories, each with a working stack — not a concept study.</a:t>
            </a:r>
            <a:endParaRPr lang="en-US" sz="1450" dirty="0"/>
          </a:p>
        </p:txBody>
      </p:sp>
      <p:sp>
        <p:nvSpPr>
          <p:cNvPr id="5" name="Shape 3"/>
          <p:cNvSpPr/>
          <p:nvPr/>
        </p:nvSpPr>
        <p:spPr>
          <a:xfrm>
            <a:off x="640080" y="1783080"/>
            <a:ext cx="3429000" cy="416052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96112" y="2011680"/>
            <a:ext cx="566928" cy="566928"/>
          </a:xfrm>
          <a:prstGeom prst="ellipse">
            <a:avLst/>
          </a:prstGeom>
          <a:solidFill>
            <a:srgbClr val="001034"/>
          </a:solidFill>
          <a:ln w="12700">
            <a:solidFill>
              <a:srgbClr val="001034"/>
            </a:solidFill>
            <a:prstDash val="solid"/>
          </a:ln>
        </p:spPr>
      </p:sp>
      <p:pic>
        <p:nvPicPr>
          <p:cNvPr id="7" name="Image 0" descr="preencoded.png">    </p:cNvPr>
          <p:cNvPicPr>
            <a:picLocks noChangeAspect="1"/>
          </p:cNvPicPr>
          <p:nvPr/>
        </p:nvPicPr>
        <p:blipFill>
          <a:blip r:embed="rId1"/>
          <a:stretch>
            <a:fillRect/>
          </a:stretch>
        </p:blipFill>
        <p:spPr>
          <a:xfrm>
            <a:off x="1032175" y="2147743"/>
            <a:ext cx="294803" cy="294803"/>
          </a:xfrm>
          <a:prstGeom prst="rect">
            <a:avLst/>
          </a:prstGeom>
        </p:spPr>
      </p:pic>
      <p:sp>
        <p:nvSpPr>
          <p:cNvPr id="8" name="Text 5"/>
          <p:cNvSpPr/>
          <p:nvPr/>
        </p:nvSpPr>
        <p:spPr>
          <a:xfrm>
            <a:off x="896112" y="2670048"/>
            <a:ext cx="2926080" cy="274320"/>
          </a:xfrm>
          <a:prstGeom prst="rect">
            <a:avLst/>
          </a:prstGeom>
          <a:noFill/>
          <a:ln/>
        </p:spPr>
        <p:txBody>
          <a:bodyPr wrap="square" lIns="0" tIns="0" rIns="0" bIns="0" rtlCol="0" anchor="ctr"/>
          <a:lstStyle/>
          <a:p>
            <a:pPr indent="0" marL="0">
              <a:buNone/>
            </a:pPr>
            <a:r>
              <a:rPr lang="en-US" sz="1300" b="1" dirty="0">
                <a:solidFill>
                  <a:srgbClr val="001034"/>
                </a:solidFill>
                <a:latin typeface="Courier New" pitchFamily="34" charset="0"/>
                <a:ea typeface="Courier New" pitchFamily="34" charset="-122"/>
                <a:cs typeface="Courier New" pitchFamily="34" charset="-120"/>
              </a:rPr>
              <a:t>tc2606-plm-ci</a:t>
            </a:r>
            <a:endParaRPr lang="en-US" sz="1300" dirty="0"/>
          </a:p>
        </p:txBody>
      </p:sp>
      <p:sp>
        <p:nvSpPr>
          <p:cNvPr id="9" name="Text 6"/>
          <p:cNvSpPr/>
          <p:nvPr/>
        </p:nvSpPr>
        <p:spPr>
          <a:xfrm>
            <a:off x="896112" y="2944368"/>
            <a:ext cx="2926080" cy="274320"/>
          </a:xfrm>
          <a:prstGeom prst="rect">
            <a:avLst/>
          </a:prstGeom>
          <a:noFill/>
          <a:ln/>
        </p:spPr>
        <p:txBody>
          <a:bodyPr wrap="square" lIns="0" tIns="0" rIns="0" bIns="0" rtlCol="0" anchor="ctr"/>
          <a:lstStyle/>
          <a:p>
            <a:pPr indent="0" marL="0">
              <a:buNone/>
            </a:pPr>
            <a:r>
              <a:rPr lang="en-US" sz="1150" b="1" dirty="0">
                <a:solidFill>
                  <a:srgbClr val="007F80"/>
                </a:solidFill>
                <a:latin typeface="Calibri" pitchFamily="34" charset="0"/>
                <a:ea typeface="Calibri" pitchFamily="34" charset="-122"/>
                <a:cs typeface="Calibri" pitchFamily="34" charset="-120"/>
              </a:rPr>
              <a:t>CI/CD for TC 2606 configuration</a:t>
            </a:r>
            <a:endParaRPr lang="en-US" sz="1150" dirty="0"/>
          </a:p>
        </p:txBody>
      </p:sp>
      <p:sp>
        <p:nvSpPr>
          <p:cNvPr id="10" name="Text 7"/>
          <p:cNvSpPr/>
          <p:nvPr/>
        </p:nvSpPr>
        <p:spPr>
          <a:xfrm>
            <a:off x="896112" y="3218688"/>
            <a:ext cx="2926080" cy="256032"/>
          </a:xfrm>
          <a:prstGeom prst="rect">
            <a:avLst/>
          </a:prstGeom>
          <a:noFill/>
          <a:ln/>
        </p:spPr>
        <p:txBody>
          <a:bodyPr wrap="square" lIns="0" tIns="0" rIns="0" bIns="0" rtlCol="0" anchor="ctr"/>
          <a:lstStyle/>
          <a:p>
            <a:pPr indent="0" marL="0">
              <a:buNone/>
            </a:pPr>
            <a:r>
              <a:rPr lang="en-US" sz="1000" i="1" dirty="0">
                <a:solidFill>
                  <a:srgbClr val="5A6672"/>
                </a:solidFill>
                <a:latin typeface="Calibri" pitchFamily="34" charset="0"/>
                <a:ea typeface="Calibri" pitchFamily="34" charset="-122"/>
                <a:cs typeface="Calibri" pitchFamily="34" charset="-120"/>
              </a:rPr>
              <a:t>Jenkins · Python 3 · pytest</a:t>
            </a:r>
            <a:endParaRPr lang="en-US" sz="1000" dirty="0"/>
          </a:p>
        </p:txBody>
      </p:sp>
      <p:sp>
        <p:nvSpPr>
          <p:cNvPr id="11" name="Text 8"/>
          <p:cNvSpPr/>
          <p:nvPr/>
        </p:nvSpPr>
        <p:spPr>
          <a:xfrm>
            <a:off x="896112" y="3529584"/>
            <a:ext cx="2926080" cy="2286000"/>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3 Jenkins pipelines: build, deploy, validate</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package.py builds a versioned R.&lt;name&gt;.zip</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tcdeploy engine: 18 named operations</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Wraps documented TC 2606 CLI utilities</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Per-environment property files (dev, qa)</a:t>
            </a:r>
            <a:endParaRPr lang="en-US" sz="1050" dirty="0"/>
          </a:p>
        </p:txBody>
      </p:sp>
      <p:sp>
        <p:nvSpPr>
          <p:cNvPr id="12" name="Shape 9"/>
          <p:cNvSpPr/>
          <p:nvPr/>
        </p:nvSpPr>
        <p:spPr>
          <a:xfrm>
            <a:off x="4343400" y="1783080"/>
            <a:ext cx="3429000" cy="416052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3" name="Shape 10"/>
          <p:cNvSpPr/>
          <p:nvPr/>
        </p:nvSpPr>
        <p:spPr>
          <a:xfrm>
            <a:off x="4599432" y="2011680"/>
            <a:ext cx="566928" cy="566928"/>
          </a:xfrm>
          <a:prstGeom prst="ellipse">
            <a:avLst/>
          </a:prstGeom>
          <a:solidFill>
            <a:srgbClr val="001034"/>
          </a:solidFill>
          <a:ln w="12700">
            <a:solidFill>
              <a:srgbClr val="001034"/>
            </a:solidFill>
            <a:prstDash val="solid"/>
          </a:ln>
        </p:spPr>
      </p:sp>
      <p:pic>
        <p:nvPicPr>
          <p:cNvPr id="14" name="Image 1" descr="preencoded.png">    </p:cNvPr>
          <p:cNvPicPr>
            <a:picLocks noChangeAspect="1"/>
          </p:cNvPicPr>
          <p:nvPr/>
        </p:nvPicPr>
        <p:blipFill>
          <a:blip r:embed="rId2"/>
          <a:stretch>
            <a:fillRect/>
          </a:stretch>
        </p:blipFill>
        <p:spPr>
          <a:xfrm>
            <a:off x="4735495" y="2147743"/>
            <a:ext cx="294803" cy="294803"/>
          </a:xfrm>
          <a:prstGeom prst="rect">
            <a:avLst/>
          </a:prstGeom>
        </p:spPr>
      </p:pic>
      <p:sp>
        <p:nvSpPr>
          <p:cNvPr id="15" name="Text 11"/>
          <p:cNvSpPr/>
          <p:nvPr/>
        </p:nvSpPr>
        <p:spPr>
          <a:xfrm>
            <a:off x="4599432" y="2670048"/>
            <a:ext cx="2926080" cy="274320"/>
          </a:xfrm>
          <a:prstGeom prst="rect">
            <a:avLst/>
          </a:prstGeom>
          <a:noFill/>
          <a:ln/>
        </p:spPr>
        <p:txBody>
          <a:bodyPr wrap="square" lIns="0" tIns="0" rIns="0" bIns="0" rtlCol="0" anchor="ctr"/>
          <a:lstStyle/>
          <a:p>
            <a:pPr indent="0" marL="0">
              <a:buNone/>
            </a:pPr>
            <a:r>
              <a:rPr lang="en-US" sz="1300" b="1" dirty="0">
                <a:solidFill>
                  <a:srgbClr val="001034"/>
                </a:solidFill>
                <a:latin typeface="Courier New" pitchFamily="34" charset="0"/>
                <a:ea typeface="Courier New" pitchFamily="34" charset="-122"/>
                <a:cs typeface="Courier New" pitchFamily="34" charset="-120"/>
              </a:rPr>
              <a:t>mhp_webapps</a:t>
            </a:r>
            <a:endParaRPr lang="en-US" sz="1300" dirty="0"/>
          </a:p>
        </p:txBody>
      </p:sp>
      <p:sp>
        <p:nvSpPr>
          <p:cNvPr id="16" name="Text 12"/>
          <p:cNvSpPr/>
          <p:nvPr/>
        </p:nvSpPr>
        <p:spPr>
          <a:xfrm>
            <a:off x="4599432" y="2944368"/>
            <a:ext cx="2926080" cy="274320"/>
          </a:xfrm>
          <a:prstGeom prst="rect">
            <a:avLst/>
          </a:prstGeom>
          <a:noFill/>
          <a:ln/>
        </p:spPr>
        <p:txBody>
          <a:bodyPr wrap="square" lIns="0" tIns="0" rIns="0" bIns="0" rtlCol="0" anchor="ctr"/>
          <a:lstStyle/>
          <a:p>
            <a:pPr indent="0" marL="0">
              <a:buNone/>
            </a:pPr>
            <a:r>
              <a:rPr lang="en-US" sz="1150" b="1" dirty="0">
                <a:solidFill>
                  <a:srgbClr val="007F80"/>
                </a:solidFill>
                <a:latin typeface="Calibri" pitchFamily="34" charset="0"/>
                <a:ea typeface="Calibri" pitchFamily="34" charset="-122"/>
                <a:cs typeface="Calibri" pitchFamily="34" charset="-120"/>
              </a:rPr>
              <a:t>REST API surface and test assets</a:t>
            </a:r>
            <a:endParaRPr lang="en-US" sz="1150" dirty="0"/>
          </a:p>
        </p:txBody>
      </p:sp>
      <p:sp>
        <p:nvSpPr>
          <p:cNvPr id="17" name="Text 13"/>
          <p:cNvSpPr/>
          <p:nvPr/>
        </p:nvSpPr>
        <p:spPr>
          <a:xfrm>
            <a:off x="4599432" y="3218688"/>
            <a:ext cx="2926080" cy="256032"/>
          </a:xfrm>
          <a:prstGeom prst="rect">
            <a:avLst/>
          </a:prstGeom>
          <a:noFill/>
          <a:ln/>
        </p:spPr>
        <p:txBody>
          <a:bodyPr wrap="square" lIns="0" tIns="0" rIns="0" bIns="0" rtlCol="0" anchor="ctr"/>
          <a:lstStyle/>
          <a:p>
            <a:pPr indent="0" marL="0">
              <a:buNone/>
            </a:pPr>
            <a:r>
              <a:rPr lang="en-US" sz="1000" i="1" dirty="0">
                <a:solidFill>
                  <a:srgbClr val="5A6672"/>
                </a:solidFill>
                <a:latin typeface="Calibri" pitchFamily="34" charset="0"/>
                <a:ea typeface="Calibri" pitchFamily="34" charset="-122"/>
                <a:cs typeface="Calibri" pitchFamily="34" charset="-120"/>
              </a:rPr>
              <a:t>Spring Boot · Postman/Newman</a:t>
            </a:r>
            <a:endParaRPr lang="en-US" sz="1000" dirty="0"/>
          </a:p>
        </p:txBody>
      </p:sp>
      <p:sp>
        <p:nvSpPr>
          <p:cNvPr id="18" name="Text 14"/>
          <p:cNvSpPr/>
          <p:nvPr/>
        </p:nvSpPr>
        <p:spPr>
          <a:xfrm>
            <a:off x="4599432" y="3529584"/>
            <a:ext cx="2926080" cy="2286000"/>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Custom gateway WAR on Tomcat (Java 17)</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Endpoints: /api/health, /api/createItems, /api/bom/add-child</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Postman collections for OOTB TC REST</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Jenkins job: build WAR, deploy, smoke test</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Centralised cookie / XSRF session handling</a:t>
            </a:r>
            <a:endParaRPr lang="en-US" sz="1050" dirty="0"/>
          </a:p>
        </p:txBody>
      </p:sp>
      <p:sp>
        <p:nvSpPr>
          <p:cNvPr id="19" name="Shape 15"/>
          <p:cNvSpPr/>
          <p:nvPr/>
        </p:nvSpPr>
        <p:spPr>
          <a:xfrm>
            <a:off x="8046720" y="1783080"/>
            <a:ext cx="3429000" cy="416052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0" name="Shape 16"/>
          <p:cNvSpPr/>
          <p:nvPr/>
        </p:nvSpPr>
        <p:spPr>
          <a:xfrm>
            <a:off x="8302752" y="2011680"/>
            <a:ext cx="566928" cy="566928"/>
          </a:xfrm>
          <a:prstGeom prst="ellipse">
            <a:avLst/>
          </a:prstGeom>
          <a:solidFill>
            <a:srgbClr val="001034"/>
          </a:solidFill>
          <a:ln w="12700">
            <a:solidFill>
              <a:srgbClr val="001034"/>
            </a:solidFill>
            <a:prstDash val="solid"/>
          </a:ln>
        </p:spPr>
      </p:sp>
      <p:pic>
        <p:nvPicPr>
          <p:cNvPr id="21" name="Image 2" descr="preencoded.png">    </p:cNvPr>
          <p:cNvPicPr>
            <a:picLocks noChangeAspect="1"/>
          </p:cNvPicPr>
          <p:nvPr/>
        </p:nvPicPr>
        <p:blipFill>
          <a:blip r:embed="rId3"/>
          <a:stretch>
            <a:fillRect/>
          </a:stretch>
        </p:blipFill>
        <p:spPr>
          <a:xfrm>
            <a:off x="8438815" y="2147743"/>
            <a:ext cx="294803" cy="294803"/>
          </a:xfrm>
          <a:prstGeom prst="rect">
            <a:avLst/>
          </a:prstGeom>
        </p:spPr>
      </p:pic>
      <p:sp>
        <p:nvSpPr>
          <p:cNvPr id="22" name="Text 17"/>
          <p:cNvSpPr/>
          <p:nvPr/>
        </p:nvSpPr>
        <p:spPr>
          <a:xfrm>
            <a:off x="8302752" y="2670048"/>
            <a:ext cx="2926080" cy="274320"/>
          </a:xfrm>
          <a:prstGeom prst="rect">
            <a:avLst/>
          </a:prstGeom>
          <a:noFill/>
          <a:ln/>
        </p:spPr>
        <p:txBody>
          <a:bodyPr wrap="square" lIns="0" tIns="0" rIns="0" bIns="0" rtlCol="0" anchor="ctr"/>
          <a:lstStyle/>
          <a:p>
            <a:pPr indent="0" marL="0">
              <a:buNone/>
            </a:pPr>
            <a:r>
              <a:rPr lang="en-US" sz="1300" b="1" dirty="0">
                <a:solidFill>
                  <a:srgbClr val="001034"/>
                </a:solidFill>
                <a:latin typeface="Courier New" pitchFamily="34" charset="0"/>
                <a:ea typeface="Courier New" pitchFamily="34" charset="-122"/>
                <a:cs typeface="Courier New" pitchFamily="34" charset="-120"/>
              </a:rPr>
              <a:t>aw_ui_test</a:t>
            </a:r>
            <a:endParaRPr lang="en-US" sz="1300" dirty="0"/>
          </a:p>
        </p:txBody>
      </p:sp>
      <p:sp>
        <p:nvSpPr>
          <p:cNvPr id="23" name="Text 18"/>
          <p:cNvSpPr/>
          <p:nvPr/>
        </p:nvSpPr>
        <p:spPr>
          <a:xfrm>
            <a:off x="8302752" y="2944368"/>
            <a:ext cx="2926080" cy="274320"/>
          </a:xfrm>
          <a:prstGeom prst="rect">
            <a:avLst/>
          </a:prstGeom>
          <a:noFill/>
          <a:ln/>
        </p:spPr>
        <p:txBody>
          <a:bodyPr wrap="square" lIns="0" tIns="0" rIns="0" bIns="0" rtlCol="0" anchor="ctr"/>
          <a:lstStyle/>
          <a:p>
            <a:pPr indent="0" marL="0">
              <a:buNone/>
            </a:pPr>
            <a:r>
              <a:rPr lang="en-US" sz="1150" b="1" dirty="0">
                <a:solidFill>
                  <a:srgbClr val="007F80"/>
                </a:solidFill>
                <a:latin typeface="Calibri" pitchFamily="34" charset="0"/>
                <a:ea typeface="Calibri" pitchFamily="34" charset="-122"/>
                <a:cs typeface="Calibri" pitchFamily="34" charset="-120"/>
              </a:rPr>
              <a:t>Active Workspace UI automation</a:t>
            </a:r>
            <a:endParaRPr lang="en-US" sz="1150" dirty="0"/>
          </a:p>
        </p:txBody>
      </p:sp>
      <p:sp>
        <p:nvSpPr>
          <p:cNvPr id="24" name="Text 19"/>
          <p:cNvSpPr/>
          <p:nvPr/>
        </p:nvSpPr>
        <p:spPr>
          <a:xfrm>
            <a:off x="8302752" y="3218688"/>
            <a:ext cx="2926080" cy="256032"/>
          </a:xfrm>
          <a:prstGeom prst="rect">
            <a:avLst/>
          </a:prstGeom>
          <a:noFill/>
          <a:ln/>
        </p:spPr>
        <p:txBody>
          <a:bodyPr wrap="square" lIns="0" tIns="0" rIns="0" bIns="0" rtlCol="0" anchor="ctr"/>
          <a:lstStyle/>
          <a:p>
            <a:pPr indent="0" marL="0">
              <a:buNone/>
            </a:pPr>
            <a:r>
              <a:rPr lang="en-US" sz="1000" i="1" dirty="0">
                <a:solidFill>
                  <a:srgbClr val="5A6672"/>
                </a:solidFill>
                <a:latin typeface="Calibri" pitchFamily="34" charset="0"/>
                <a:ea typeface="Calibri" pitchFamily="34" charset="-122"/>
                <a:cs typeface="Calibri" pitchFamily="34" charset="-120"/>
              </a:rPr>
              <a:t>Gauge · Geb · Selenium · Groovy</a:t>
            </a:r>
            <a:endParaRPr lang="en-US" sz="1000" dirty="0"/>
          </a:p>
        </p:txBody>
      </p:sp>
      <p:sp>
        <p:nvSpPr>
          <p:cNvPr id="25" name="Text 20"/>
          <p:cNvSpPr/>
          <p:nvPr/>
        </p:nvSpPr>
        <p:spPr>
          <a:xfrm>
            <a:off x="8302752" y="3529584"/>
            <a:ext cx="2926080" cy="2286000"/>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Business-readable Gauge specs</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Geb page objects (LoginPage, HomePage)</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Chrome / Firefox / Edge, headless capable</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Layered env config, AES-256/GCM credentials</a:t>
            </a:r>
            <a:endParaRPr lang="en-US" sz="1050" dirty="0"/>
          </a:p>
          <a:p>
            <a:pPr marL="342900" indent="-342900">
              <a:lnSpc>
                <a:spcPts val="1300"/>
              </a:lnSpc>
              <a:spcAft>
                <a:spcPts val="700"/>
              </a:spcAft>
              <a:buSzPct val="100000"/>
              <a:buChar char="•"/>
            </a:pPr>
            <a:r>
              <a:rPr lang="en-US" sz="1050" dirty="0">
                <a:solidFill>
                  <a:srgbClr val="12233A"/>
                </a:solidFill>
                <a:latin typeface="Calibri" pitchFamily="34" charset="0"/>
                <a:ea typeface="Calibri" pitchFamily="34" charset="-122"/>
                <a:cs typeface="Calibri" pitchFamily="34" charset="-120"/>
              </a:rPr>
              <a:t>Screenshot capture on failure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REFERENCE ARCHITECTURE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From commit to verified Teamcenter environment</a:t>
            </a:r>
            <a:endParaRPr lang="en-US" sz="2900" dirty="0"/>
          </a:p>
        </p:txBody>
      </p:sp>
      <p:sp>
        <p:nvSpPr>
          <p:cNvPr id="4" name="Shape 2"/>
          <p:cNvSpPr/>
          <p:nvPr/>
        </p:nvSpPr>
        <p:spPr>
          <a:xfrm>
            <a:off x="640080" y="1645920"/>
            <a:ext cx="2084832" cy="2743200"/>
          </a:xfrm>
          <a:prstGeom prst="roundRect">
            <a:avLst>
              <a:gd name="adj" fmla="val 3947"/>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1389888" y="1856232"/>
            <a:ext cx="585216" cy="585216"/>
          </a:xfrm>
          <a:prstGeom prst="ellipse">
            <a:avLst/>
          </a:prstGeom>
          <a:solidFill>
            <a:srgbClr val="001034"/>
          </a:solidFill>
          <a:ln w="12700">
            <a:solidFill>
              <a:srgbClr val="001034"/>
            </a:solidFill>
            <a:prstDash val="solid"/>
          </a:ln>
        </p:spPr>
      </p:sp>
      <p:pic>
        <p:nvPicPr>
          <p:cNvPr id="6" name="Image 0" descr="preencoded.png">    </p:cNvPr>
          <p:cNvPicPr>
            <a:picLocks noChangeAspect="1"/>
          </p:cNvPicPr>
          <p:nvPr/>
        </p:nvPicPr>
        <p:blipFill>
          <a:blip r:embed="rId1"/>
          <a:stretch>
            <a:fillRect/>
          </a:stretch>
        </p:blipFill>
        <p:spPr>
          <a:xfrm>
            <a:off x="1530340" y="1996684"/>
            <a:ext cx="304312" cy="304312"/>
          </a:xfrm>
          <a:prstGeom prst="rect">
            <a:avLst/>
          </a:prstGeom>
        </p:spPr>
      </p:pic>
      <p:sp>
        <p:nvSpPr>
          <p:cNvPr id="7" name="Text 4"/>
          <p:cNvSpPr/>
          <p:nvPr/>
        </p:nvSpPr>
        <p:spPr>
          <a:xfrm>
            <a:off x="640080" y="2560320"/>
            <a:ext cx="2084832" cy="274320"/>
          </a:xfrm>
          <a:prstGeom prst="rect">
            <a:avLst/>
          </a:prstGeom>
          <a:noFill/>
          <a:ln/>
        </p:spPr>
        <p:txBody>
          <a:bodyPr wrap="square" lIns="0" tIns="0" rIns="0" bIns="0" rtlCol="0" anchor="ctr"/>
          <a:lstStyle/>
          <a:p>
            <a:pPr algn="ctr" indent="0" marL="0">
              <a:buNone/>
            </a:pPr>
            <a:r>
              <a:rPr lang="en-US" sz="1450" b="1" dirty="0">
                <a:solidFill>
                  <a:srgbClr val="001034"/>
                </a:solidFill>
                <a:latin typeface="Arial" pitchFamily="34" charset="0"/>
                <a:ea typeface="Arial" pitchFamily="34" charset="-122"/>
                <a:cs typeface="Arial" pitchFamily="34" charset="-120"/>
              </a:rPr>
              <a:t>Source</a:t>
            </a:r>
            <a:endParaRPr lang="en-US" sz="1450" dirty="0"/>
          </a:p>
        </p:txBody>
      </p:sp>
      <p:sp>
        <p:nvSpPr>
          <p:cNvPr id="8" name="Text 5"/>
          <p:cNvSpPr/>
          <p:nvPr/>
        </p:nvSpPr>
        <p:spPr>
          <a:xfrm>
            <a:off x="768096" y="2871216"/>
            <a:ext cx="1828800" cy="1417320"/>
          </a:xfrm>
          <a:prstGeom prst="rect">
            <a:avLst/>
          </a:prstGeom>
          <a:noFill/>
          <a:ln/>
        </p:spPr>
        <p:txBody>
          <a:bodyPr wrap="square" lIns="0" tIns="0" rIns="0" bIns="0" rtlCol="0" anchor="ctr"/>
          <a:lstStyle/>
          <a:p>
            <a:pPr algn="ctr" indent="0" marL="0">
              <a:lnSpc>
                <a:spcPts val="1300"/>
              </a:lnSpc>
              <a:buNone/>
            </a:pPr>
            <a:r>
              <a:rPr lang="en-US" sz="1000" dirty="0">
                <a:solidFill>
                  <a:srgbClr val="5A6672"/>
                </a:solidFill>
                <a:latin typeface="Calibri" pitchFamily="34" charset="0"/>
                <a:ea typeface="Calibri" pitchFamily="34" charset="-122"/>
                <a:cs typeface="Calibri" pitchFamily="34" charset="-120"/>
              </a:rPr>
              <a:t>config/ preferences, stylesheets, queries, BMIDE, workflows, UI config — versioned in Git</a:t>
            </a:r>
            <a:endParaRPr lang="en-US" sz="1000" dirty="0"/>
          </a:p>
        </p:txBody>
      </p:sp>
      <p:sp>
        <p:nvSpPr>
          <p:cNvPr id="9" name="Shape 6"/>
          <p:cNvSpPr/>
          <p:nvPr/>
        </p:nvSpPr>
        <p:spPr>
          <a:xfrm>
            <a:off x="2706624" y="2743200"/>
            <a:ext cx="173736" cy="310896"/>
          </a:xfrm>
          <a:prstGeom prst="chevron">
            <a:avLst/>
          </a:prstGeom>
          <a:solidFill>
            <a:srgbClr val="00A5A6"/>
          </a:solidFill>
          <a:ln w="12700">
            <a:solidFill>
              <a:srgbClr val="00A5A6"/>
            </a:solidFill>
            <a:prstDash val="solid"/>
          </a:ln>
        </p:spPr>
      </p:sp>
      <p:sp>
        <p:nvSpPr>
          <p:cNvPr id="10" name="Shape 7"/>
          <p:cNvSpPr/>
          <p:nvPr/>
        </p:nvSpPr>
        <p:spPr>
          <a:xfrm>
            <a:off x="2862072" y="1645920"/>
            <a:ext cx="2084832" cy="2743200"/>
          </a:xfrm>
          <a:prstGeom prst="roundRect">
            <a:avLst>
              <a:gd name="adj" fmla="val 3947"/>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Shape 8"/>
          <p:cNvSpPr/>
          <p:nvPr/>
        </p:nvSpPr>
        <p:spPr>
          <a:xfrm>
            <a:off x="3611880" y="1856232"/>
            <a:ext cx="585216" cy="585216"/>
          </a:xfrm>
          <a:prstGeom prst="ellipse">
            <a:avLst/>
          </a:prstGeom>
          <a:solidFill>
            <a:srgbClr val="001034"/>
          </a:solidFill>
          <a:ln w="12700">
            <a:solidFill>
              <a:srgbClr val="001034"/>
            </a:solidFill>
            <a:prstDash val="solid"/>
          </a:ln>
        </p:spPr>
      </p:sp>
      <p:pic>
        <p:nvPicPr>
          <p:cNvPr id="12" name="Image 1" descr="preencoded.png">    </p:cNvPr>
          <p:cNvPicPr>
            <a:picLocks noChangeAspect="1"/>
          </p:cNvPicPr>
          <p:nvPr/>
        </p:nvPicPr>
        <p:blipFill>
          <a:blip r:embed="rId2"/>
          <a:stretch>
            <a:fillRect/>
          </a:stretch>
        </p:blipFill>
        <p:spPr>
          <a:xfrm>
            <a:off x="3752332" y="1996684"/>
            <a:ext cx="304312" cy="304312"/>
          </a:xfrm>
          <a:prstGeom prst="rect">
            <a:avLst/>
          </a:prstGeom>
        </p:spPr>
      </p:pic>
      <p:sp>
        <p:nvSpPr>
          <p:cNvPr id="13" name="Text 9"/>
          <p:cNvSpPr/>
          <p:nvPr/>
        </p:nvSpPr>
        <p:spPr>
          <a:xfrm>
            <a:off x="2862072" y="2560320"/>
            <a:ext cx="2084832" cy="274320"/>
          </a:xfrm>
          <a:prstGeom prst="rect">
            <a:avLst/>
          </a:prstGeom>
          <a:noFill/>
          <a:ln/>
        </p:spPr>
        <p:txBody>
          <a:bodyPr wrap="square" lIns="0" tIns="0" rIns="0" bIns="0" rtlCol="0" anchor="ctr"/>
          <a:lstStyle/>
          <a:p>
            <a:pPr algn="ctr" indent="0" marL="0">
              <a:buNone/>
            </a:pPr>
            <a:r>
              <a:rPr lang="en-US" sz="1450" b="1" dirty="0">
                <a:solidFill>
                  <a:srgbClr val="001034"/>
                </a:solidFill>
                <a:latin typeface="Arial" pitchFamily="34" charset="0"/>
                <a:ea typeface="Arial" pitchFamily="34" charset="-122"/>
                <a:cs typeface="Arial" pitchFamily="34" charset="-120"/>
              </a:rPr>
              <a:t>Build &amp; package</a:t>
            </a:r>
            <a:endParaRPr lang="en-US" sz="1450" dirty="0"/>
          </a:p>
        </p:txBody>
      </p:sp>
      <p:sp>
        <p:nvSpPr>
          <p:cNvPr id="14" name="Text 10"/>
          <p:cNvSpPr/>
          <p:nvPr/>
        </p:nvSpPr>
        <p:spPr>
          <a:xfrm>
            <a:off x="2990088" y="2871216"/>
            <a:ext cx="1828800" cy="1417320"/>
          </a:xfrm>
          <a:prstGeom prst="rect">
            <a:avLst/>
          </a:prstGeom>
          <a:noFill/>
          <a:ln/>
        </p:spPr>
        <p:txBody>
          <a:bodyPr wrap="square" lIns="0" tIns="0" rIns="0" bIns="0" rtlCol="0" anchor="ctr"/>
          <a:lstStyle/>
          <a:p>
            <a:pPr algn="ctr" indent="0" marL="0">
              <a:lnSpc>
                <a:spcPts val="1300"/>
              </a:lnSpc>
              <a:buNone/>
            </a:pPr>
            <a:r>
              <a:rPr lang="en-US" sz="1000" dirty="0">
                <a:solidFill>
                  <a:srgbClr val="5A6672"/>
                </a:solidFill>
                <a:latin typeface="Calibri" pitchFamily="34" charset="0"/>
                <a:ea typeface="Calibri" pitchFamily="34" charset="-122"/>
                <a:cs typeface="Calibri" pitchFamily="34" charset="-120"/>
              </a:rPr>
              <a:t>package.py validates every XML, derives BMIDE revisions from git history, emits R.&lt;name&gt;.zip</a:t>
            </a:r>
            <a:endParaRPr lang="en-US" sz="1000" dirty="0"/>
          </a:p>
        </p:txBody>
      </p:sp>
      <p:sp>
        <p:nvSpPr>
          <p:cNvPr id="15" name="Shape 11"/>
          <p:cNvSpPr/>
          <p:nvPr/>
        </p:nvSpPr>
        <p:spPr>
          <a:xfrm>
            <a:off x="4928616" y="2743200"/>
            <a:ext cx="173736" cy="310896"/>
          </a:xfrm>
          <a:prstGeom prst="chevron">
            <a:avLst/>
          </a:prstGeom>
          <a:solidFill>
            <a:srgbClr val="00A5A6"/>
          </a:solidFill>
          <a:ln w="12700">
            <a:solidFill>
              <a:srgbClr val="00A5A6"/>
            </a:solidFill>
            <a:prstDash val="solid"/>
          </a:ln>
        </p:spPr>
      </p:sp>
      <p:sp>
        <p:nvSpPr>
          <p:cNvPr id="16" name="Shape 12"/>
          <p:cNvSpPr/>
          <p:nvPr/>
        </p:nvSpPr>
        <p:spPr>
          <a:xfrm>
            <a:off x="5084064" y="1645920"/>
            <a:ext cx="2084832" cy="2743200"/>
          </a:xfrm>
          <a:prstGeom prst="roundRect">
            <a:avLst>
              <a:gd name="adj" fmla="val 3947"/>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7" name="Shape 13"/>
          <p:cNvSpPr/>
          <p:nvPr/>
        </p:nvSpPr>
        <p:spPr>
          <a:xfrm>
            <a:off x="5833872" y="1856232"/>
            <a:ext cx="585216" cy="585216"/>
          </a:xfrm>
          <a:prstGeom prst="ellipse">
            <a:avLst/>
          </a:prstGeom>
          <a:solidFill>
            <a:srgbClr val="001034"/>
          </a:solidFill>
          <a:ln w="12700">
            <a:solidFill>
              <a:srgbClr val="001034"/>
            </a:solidFill>
            <a:prstDash val="solid"/>
          </a:ln>
        </p:spPr>
      </p:sp>
      <p:pic>
        <p:nvPicPr>
          <p:cNvPr id="18" name="Image 2" descr="preencoded.png">    </p:cNvPr>
          <p:cNvPicPr>
            <a:picLocks noChangeAspect="1"/>
          </p:cNvPicPr>
          <p:nvPr/>
        </p:nvPicPr>
        <p:blipFill>
          <a:blip r:embed="rId3"/>
          <a:stretch>
            <a:fillRect/>
          </a:stretch>
        </p:blipFill>
        <p:spPr>
          <a:xfrm>
            <a:off x="5974324" y="1996684"/>
            <a:ext cx="304312" cy="304312"/>
          </a:xfrm>
          <a:prstGeom prst="rect">
            <a:avLst/>
          </a:prstGeom>
        </p:spPr>
      </p:pic>
      <p:sp>
        <p:nvSpPr>
          <p:cNvPr id="19" name="Text 14"/>
          <p:cNvSpPr/>
          <p:nvPr/>
        </p:nvSpPr>
        <p:spPr>
          <a:xfrm>
            <a:off x="5084064" y="2560320"/>
            <a:ext cx="2084832" cy="274320"/>
          </a:xfrm>
          <a:prstGeom prst="rect">
            <a:avLst/>
          </a:prstGeom>
          <a:noFill/>
          <a:ln/>
        </p:spPr>
        <p:txBody>
          <a:bodyPr wrap="square" lIns="0" tIns="0" rIns="0" bIns="0" rtlCol="0" anchor="ctr"/>
          <a:lstStyle/>
          <a:p>
            <a:pPr algn="ctr" indent="0" marL="0">
              <a:buNone/>
            </a:pPr>
            <a:r>
              <a:rPr lang="en-US" sz="1450" b="1" dirty="0">
                <a:solidFill>
                  <a:srgbClr val="001034"/>
                </a:solidFill>
                <a:latin typeface="Arial" pitchFamily="34" charset="0"/>
                <a:ea typeface="Arial" pitchFamily="34" charset="-122"/>
                <a:cs typeface="Arial" pitchFamily="34" charset="-120"/>
              </a:rPr>
              <a:t>Deploy</a:t>
            </a:r>
            <a:endParaRPr lang="en-US" sz="1450" dirty="0"/>
          </a:p>
        </p:txBody>
      </p:sp>
      <p:sp>
        <p:nvSpPr>
          <p:cNvPr id="20" name="Text 15"/>
          <p:cNvSpPr/>
          <p:nvPr/>
        </p:nvSpPr>
        <p:spPr>
          <a:xfrm>
            <a:off x="5212080" y="2871216"/>
            <a:ext cx="1828800" cy="1417320"/>
          </a:xfrm>
          <a:prstGeom prst="rect">
            <a:avLst/>
          </a:prstGeom>
          <a:noFill/>
          <a:ln/>
        </p:spPr>
        <p:txBody>
          <a:bodyPr wrap="square" lIns="0" tIns="0" rIns="0" bIns="0" rtlCol="0" anchor="ctr"/>
          <a:lstStyle/>
          <a:p>
            <a:pPr algn="ctr" indent="0" marL="0">
              <a:lnSpc>
                <a:spcPts val="1300"/>
              </a:lnSpc>
              <a:buNone/>
            </a:pPr>
            <a:r>
              <a:rPr lang="en-US" sz="1000" dirty="0">
                <a:solidFill>
                  <a:srgbClr val="5A6672"/>
                </a:solidFill>
                <a:latin typeface="Calibri" pitchFamily="34" charset="0"/>
                <a:ea typeface="Calibri" pitchFamily="34" charset="-122"/>
                <a:cs typeface="Calibri" pitchFamily="34" charset="-120"/>
              </a:rPr>
              <a:t>tcdeploy runs the TC 2606 utilities against the target environment, phase by phase</a:t>
            </a:r>
            <a:endParaRPr lang="en-US" sz="1000" dirty="0"/>
          </a:p>
        </p:txBody>
      </p:sp>
      <p:sp>
        <p:nvSpPr>
          <p:cNvPr id="21" name="Shape 16"/>
          <p:cNvSpPr/>
          <p:nvPr/>
        </p:nvSpPr>
        <p:spPr>
          <a:xfrm>
            <a:off x="7150608" y="2743200"/>
            <a:ext cx="173736" cy="310896"/>
          </a:xfrm>
          <a:prstGeom prst="chevron">
            <a:avLst/>
          </a:prstGeom>
          <a:solidFill>
            <a:srgbClr val="00A5A6"/>
          </a:solidFill>
          <a:ln w="12700">
            <a:solidFill>
              <a:srgbClr val="00A5A6"/>
            </a:solidFill>
            <a:prstDash val="solid"/>
          </a:ln>
        </p:spPr>
      </p:sp>
      <p:sp>
        <p:nvSpPr>
          <p:cNvPr id="22" name="Shape 17"/>
          <p:cNvSpPr/>
          <p:nvPr/>
        </p:nvSpPr>
        <p:spPr>
          <a:xfrm>
            <a:off x="7306056" y="1645920"/>
            <a:ext cx="2084832" cy="2743200"/>
          </a:xfrm>
          <a:prstGeom prst="roundRect">
            <a:avLst>
              <a:gd name="adj" fmla="val 3947"/>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3" name="Shape 18"/>
          <p:cNvSpPr/>
          <p:nvPr/>
        </p:nvSpPr>
        <p:spPr>
          <a:xfrm>
            <a:off x="8055864" y="1856232"/>
            <a:ext cx="585216" cy="585216"/>
          </a:xfrm>
          <a:prstGeom prst="ellipse">
            <a:avLst/>
          </a:prstGeom>
          <a:solidFill>
            <a:srgbClr val="001034"/>
          </a:solidFill>
          <a:ln w="12700">
            <a:solidFill>
              <a:srgbClr val="001034"/>
            </a:solidFill>
            <a:prstDash val="solid"/>
          </a:ln>
        </p:spPr>
      </p:sp>
      <p:pic>
        <p:nvPicPr>
          <p:cNvPr id="24" name="Image 3" descr="preencoded.png">    </p:cNvPr>
          <p:cNvPicPr>
            <a:picLocks noChangeAspect="1"/>
          </p:cNvPicPr>
          <p:nvPr/>
        </p:nvPicPr>
        <p:blipFill>
          <a:blip r:embed="rId4"/>
          <a:stretch>
            <a:fillRect/>
          </a:stretch>
        </p:blipFill>
        <p:spPr>
          <a:xfrm>
            <a:off x="8196316" y="1996684"/>
            <a:ext cx="304312" cy="304312"/>
          </a:xfrm>
          <a:prstGeom prst="rect">
            <a:avLst/>
          </a:prstGeom>
        </p:spPr>
      </p:pic>
      <p:sp>
        <p:nvSpPr>
          <p:cNvPr id="25" name="Text 19"/>
          <p:cNvSpPr/>
          <p:nvPr/>
        </p:nvSpPr>
        <p:spPr>
          <a:xfrm>
            <a:off x="7306056" y="2560320"/>
            <a:ext cx="2084832" cy="274320"/>
          </a:xfrm>
          <a:prstGeom prst="rect">
            <a:avLst/>
          </a:prstGeom>
          <a:noFill/>
          <a:ln/>
        </p:spPr>
        <p:txBody>
          <a:bodyPr wrap="square" lIns="0" tIns="0" rIns="0" bIns="0" rtlCol="0" anchor="ctr"/>
          <a:lstStyle/>
          <a:p>
            <a:pPr algn="ctr" indent="0" marL="0">
              <a:buNone/>
            </a:pPr>
            <a:r>
              <a:rPr lang="en-US" sz="1450" b="1" dirty="0">
                <a:solidFill>
                  <a:srgbClr val="001034"/>
                </a:solidFill>
                <a:latin typeface="Arial" pitchFamily="34" charset="0"/>
                <a:ea typeface="Arial" pitchFamily="34" charset="-122"/>
                <a:cs typeface="Arial" pitchFamily="34" charset="-120"/>
              </a:rPr>
              <a:t>Test</a:t>
            </a:r>
            <a:endParaRPr lang="en-US" sz="1450" dirty="0"/>
          </a:p>
        </p:txBody>
      </p:sp>
      <p:sp>
        <p:nvSpPr>
          <p:cNvPr id="26" name="Text 20"/>
          <p:cNvSpPr/>
          <p:nvPr/>
        </p:nvSpPr>
        <p:spPr>
          <a:xfrm>
            <a:off x="7434072" y="2871216"/>
            <a:ext cx="1828800" cy="1417320"/>
          </a:xfrm>
          <a:prstGeom prst="rect">
            <a:avLst/>
          </a:prstGeom>
          <a:noFill/>
          <a:ln/>
        </p:spPr>
        <p:txBody>
          <a:bodyPr wrap="square" lIns="0" tIns="0" rIns="0" bIns="0" rtlCol="0" anchor="ctr"/>
          <a:lstStyle/>
          <a:p>
            <a:pPr algn="ctr" indent="0" marL="0">
              <a:lnSpc>
                <a:spcPts val="1300"/>
              </a:lnSpc>
              <a:buNone/>
            </a:pPr>
            <a:r>
              <a:rPr lang="en-US" sz="1000" dirty="0">
                <a:solidFill>
                  <a:srgbClr val="5A6672"/>
                </a:solidFill>
                <a:latin typeface="Calibri" pitchFamily="34" charset="0"/>
                <a:ea typeface="Calibri" pitchFamily="34" charset="-122"/>
                <a:cs typeface="Calibri" pitchFamily="34" charset="-120"/>
              </a:rPr>
              <a:t>Pipeline unit tests, OOTB REST, gateway API and Active Workspace UI suites</a:t>
            </a:r>
            <a:endParaRPr lang="en-US" sz="1000" dirty="0"/>
          </a:p>
        </p:txBody>
      </p:sp>
      <p:sp>
        <p:nvSpPr>
          <p:cNvPr id="27" name="Shape 21"/>
          <p:cNvSpPr/>
          <p:nvPr/>
        </p:nvSpPr>
        <p:spPr>
          <a:xfrm>
            <a:off x="9372600" y="2743200"/>
            <a:ext cx="173736" cy="310896"/>
          </a:xfrm>
          <a:prstGeom prst="chevron">
            <a:avLst/>
          </a:prstGeom>
          <a:solidFill>
            <a:srgbClr val="00A5A6"/>
          </a:solidFill>
          <a:ln w="12700">
            <a:solidFill>
              <a:srgbClr val="00A5A6"/>
            </a:solidFill>
            <a:prstDash val="solid"/>
          </a:ln>
        </p:spPr>
      </p:sp>
      <p:sp>
        <p:nvSpPr>
          <p:cNvPr id="28" name="Shape 22"/>
          <p:cNvSpPr/>
          <p:nvPr/>
        </p:nvSpPr>
        <p:spPr>
          <a:xfrm>
            <a:off x="9528048" y="1645920"/>
            <a:ext cx="2084832" cy="2743200"/>
          </a:xfrm>
          <a:prstGeom prst="roundRect">
            <a:avLst>
              <a:gd name="adj" fmla="val 3947"/>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9" name="Shape 23"/>
          <p:cNvSpPr/>
          <p:nvPr/>
        </p:nvSpPr>
        <p:spPr>
          <a:xfrm>
            <a:off x="10277856" y="1856232"/>
            <a:ext cx="585216" cy="585216"/>
          </a:xfrm>
          <a:prstGeom prst="ellipse">
            <a:avLst/>
          </a:prstGeom>
          <a:solidFill>
            <a:srgbClr val="001034"/>
          </a:solidFill>
          <a:ln w="12700">
            <a:solidFill>
              <a:srgbClr val="001034"/>
            </a:solidFill>
            <a:prstDash val="solid"/>
          </a:ln>
        </p:spPr>
      </p:sp>
      <p:pic>
        <p:nvPicPr>
          <p:cNvPr id="30" name="Image 4" descr="preencoded.png">    </p:cNvPr>
          <p:cNvPicPr>
            <a:picLocks noChangeAspect="1"/>
          </p:cNvPicPr>
          <p:nvPr/>
        </p:nvPicPr>
        <p:blipFill>
          <a:blip r:embed="rId5"/>
          <a:stretch>
            <a:fillRect/>
          </a:stretch>
        </p:blipFill>
        <p:spPr>
          <a:xfrm>
            <a:off x="10418308" y="1996684"/>
            <a:ext cx="304312" cy="304312"/>
          </a:xfrm>
          <a:prstGeom prst="rect">
            <a:avLst/>
          </a:prstGeom>
        </p:spPr>
      </p:pic>
      <p:sp>
        <p:nvSpPr>
          <p:cNvPr id="31" name="Text 24"/>
          <p:cNvSpPr/>
          <p:nvPr/>
        </p:nvSpPr>
        <p:spPr>
          <a:xfrm>
            <a:off x="9528048" y="2560320"/>
            <a:ext cx="2084832" cy="274320"/>
          </a:xfrm>
          <a:prstGeom prst="rect">
            <a:avLst/>
          </a:prstGeom>
          <a:noFill/>
          <a:ln/>
        </p:spPr>
        <p:txBody>
          <a:bodyPr wrap="square" lIns="0" tIns="0" rIns="0" bIns="0" rtlCol="0" anchor="ctr"/>
          <a:lstStyle/>
          <a:p>
            <a:pPr algn="ctr" indent="0" marL="0">
              <a:buNone/>
            </a:pPr>
            <a:r>
              <a:rPr lang="en-US" sz="1450" b="1" dirty="0">
                <a:solidFill>
                  <a:srgbClr val="001034"/>
                </a:solidFill>
                <a:latin typeface="Arial" pitchFamily="34" charset="0"/>
                <a:ea typeface="Arial" pitchFamily="34" charset="-122"/>
                <a:cs typeface="Arial" pitchFamily="34" charset="-120"/>
              </a:rPr>
              <a:t>Gate &amp; report</a:t>
            </a:r>
            <a:endParaRPr lang="en-US" sz="1450" dirty="0"/>
          </a:p>
        </p:txBody>
      </p:sp>
      <p:sp>
        <p:nvSpPr>
          <p:cNvPr id="32" name="Text 25"/>
          <p:cNvSpPr/>
          <p:nvPr/>
        </p:nvSpPr>
        <p:spPr>
          <a:xfrm>
            <a:off x="9656064" y="2871216"/>
            <a:ext cx="1828800" cy="1417320"/>
          </a:xfrm>
          <a:prstGeom prst="rect">
            <a:avLst/>
          </a:prstGeom>
          <a:noFill/>
          <a:ln/>
        </p:spPr>
        <p:txBody>
          <a:bodyPr wrap="square" lIns="0" tIns="0" rIns="0" bIns="0" rtlCol="0" anchor="ctr"/>
          <a:lstStyle/>
          <a:p>
            <a:pPr algn="ctr" indent="0" marL="0">
              <a:lnSpc>
                <a:spcPts val="1300"/>
              </a:lnSpc>
              <a:buNone/>
            </a:pPr>
            <a:r>
              <a:rPr lang="en-US" sz="1000" dirty="0">
                <a:solidFill>
                  <a:srgbClr val="5A6672"/>
                </a:solidFill>
                <a:latin typeface="Calibri" pitchFamily="34" charset="0"/>
                <a:ea typeface="Calibri" pitchFamily="34" charset="-122"/>
                <a:cs typeface="Calibri" pitchFamily="34" charset="-120"/>
              </a:rPr>
              <a:t>HTML and JUnit results archived as evidence; build fails the gate on regression</a:t>
            </a:r>
            <a:endParaRPr lang="en-US" sz="1000" dirty="0"/>
          </a:p>
        </p:txBody>
      </p:sp>
      <p:sp>
        <p:nvSpPr>
          <p:cNvPr id="33" name="Shape 26"/>
          <p:cNvSpPr/>
          <p:nvPr/>
        </p:nvSpPr>
        <p:spPr>
          <a:xfrm>
            <a:off x="640080" y="4553712"/>
            <a:ext cx="10908792" cy="1481328"/>
          </a:xfrm>
          <a:prstGeom prst="roundRect">
            <a:avLst>
              <a:gd name="adj" fmla="val 6173"/>
            </a:avLst>
          </a:prstGeom>
          <a:solidFill>
            <a:srgbClr val="001034"/>
          </a:solidFill>
          <a:ln/>
        </p:spPr>
      </p:sp>
      <p:sp>
        <p:nvSpPr>
          <p:cNvPr id="34" name="Text 27"/>
          <p:cNvSpPr/>
          <p:nvPr/>
        </p:nvSpPr>
        <p:spPr>
          <a:xfrm>
            <a:off x="1005840" y="4681728"/>
            <a:ext cx="6400800" cy="274320"/>
          </a:xfrm>
          <a:prstGeom prst="rect">
            <a:avLst/>
          </a:prstGeom>
          <a:noFill/>
          <a:ln/>
        </p:spPr>
        <p:txBody>
          <a:bodyPr wrap="square" lIns="0" tIns="0" rIns="0" bIns="0" rtlCol="0" anchor="ctr"/>
          <a:lstStyle/>
          <a:p>
            <a:pPr indent="0" marL="0">
              <a:buNone/>
            </a:pPr>
            <a:r>
              <a:rPr lang="en-US" sz="1300" b="1" dirty="0">
                <a:solidFill>
                  <a:srgbClr val="00E1A0"/>
                </a:solidFill>
                <a:latin typeface="Arial" pitchFamily="34" charset="0"/>
                <a:ea typeface="Arial" pitchFamily="34" charset="-122"/>
                <a:cs typeface="Arial" pitchFamily="34" charset="-120"/>
              </a:rPr>
              <a:t>Three Jenkins pipelines, one artefact, one gate</a:t>
            </a:r>
            <a:endParaRPr lang="en-US" sz="1300" dirty="0"/>
          </a:p>
        </p:txBody>
      </p:sp>
      <p:sp>
        <p:nvSpPr>
          <p:cNvPr id="35" name="Text 28"/>
          <p:cNvSpPr/>
          <p:nvPr/>
        </p:nvSpPr>
        <p:spPr>
          <a:xfrm>
            <a:off x="1005840" y="5029200"/>
            <a:ext cx="329184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build-package.Jenkinsfile</a:t>
            </a:r>
            <a:endParaRPr lang="en-US" sz="1150" dirty="0"/>
          </a:p>
        </p:txBody>
      </p:sp>
      <p:sp>
        <p:nvSpPr>
          <p:cNvPr id="36" name="Text 29"/>
          <p:cNvSpPr/>
          <p:nvPr/>
        </p:nvSpPr>
        <p:spPr>
          <a:xfrm>
            <a:off x="1005840" y="5294376"/>
            <a:ext cx="3291840" cy="640080"/>
          </a:xfrm>
          <a:prstGeom prst="rect">
            <a:avLst/>
          </a:prstGeom>
          <a:noFill/>
          <a:ln/>
        </p:spPr>
        <p:txBody>
          <a:bodyPr wrap="square" lIns="0" tIns="0" rIns="0" bIns="0" rtlCol="0" anchor="ctr"/>
          <a:lstStyle/>
          <a:p>
            <a:pPr indent="0" marL="0">
              <a:lnSpc>
                <a:spcPts val="1250"/>
              </a:lnSpc>
              <a:buNone/>
            </a:pPr>
            <a:r>
              <a:rPr lang="en-US" sz="1000" dirty="0">
                <a:solidFill>
                  <a:srgbClr val="A9BCCB"/>
                </a:solidFill>
                <a:latin typeface="Calibri" pitchFamily="34" charset="0"/>
                <a:ea typeface="Calibri" pitchFamily="34" charset="-122"/>
                <a:cs typeface="Calibri" pitchFamily="34" charset="-120"/>
              </a:rPr>
              <a:t>Unit-tests the engine, then packages config/ and archives the zip with a fingerprint</a:t>
            </a:r>
            <a:endParaRPr lang="en-US" sz="1000" dirty="0"/>
          </a:p>
        </p:txBody>
      </p:sp>
      <p:sp>
        <p:nvSpPr>
          <p:cNvPr id="37" name="Text 30"/>
          <p:cNvSpPr/>
          <p:nvPr/>
        </p:nvSpPr>
        <p:spPr>
          <a:xfrm>
            <a:off x="4462272" y="5029200"/>
            <a:ext cx="329184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deploy.Jenkinsfile</a:t>
            </a:r>
            <a:endParaRPr lang="en-US" sz="1150" dirty="0"/>
          </a:p>
        </p:txBody>
      </p:sp>
      <p:sp>
        <p:nvSpPr>
          <p:cNvPr id="38" name="Text 31"/>
          <p:cNvSpPr/>
          <p:nvPr/>
        </p:nvSpPr>
        <p:spPr>
          <a:xfrm>
            <a:off x="4462272" y="5294376"/>
            <a:ext cx="3291840" cy="640080"/>
          </a:xfrm>
          <a:prstGeom prst="rect">
            <a:avLst/>
          </a:prstGeom>
          <a:noFill/>
          <a:ln/>
        </p:spPr>
        <p:txBody>
          <a:bodyPr wrap="square" lIns="0" tIns="0" rIns="0" bIns="0" rtlCol="0" anchor="ctr"/>
          <a:lstStyle/>
          <a:p>
            <a:pPr indent="0" marL="0">
              <a:lnSpc>
                <a:spcPts val="1250"/>
              </a:lnSpc>
              <a:buNone/>
            </a:pPr>
            <a:r>
              <a:rPr lang="en-US" sz="1000" dirty="0">
                <a:solidFill>
                  <a:srgbClr val="A9BCCB"/>
                </a:solidFill>
                <a:latin typeface="Calibri" pitchFamily="34" charset="0"/>
                <a:ea typeface="Calibri" pitchFamily="34" charset="-122"/>
                <a:cs typeface="Calibri" pitchFamily="34" charset="-120"/>
              </a:rPr>
              <a:t>Fetches that exact artefact and runs the operations against dev or qa</a:t>
            </a:r>
            <a:endParaRPr lang="en-US" sz="1000" dirty="0"/>
          </a:p>
        </p:txBody>
      </p:sp>
      <p:sp>
        <p:nvSpPr>
          <p:cNvPr id="39" name="Text 32"/>
          <p:cNvSpPr/>
          <p:nvPr/>
        </p:nvSpPr>
        <p:spPr>
          <a:xfrm>
            <a:off x="7918704" y="5029200"/>
            <a:ext cx="329184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validate.Jenkinsfile</a:t>
            </a:r>
            <a:endParaRPr lang="en-US" sz="1150" dirty="0"/>
          </a:p>
        </p:txBody>
      </p:sp>
      <p:sp>
        <p:nvSpPr>
          <p:cNvPr id="40" name="Text 33"/>
          <p:cNvSpPr/>
          <p:nvPr/>
        </p:nvSpPr>
        <p:spPr>
          <a:xfrm>
            <a:off x="7918704" y="5294376"/>
            <a:ext cx="3291840" cy="640080"/>
          </a:xfrm>
          <a:prstGeom prst="rect">
            <a:avLst/>
          </a:prstGeom>
          <a:noFill/>
          <a:ln/>
        </p:spPr>
        <p:txBody>
          <a:bodyPr wrap="square" lIns="0" tIns="0" rIns="0" bIns="0" rtlCol="0" anchor="ctr"/>
          <a:lstStyle/>
          <a:p>
            <a:pPr indent="0" marL="0">
              <a:lnSpc>
                <a:spcPts val="1250"/>
              </a:lnSpc>
              <a:buNone/>
            </a:pPr>
            <a:r>
              <a:rPr lang="en-US" sz="1000" dirty="0">
                <a:solidFill>
                  <a:srgbClr val="A9BCCB"/>
                </a:solidFill>
                <a:latin typeface="Calibri" pitchFamily="34" charset="0"/>
                <a:ea typeface="Calibri" pitchFamily="34" charset="-122"/>
                <a:cs typeface="Calibri" pitchFamily="34" charset="-120"/>
              </a:rPr>
              <a:t>Lints every Jenkinsfile and dry-run packages — runs on every pull request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PIPELINE · BUILD STAGE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Build once, version everything</a:t>
            </a:r>
            <a:endParaRPr lang="en-US" sz="2900" dirty="0"/>
          </a:p>
        </p:txBody>
      </p:sp>
      <p:sp>
        <p:nvSpPr>
          <p:cNvPr id="4" name="Shape 2"/>
          <p:cNvSpPr/>
          <p:nvPr/>
        </p:nvSpPr>
        <p:spPr>
          <a:xfrm>
            <a:off x="640080" y="1645920"/>
            <a:ext cx="6675120" cy="731520"/>
          </a:xfrm>
          <a:prstGeom prst="roundRect">
            <a:avLst>
              <a:gd name="adj" fmla="val 10000"/>
            </a:avLst>
          </a:prstGeom>
          <a:solidFill>
            <a:srgbClr val="F1F5F7"/>
          </a:solidFill>
          <a:ln w="9525">
            <a:solidFill>
              <a:srgbClr val="DDE5EA"/>
            </a:solidFill>
            <a:prstDash val="solid"/>
          </a:ln>
        </p:spPr>
      </p:sp>
      <p:sp>
        <p:nvSpPr>
          <p:cNvPr id="5" name="Shape 3"/>
          <p:cNvSpPr/>
          <p:nvPr/>
        </p:nvSpPr>
        <p:spPr>
          <a:xfrm>
            <a:off x="804672" y="1755648"/>
            <a:ext cx="512064" cy="512064"/>
          </a:xfrm>
          <a:prstGeom prst="ellipse">
            <a:avLst/>
          </a:prstGeom>
          <a:solidFill>
            <a:srgbClr val="001034"/>
          </a:solidFill>
          <a:ln w="12700">
            <a:solidFill>
              <a:srgbClr val="001034"/>
            </a:solidFill>
            <a:prstDash val="solid"/>
          </a:ln>
        </p:spPr>
      </p:sp>
      <p:pic>
        <p:nvPicPr>
          <p:cNvPr id="6" name="Image 0" descr="preencoded.png">    </p:cNvPr>
          <p:cNvPicPr>
            <a:picLocks noChangeAspect="1"/>
          </p:cNvPicPr>
          <p:nvPr/>
        </p:nvPicPr>
        <p:blipFill>
          <a:blip r:embed="rId1"/>
          <a:stretch>
            <a:fillRect/>
          </a:stretch>
        </p:blipFill>
        <p:spPr>
          <a:xfrm>
            <a:off x="927567" y="1878543"/>
            <a:ext cx="266273" cy="266273"/>
          </a:xfrm>
          <a:prstGeom prst="rect">
            <a:avLst/>
          </a:prstGeom>
        </p:spPr>
      </p:pic>
      <p:sp>
        <p:nvSpPr>
          <p:cNvPr id="7" name="Text 4"/>
          <p:cNvSpPr/>
          <p:nvPr/>
        </p:nvSpPr>
        <p:spPr>
          <a:xfrm>
            <a:off x="1444752" y="1737360"/>
            <a:ext cx="5669280" cy="256032"/>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Preferences</a:t>
            </a:r>
            <a:endParaRPr lang="en-US" sz="1300" dirty="0"/>
          </a:p>
        </p:txBody>
      </p:sp>
      <p:sp>
        <p:nvSpPr>
          <p:cNvPr id="8" name="Text 5"/>
          <p:cNvSpPr/>
          <p:nvPr/>
        </p:nvSpPr>
        <p:spPr>
          <a:xfrm>
            <a:off x="1444752" y="2011680"/>
            <a:ext cx="5715000" cy="31089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Site, group, role and user scopes, plus merge and delete lists</a:t>
            </a:r>
            <a:endParaRPr lang="en-US" sz="1050" dirty="0"/>
          </a:p>
        </p:txBody>
      </p:sp>
      <p:sp>
        <p:nvSpPr>
          <p:cNvPr id="9" name="Shape 6"/>
          <p:cNvSpPr/>
          <p:nvPr/>
        </p:nvSpPr>
        <p:spPr>
          <a:xfrm>
            <a:off x="640080" y="2487168"/>
            <a:ext cx="6675120" cy="731520"/>
          </a:xfrm>
          <a:prstGeom prst="roundRect">
            <a:avLst>
              <a:gd name="adj" fmla="val 10000"/>
            </a:avLst>
          </a:prstGeom>
          <a:solidFill>
            <a:srgbClr val="FFFFFF"/>
          </a:solidFill>
          <a:ln w="9525">
            <a:solidFill>
              <a:srgbClr val="DDE5EA"/>
            </a:solidFill>
            <a:prstDash val="solid"/>
          </a:ln>
        </p:spPr>
      </p:sp>
      <p:sp>
        <p:nvSpPr>
          <p:cNvPr id="10" name="Shape 7"/>
          <p:cNvSpPr/>
          <p:nvPr/>
        </p:nvSpPr>
        <p:spPr>
          <a:xfrm>
            <a:off x="804672" y="2596896"/>
            <a:ext cx="512064" cy="512064"/>
          </a:xfrm>
          <a:prstGeom prst="ellipse">
            <a:avLst/>
          </a:prstGeom>
          <a:solidFill>
            <a:srgbClr val="001034"/>
          </a:solidFill>
          <a:ln w="12700">
            <a:solidFill>
              <a:srgbClr val="001034"/>
            </a:solidFill>
            <a:prstDash val="solid"/>
          </a:ln>
        </p:spPr>
      </p:sp>
      <p:pic>
        <p:nvPicPr>
          <p:cNvPr id="11" name="Image 1" descr="preencoded.png">    </p:cNvPr>
          <p:cNvPicPr>
            <a:picLocks noChangeAspect="1"/>
          </p:cNvPicPr>
          <p:nvPr/>
        </p:nvPicPr>
        <p:blipFill>
          <a:blip r:embed="rId2"/>
          <a:stretch>
            <a:fillRect/>
          </a:stretch>
        </p:blipFill>
        <p:spPr>
          <a:xfrm>
            <a:off x="927567" y="2719791"/>
            <a:ext cx="266273" cy="266273"/>
          </a:xfrm>
          <a:prstGeom prst="rect">
            <a:avLst/>
          </a:prstGeom>
        </p:spPr>
      </p:pic>
      <p:sp>
        <p:nvSpPr>
          <p:cNvPr id="12" name="Text 8"/>
          <p:cNvSpPr/>
          <p:nvPr/>
        </p:nvSpPr>
        <p:spPr>
          <a:xfrm>
            <a:off x="1444752" y="2578608"/>
            <a:ext cx="5669280" cy="256032"/>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BMIDE data model</a:t>
            </a:r>
            <a:endParaRPr lang="en-US" sz="1300" dirty="0"/>
          </a:p>
        </p:txBody>
      </p:sp>
      <p:sp>
        <p:nvSpPr>
          <p:cNvPr id="13" name="Text 9"/>
          <p:cNvSpPr/>
          <p:nvPr/>
        </p:nvSpPr>
        <p:spPr>
          <a:xfrm>
            <a:off x="1444752" y="2852928"/>
            <a:ext cx="5715000" cy="31089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Templates, LOVs and delta updates — revision-gated from git history</a:t>
            </a:r>
            <a:endParaRPr lang="en-US" sz="1050" dirty="0"/>
          </a:p>
        </p:txBody>
      </p:sp>
      <p:sp>
        <p:nvSpPr>
          <p:cNvPr id="14" name="Shape 10"/>
          <p:cNvSpPr/>
          <p:nvPr/>
        </p:nvSpPr>
        <p:spPr>
          <a:xfrm>
            <a:off x="640080" y="3328416"/>
            <a:ext cx="6675120" cy="731520"/>
          </a:xfrm>
          <a:prstGeom prst="roundRect">
            <a:avLst>
              <a:gd name="adj" fmla="val 10000"/>
            </a:avLst>
          </a:prstGeom>
          <a:solidFill>
            <a:srgbClr val="F1F5F7"/>
          </a:solidFill>
          <a:ln w="9525">
            <a:solidFill>
              <a:srgbClr val="DDE5EA"/>
            </a:solidFill>
            <a:prstDash val="solid"/>
          </a:ln>
        </p:spPr>
      </p:sp>
      <p:sp>
        <p:nvSpPr>
          <p:cNvPr id="15" name="Shape 11"/>
          <p:cNvSpPr/>
          <p:nvPr/>
        </p:nvSpPr>
        <p:spPr>
          <a:xfrm>
            <a:off x="804672" y="3438144"/>
            <a:ext cx="512064" cy="512064"/>
          </a:xfrm>
          <a:prstGeom prst="ellipse">
            <a:avLst/>
          </a:prstGeom>
          <a:solidFill>
            <a:srgbClr val="001034"/>
          </a:solidFill>
          <a:ln w="12700">
            <a:solidFill>
              <a:srgbClr val="001034"/>
            </a:solidFill>
            <a:prstDash val="solid"/>
          </a:ln>
        </p:spPr>
      </p:sp>
      <p:pic>
        <p:nvPicPr>
          <p:cNvPr id="16" name="Image 2" descr="preencoded.png">    </p:cNvPr>
          <p:cNvPicPr>
            <a:picLocks noChangeAspect="1"/>
          </p:cNvPicPr>
          <p:nvPr/>
        </p:nvPicPr>
        <p:blipFill>
          <a:blip r:embed="rId3"/>
          <a:stretch>
            <a:fillRect/>
          </a:stretch>
        </p:blipFill>
        <p:spPr>
          <a:xfrm>
            <a:off x="927567" y="3561039"/>
            <a:ext cx="266273" cy="266273"/>
          </a:xfrm>
          <a:prstGeom prst="rect">
            <a:avLst/>
          </a:prstGeom>
        </p:spPr>
      </p:pic>
      <p:sp>
        <p:nvSpPr>
          <p:cNvPr id="17" name="Text 12"/>
          <p:cNvSpPr/>
          <p:nvPr/>
        </p:nvSpPr>
        <p:spPr>
          <a:xfrm>
            <a:off x="1444752" y="3419856"/>
            <a:ext cx="5669280" cy="256032"/>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Saved queries &amp; UI config</a:t>
            </a:r>
            <a:endParaRPr lang="en-US" sz="1300" dirty="0"/>
          </a:p>
        </p:txBody>
      </p:sp>
      <p:sp>
        <p:nvSpPr>
          <p:cNvPr id="18" name="Text 13"/>
          <p:cNvSpPr/>
          <p:nvPr/>
        </p:nvSpPr>
        <p:spPr>
          <a:xfrm>
            <a:off x="1444752" y="3694176"/>
            <a:ext cx="5715000" cy="31089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Query definitions and column/UI configuration XML</a:t>
            </a:r>
            <a:endParaRPr lang="en-US" sz="1050" dirty="0"/>
          </a:p>
        </p:txBody>
      </p:sp>
      <p:sp>
        <p:nvSpPr>
          <p:cNvPr id="19" name="Shape 14"/>
          <p:cNvSpPr/>
          <p:nvPr/>
        </p:nvSpPr>
        <p:spPr>
          <a:xfrm>
            <a:off x="640080" y="4169664"/>
            <a:ext cx="6675120" cy="731520"/>
          </a:xfrm>
          <a:prstGeom prst="roundRect">
            <a:avLst>
              <a:gd name="adj" fmla="val 10000"/>
            </a:avLst>
          </a:prstGeom>
          <a:solidFill>
            <a:srgbClr val="FFFFFF"/>
          </a:solidFill>
          <a:ln w="9525">
            <a:solidFill>
              <a:srgbClr val="DDE5EA"/>
            </a:solidFill>
            <a:prstDash val="solid"/>
          </a:ln>
        </p:spPr>
      </p:sp>
      <p:sp>
        <p:nvSpPr>
          <p:cNvPr id="20" name="Shape 15"/>
          <p:cNvSpPr/>
          <p:nvPr/>
        </p:nvSpPr>
        <p:spPr>
          <a:xfrm>
            <a:off x="804672" y="4279392"/>
            <a:ext cx="512064" cy="512064"/>
          </a:xfrm>
          <a:prstGeom prst="ellipse">
            <a:avLst/>
          </a:prstGeom>
          <a:solidFill>
            <a:srgbClr val="001034"/>
          </a:solidFill>
          <a:ln w="12700">
            <a:solidFill>
              <a:srgbClr val="001034"/>
            </a:solidFill>
            <a:prstDash val="solid"/>
          </a:ln>
        </p:spPr>
      </p:sp>
      <p:pic>
        <p:nvPicPr>
          <p:cNvPr id="21" name="Image 3" descr="preencoded.png">    </p:cNvPr>
          <p:cNvPicPr>
            <a:picLocks noChangeAspect="1"/>
          </p:cNvPicPr>
          <p:nvPr/>
        </p:nvPicPr>
        <p:blipFill>
          <a:blip r:embed="rId4"/>
          <a:stretch>
            <a:fillRect/>
          </a:stretch>
        </p:blipFill>
        <p:spPr>
          <a:xfrm>
            <a:off x="927567" y="4402287"/>
            <a:ext cx="266273" cy="266273"/>
          </a:xfrm>
          <a:prstGeom prst="rect">
            <a:avLst/>
          </a:prstGeom>
        </p:spPr>
      </p:pic>
      <p:sp>
        <p:nvSpPr>
          <p:cNvPr id="22" name="Text 16"/>
          <p:cNvSpPr/>
          <p:nvPr/>
        </p:nvSpPr>
        <p:spPr>
          <a:xfrm>
            <a:off x="1444752" y="4261104"/>
            <a:ext cx="5669280" cy="256032"/>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Localisation</a:t>
            </a:r>
            <a:endParaRPr lang="en-US" sz="1300" dirty="0"/>
          </a:p>
        </p:txBody>
      </p:sp>
      <p:sp>
        <p:nvSpPr>
          <p:cNvPr id="23" name="Text 17"/>
          <p:cNvSpPr/>
          <p:nvPr/>
        </p:nvSpPr>
        <p:spPr>
          <a:xfrm>
            <a:off x="1444752" y="4535424"/>
            <a:ext cx="5715000" cy="31089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L10N property values, text server resources, date formats</a:t>
            </a:r>
            <a:endParaRPr lang="en-US" sz="1050" dirty="0"/>
          </a:p>
        </p:txBody>
      </p:sp>
      <p:sp>
        <p:nvSpPr>
          <p:cNvPr id="24" name="Shape 18"/>
          <p:cNvSpPr/>
          <p:nvPr/>
        </p:nvSpPr>
        <p:spPr>
          <a:xfrm>
            <a:off x="640080" y="5010912"/>
            <a:ext cx="6675120" cy="731520"/>
          </a:xfrm>
          <a:prstGeom prst="roundRect">
            <a:avLst>
              <a:gd name="adj" fmla="val 10000"/>
            </a:avLst>
          </a:prstGeom>
          <a:solidFill>
            <a:srgbClr val="F1F5F7"/>
          </a:solidFill>
          <a:ln w="9525">
            <a:solidFill>
              <a:srgbClr val="DDE5EA"/>
            </a:solidFill>
            <a:prstDash val="solid"/>
          </a:ln>
        </p:spPr>
      </p:sp>
      <p:sp>
        <p:nvSpPr>
          <p:cNvPr id="25" name="Shape 19"/>
          <p:cNvSpPr/>
          <p:nvPr/>
        </p:nvSpPr>
        <p:spPr>
          <a:xfrm>
            <a:off x="804672" y="5120640"/>
            <a:ext cx="512064" cy="512064"/>
          </a:xfrm>
          <a:prstGeom prst="ellipse">
            <a:avLst/>
          </a:prstGeom>
          <a:solidFill>
            <a:srgbClr val="001034"/>
          </a:solidFill>
          <a:ln w="12700">
            <a:solidFill>
              <a:srgbClr val="001034"/>
            </a:solidFill>
            <a:prstDash val="solid"/>
          </a:ln>
        </p:spPr>
      </p:sp>
      <p:pic>
        <p:nvPicPr>
          <p:cNvPr id="26" name="Image 4" descr="preencoded.png">    </p:cNvPr>
          <p:cNvPicPr>
            <a:picLocks noChangeAspect="1"/>
          </p:cNvPicPr>
          <p:nvPr/>
        </p:nvPicPr>
        <p:blipFill>
          <a:blip r:embed="rId5"/>
          <a:stretch>
            <a:fillRect/>
          </a:stretch>
        </p:blipFill>
        <p:spPr>
          <a:xfrm>
            <a:off x="927567" y="5243535"/>
            <a:ext cx="266273" cy="266273"/>
          </a:xfrm>
          <a:prstGeom prst="rect">
            <a:avLst/>
          </a:prstGeom>
        </p:spPr>
      </p:pic>
      <p:sp>
        <p:nvSpPr>
          <p:cNvPr id="27" name="Text 20"/>
          <p:cNvSpPr/>
          <p:nvPr/>
        </p:nvSpPr>
        <p:spPr>
          <a:xfrm>
            <a:off x="1444752" y="5102352"/>
            <a:ext cx="5669280" cy="256032"/>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Access rules &amp; workflows</a:t>
            </a:r>
            <a:endParaRPr lang="en-US" sz="1300" dirty="0"/>
          </a:p>
        </p:txBody>
      </p:sp>
      <p:sp>
        <p:nvSpPr>
          <p:cNvPr id="28" name="Text 21"/>
          <p:cNvSpPr/>
          <p:nvPr/>
        </p:nvSpPr>
        <p:spPr>
          <a:xfrm>
            <a:off x="1444752" y="5376672"/>
            <a:ext cx="5715000" cy="31089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Authorisation rules and workflow template PLM XML</a:t>
            </a:r>
            <a:endParaRPr lang="en-US" sz="1050" dirty="0"/>
          </a:p>
        </p:txBody>
      </p:sp>
      <p:sp>
        <p:nvSpPr>
          <p:cNvPr id="29" name="Shape 22"/>
          <p:cNvSpPr/>
          <p:nvPr/>
        </p:nvSpPr>
        <p:spPr>
          <a:xfrm>
            <a:off x="7680960" y="1645920"/>
            <a:ext cx="3867912" cy="4023360"/>
          </a:xfrm>
          <a:prstGeom prst="roundRect">
            <a:avLst>
              <a:gd name="adj" fmla="val 2128"/>
            </a:avLst>
          </a:prstGeom>
          <a:solidFill>
            <a:srgbClr val="001034"/>
          </a:solidFill>
          <a:ln/>
        </p:spPr>
      </p:sp>
      <p:sp>
        <p:nvSpPr>
          <p:cNvPr id="30" name="Text 23"/>
          <p:cNvSpPr/>
          <p:nvPr/>
        </p:nvSpPr>
        <p:spPr>
          <a:xfrm>
            <a:off x="7973568" y="1847088"/>
            <a:ext cx="3383280" cy="292608"/>
          </a:xfrm>
          <a:prstGeom prst="rect">
            <a:avLst/>
          </a:prstGeom>
          <a:noFill/>
          <a:ln/>
        </p:spPr>
        <p:txBody>
          <a:bodyPr wrap="square" lIns="0" tIns="0" rIns="0" bIns="0" rtlCol="0" anchor="ctr"/>
          <a:lstStyle/>
          <a:p>
            <a:pPr indent="0" marL="0">
              <a:buNone/>
            </a:pPr>
            <a:r>
              <a:rPr lang="en-US" sz="1500" b="1" dirty="0">
                <a:solidFill>
                  <a:srgbClr val="00E1A0"/>
                </a:solidFill>
                <a:latin typeface="Arial" pitchFamily="34" charset="0"/>
                <a:ea typeface="Arial" pitchFamily="34" charset="-122"/>
                <a:cs typeface="Arial" pitchFamily="34" charset="-120"/>
              </a:rPr>
              <a:t>What packaging guarantees</a:t>
            </a:r>
            <a:endParaRPr lang="en-US" sz="1500" dirty="0"/>
          </a:p>
        </p:txBody>
      </p:sp>
      <p:sp>
        <p:nvSpPr>
          <p:cNvPr id="31" name="Text 24"/>
          <p:cNvSpPr/>
          <p:nvPr/>
        </p:nvSpPr>
        <p:spPr>
          <a:xfrm>
            <a:off x="7973568" y="2286000"/>
            <a:ext cx="3291840" cy="3291840"/>
          </a:xfrm>
          <a:prstGeom prst="rect">
            <a:avLst/>
          </a:prstGeom>
          <a:noFill/>
          <a:ln/>
        </p:spPr>
        <p:txBody>
          <a:bodyPr wrap="square" lIns="0" tIns="0" rIns="0" bIns="0" rtlCol="0" anchor="t"/>
          <a:lstStyle/>
          <a:p>
            <a:pPr marL="342900" indent="-342900">
              <a:lnSpc>
                <a:spcPts val="1350"/>
              </a:lnSpc>
              <a:spcAft>
                <a:spcPts val="1000"/>
              </a:spcAft>
              <a:buSzPct val="100000"/>
              <a:buChar char="•"/>
            </a:pPr>
            <a:r>
              <a:rPr lang="en-US" sz="1100" dirty="0">
                <a:solidFill>
                  <a:srgbClr val="D6E2EC"/>
                </a:solidFill>
                <a:latin typeface="Calibri" pitchFamily="34" charset="0"/>
                <a:ea typeface="Calibri" pitchFamily="34" charset="-122"/>
                <a:cs typeface="Calibri" pitchFamily="34" charset="-120"/>
              </a:rPr>
              <a:t>Every XML file is schema-validated before it can enter the package</a:t>
            </a:r>
            <a:endParaRPr lang="en-US" sz="1100" dirty="0"/>
          </a:p>
          <a:p>
            <a:pPr marL="342900" indent="-342900">
              <a:lnSpc>
                <a:spcPts val="1350"/>
              </a:lnSpc>
              <a:spcAft>
                <a:spcPts val="1000"/>
              </a:spcAft>
              <a:buSzPct val="100000"/>
              <a:buChar char="•"/>
            </a:pPr>
            <a:r>
              <a:rPr lang="en-US" sz="1100" dirty="0">
                <a:solidFill>
                  <a:srgbClr val="D6E2EC"/>
                </a:solidFill>
                <a:latin typeface="Calibri" pitchFamily="34" charset="0"/>
                <a:ea typeface="Calibri" pitchFamily="34" charset="-122"/>
                <a:cs typeface="Calibri" pitchFamily="34" charset="-120"/>
              </a:rPr>
              <a:t>BMIDE component revisions derived from git commit history, so an already-installed component is skipped</a:t>
            </a:r>
            <a:endParaRPr lang="en-US" sz="1100" dirty="0"/>
          </a:p>
          <a:p>
            <a:pPr marL="342900" indent="-342900">
              <a:lnSpc>
                <a:spcPts val="1350"/>
              </a:lnSpc>
              <a:spcAft>
                <a:spcPts val="1000"/>
              </a:spcAft>
              <a:buSzPct val="100000"/>
              <a:buChar char="•"/>
            </a:pPr>
            <a:r>
              <a:rPr lang="en-US" sz="1100" dirty="0">
                <a:solidFill>
                  <a:srgbClr val="D6E2EC"/>
                </a:solidFill>
                <a:latin typeface="Calibri" pitchFamily="34" charset="0"/>
                <a:ea typeface="Calibri" pitchFamily="34" charset="-122"/>
                <a:cs typeface="Calibri" pitchFamily="34" charset="-120"/>
              </a:rPr>
              <a:t>Output is a single fingerprinted R.&lt;name&gt;.zip archived by Jenkins</a:t>
            </a:r>
            <a:endParaRPr lang="en-US" sz="1100" dirty="0"/>
          </a:p>
          <a:p>
            <a:pPr marL="342900" indent="-342900">
              <a:lnSpc>
                <a:spcPts val="1350"/>
              </a:lnSpc>
              <a:spcAft>
                <a:spcPts val="1000"/>
              </a:spcAft>
              <a:buSzPct val="100000"/>
              <a:buChar char="•"/>
            </a:pPr>
            <a:r>
              <a:rPr lang="en-US" sz="1100" dirty="0">
                <a:solidFill>
                  <a:srgbClr val="D6E2EC"/>
                </a:solidFill>
                <a:latin typeface="Calibri" pitchFamily="34" charset="0"/>
                <a:ea typeface="Calibri" pitchFamily="34" charset="-122"/>
                <a:cs typeface="Calibri" pitchFamily="34" charset="-120"/>
              </a:rPr>
              <a:t>Optional publish to an artefact repository — no hardcoded internal URL</a:t>
            </a:r>
            <a:endParaRPr lang="en-US" sz="1100" dirty="0"/>
          </a:p>
          <a:p>
            <a:pPr marL="342900" indent="-342900">
              <a:lnSpc>
                <a:spcPts val="1350"/>
              </a:lnSpc>
              <a:spcAft>
                <a:spcPts val="1000"/>
              </a:spcAft>
              <a:buSzPct val="100000"/>
              <a:buChar char="•"/>
            </a:pPr>
            <a:r>
              <a:rPr lang="en-US" sz="1100" dirty="0">
                <a:solidFill>
                  <a:srgbClr val="D6E2EC"/>
                </a:solidFill>
                <a:latin typeface="Calibri" pitchFamily="34" charset="0"/>
                <a:ea typeface="Calibri" pitchFamily="34" charset="-122"/>
                <a:cs typeface="Calibri" pitchFamily="34" charset="-120"/>
              </a:rPr>
              <a:t>Any release is reproducible from its commit id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PIPELINE · DEPLOY STAGE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The deploy engine: 18 named operations, two phases</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Each operation is a thin, documented wrapper around a real Teamcenter 2606 command-line utility. Run one, a range, a phase, or everything.</a:t>
            </a:r>
            <a:endParaRPr lang="en-US" sz="1350" dirty="0"/>
          </a:p>
        </p:txBody>
      </p:sp>
      <p:sp>
        <p:nvSpPr>
          <p:cNvPr id="5" name="Shape 3"/>
          <p:cNvSpPr/>
          <p:nvPr/>
        </p:nvSpPr>
        <p:spPr>
          <a:xfrm>
            <a:off x="640080" y="1783080"/>
            <a:ext cx="5120640" cy="3977640"/>
          </a:xfrm>
          <a:prstGeom prst="roundRect">
            <a:avLst>
              <a:gd name="adj" fmla="val 2069"/>
            </a:avLst>
          </a:prstGeom>
          <a:solidFill>
            <a:srgbClr val="F0FBF7"/>
          </a:solidFill>
          <a:ln w="13970">
            <a:solidFill>
              <a:srgbClr val="00E1A0"/>
            </a:solidFill>
            <a:prstDash val="solid"/>
          </a:ln>
        </p:spPr>
      </p:sp>
      <p:sp>
        <p:nvSpPr>
          <p:cNvPr id="6" name="Text 4"/>
          <p:cNvSpPr/>
          <p:nvPr/>
        </p:nvSpPr>
        <p:spPr>
          <a:xfrm>
            <a:off x="914400" y="1956816"/>
            <a:ext cx="2743200" cy="292608"/>
          </a:xfrm>
          <a:prstGeom prst="rect">
            <a:avLst/>
          </a:prstGeom>
          <a:noFill/>
          <a:ln/>
        </p:spPr>
        <p:txBody>
          <a:bodyPr wrap="square" lIns="0" tIns="0" rIns="0" bIns="0" rtlCol="0" anchor="ctr"/>
          <a:lstStyle/>
          <a:p>
            <a:pPr indent="0" marL="0">
              <a:buNone/>
            </a:pPr>
            <a:r>
              <a:rPr lang="en-US" sz="1500" b="1" dirty="0">
                <a:solidFill>
                  <a:srgbClr val="007F80"/>
                </a:solidFill>
                <a:latin typeface="Arial" pitchFamily="34" charset="0"/>
                <a:ea typeface="Arial" pitchFamily="34" charset="-122"/>
                <a:cs typeface="Arial" pitchFamily="34" charset="-120"/>
              </a:rPr>
              <a:t>PRE_DEPLOY</a:t>
            </a:r>
            <a:endParaRPr lang="en-US" sz="1500" dirty="0"/>
          </a:p>
        </p:txBody>
      </p:sp>
      <p:sp>
        <p:nvSpPr>
          <p:cNvPr id="7" name="Text 5"/>
          <p:cNvSpPr/>
          <p:nvPr/>
        </p:nvSpPr>
        <p:spPr>
          <a:xfrm>
            <a:off x="4206240" y="1993392"/>
            <a:ext cx="1371600" cy="256032"/>
          </a:xfrm>
          <a:prstGeom prst="rect">
            <a:avLst/>
          </a:prstGeom>
          <a:noFill/>
          <a:ln/>
        </p:spPr>
        <p:txBody>
          <a:bodyPr wrap="square" lIns="0" tIns="0" rIns="0" bIns="0" rtlCol="0" anchor="ctr"/>
          <a:lstStyle/>
          <a:p>
            <a:pPr algn="r" indent="0" marL="0">
              <a:buNone/>
            </a:pPr>
            <a:r>
              <a:rPr lang="en-US" sz="1100" dirty="0">
                <a:solidFill>
                  <a:srgbClr val="5A6672"/>
                </a:solidFill>
                <a:latin typeface="Calibri" pitchFamily="34" charset="0"/>
                <a:ea typeface="Calibri" pitchFamily="34" charset="-122"/>
                <a:cs typeface="Calibri" pitchFamily="34" charset="-120"/>
              </a:rPr>
              <a:t>7 operations</a:t>
            </a:r>
            <a:endParaRPr lang="en-US" sz="1100" dirty="0"/>
          </a:p>
        </p:txBody>
      </p:sp>
      <p:sp>
        <p:nvSpPr>
          <p:cNvPr id="8" name="Text 6"/>
          <p:cNvSpPr/>
          <p:nvPr/>
        </p:nvSpPr>
        <p:spPr>
          <a:xfrm>
            <a:off x="914400" y="2249424"/>
            <a:ext cx="4572000" cy="256032"/>
          </a:xfrm>
          <a:prstGeom prst="rect">
            <a:avLst/>
          </a:prstGeom>
          <a:noFill/>
          <a:ln/>
        </p:spPr>
        <p:txBody>
          <a:bodyPr wrap="square" lIns="0" tIns="0" rIns="0" bIns="0" rtlCol="0" anchor="ctr"/>
          <a:lstStyle/>
          <a:p>
            <a:pPr indent="0" marL="0">
              <a:buNone/>
            </a:pPr>
            <a:r>
              <a:rPr lang="en-US" sz="1050" i="1" dirty="0">
                <a:solidFill>
                  <a:srgbClr val="5A6672"/>
                </a:solidFill>
                <a:latin typeface="Calibri" pitchFamily="34" charset="0"/>
                <a:ea typeface="Calibri" pitchFamily="34" charset="-122"/>
                <a:cs typeface="Calibri" pitchFamily="34" charset="-120"/>
              </a:rPr>
              <a:t>Data model first — everything the later config depends on</a:t>
            </a:r>
            <a:endParaRPr lang="en-US" sz="1050" dirty="0"/>
          </a:p>
        </p:txBody>
      </p:sp>
      <p:sp>
        <p:nvSpPr>
          <p:cNvPr id="9" name="Text 7"/>
          <p:cNvSpPr/>
          <p:nvPr/>
        </p:nvSpPr>
        <p:spPr>
          <a:xfrm>
            <a:off x="914400" y="2578608"/>
            <a:ext cx="4572000" cy="30175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clearlocks</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import_admin_data_package</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delete_preferences</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register_bmide_templates</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deploy_bmide_templates</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deploy_delta_update</a:t>
            </a:r>
            <a:endParaRPr lang="en-US" sz="1100" dirty="0"/>
          </a:p>
          <a:p>
            <a:pPr marL="342900" indent="-342900">
              <a:spcAft>
                <a:spcPts val="600"/>
              </a:spcAft>
              <a:buSzPct val="100000"/>
              <a:buChar char="•"/>
            </a:pPr>
            <a:r>
              <a:rPr lang="en-US" sz="1100" dirty="0">
                <a:solidFill>
                  <a:srgbClr val="12233A"/>
                </a:solidFill>
                <a:latin typeface="Courier New" pitchFamily="34" charset="0"/>
                <a:ea typeface="Courier New" pitchFamily="34" charset="-122"/>
                <a:cs typeface="Courier New" pitchFamily="34" charset="-120"/>
              </a:rPr>
              <a:t>deploy_lovs</a:t>
            </a:r>
            <a:endParaRPr lang="en-US" sz="1100" dirty="0"/>
          </a:p>
        </p:txBody>
      </p:sp>
      <p:sp>
        <p:nvSpPr>
          <p:cNvPr id="10" name="Shape 8"/>
          <p:cNvSpPr/>
          <p:nvPr/>
        </p:nvSpPr>
        <p:spPr>
          <a:xfrm>
            <a:off x="6062472" y="1783080"/>
            <a:ext cx="5486400" cy="3977640"/>
          </a:xfrm>
          <a:prstGeom prst="roundRect">
            <a:avLst>
              <a:gd name="adj" fmla="val 2069"/>
            </a:avLst>
          </a:prstGeom>
          <a:solidFill>
            <a:srgbClr val="F1F5F7"/>
          </a:solidFill>
          <a:ln w="9525">
            <a:solidFill>
              <a:srgbClr val="DDE5EA"/>
            </a:solidFill>
            <a:prstDash val="solid"/>
          </a:ln>
        </p:spPr>
      </p:sp>
      <p:sp>
        <p:nvSpPr>
          <p:cNvPr id="11" name="Text 9"/>
          <p:cNvSpPr/>
          <p:nvPr/>
        </p:nvSpPr>
        <p:spPr>
          <a:xfrm>
            <a:off x="6336792" y="1956816"/>
            <a:ext cx="2743200" cy="292608"/>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POST_DEPLOY</a:t>
            </a:r>
            <a:endParaRPr lang="en-US" sz="1500" dirty="0"/>
          </a:p>
        </p:txBody>
      </p:sp>
      <p:sp>
        <p:nvSpPr>
          <p:cNvPr id="12" name="Text 10"/>
          <p:cNvSpPr/>
          <p:nvPr/>
        </p:nvSpPr>
        <p:spPr>
          <a:xfrm>
            <a:off x="9966960" y="1993392"/>
            <a:ext cx="1371600" cy="256032"/>
          </a:xfrm>
          <a:prstGeom prst="rect">
            <a:avLst/>
          </a:prstGeom>
          <a:noFill/>
          <a:ln/>
        </p:spPr>
        <p:txBody>
          <a:bodyPr wrap="square" lIns="0" tIns="0" rIns="0" bIns="0" rtlCol="0" anchor="ctr"/>
          <a:lstStyle/>
          <a:p>
            <a:pPr algn="r" indent="0" marL="0">
              <a:buNone/>
            </a:pPr>
            <a:r>
              <a:rPr lang="en-US" sz="1100" dirty="0">
                <a:solidFill>
                  <a:srgbClr val="5A6672"/>
                </a:solidFill>
                <a:latin typeface="Calibri" pitchFamily="34" charset="0"/>
                <a:ea typeface="Calibri" pitchFamily="34" charset="-122"/>
                <a:cs typeface="Calibri" pitchFamily="34" charset="-120"/>
              </a:rPr>
              <a:t>11 operations</a:t>
            </a:r>
            <a:endParaRPr lang="en-US" sz="1100" dirty="0"/>
          </a:p>
        </p:txBody>
      </p:sp>
      <p:sp>
        <p:nvSpPr>
          <p:cNvPr id="13" name="Text 11"/>
          <p:cNvSpPr/>
          <p:nvPr/>
        </p:nvSpPr>
        <p:spPr>
          <a:xfrm>
            <a:off x="6336792" y="2249424"/>
            <a:ext cx="4937760" cy="256032"/>
          </a:xfrm>
          <a:prstGeom prst="rect">
            <a:avLst/>
          </a:prstGeom>
          <a:noFill/>
          <a:ln/>
        </p:spPr>
        <p:txBody>
          <a:bodyPr wrap="square" lIns="0" tIns="0" rIns="0" bIns="0" rtlCol="0" anchor="ctr"/>
          <a:lstStyle/>
          <a:p>
            <a:pPr indent="0" marL="0">
              <a:buNone/>
            </a:pPr>
            <a:r>
              <a:rPr lang="en-US" sz="1050" i="1" dirty="0">
                <a:solidFill>
                  <a:srgbClr val="5A6672"/>
                </a:solidFill>
                <a:latin typeface="Calibri" pitchFamily="34" charset="0"/>
                <a:ea typeface="Calibri" pitchFamily="34" charset="-122"/>
                <a:cs typeface="Calibri" pitchFamily="34" charset="-120"/>
              </a:rPr>
              <a:t>Configuration that references the new types, LOVs and rules</a:t>
            </a:r>
            <a:endParaRPr lang="en-US" sz="1050" dirty="0"/>
          </a:p>
        </p:txBody>
      </p:sp>
      <p:sp>
        <p:nvSpPr>
          <p:cNvPr id="14" name="Text 12"/>
          <p:cNvSpPr/>
          <p:nvPr/>
        </p:nvSpPr>
        <p:spPr>
          <a:xfrm>
            <a:off x="6336792" y="2578608"/>
            <a:ext cx="4937760" cy="3063240"/>
          </a:xfrm>
          <a:prstGeom prst="rect">
            <a:avLst/>
          </a:prstGeom>
          <a:noFill/>
          <a:ln/>
        </p:spPr>
        <p:txBody>
          <a:bodyPr wrap="square" lIns="0" tIns="0" rIns="0" bIns="0" rtlCol="0" anchor="t"/>
          <a:lstStyle/>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import_preferences</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merge_preferences</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import_saved_queries</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refresh_stylesheet_cache</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import_l10n_localization</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copy_lang_textserver</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copy_lang_date_format</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install_authorization_rules</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import_workflow_templates</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import_uiconfig</a:t>
            </a:r>
            <a:endParaRPr lang="en-US" sz="1100" dirty="0"/>
          </a:p>
          <a:p>
            <a:pPr marL="342900" indent="-342900">
              <a:spcAft>
                <a:spcPts val="350"/>
              </a:spcAft>
              <a:buSzPct val="100000"/>
              <a:buChar char="•"/>
            </a:pPr>
            <a:r>
              <a:rPr lang="en-US" sz="1100" dirty="0">
                <a:solidFill>
                  <a:srgbClr val="12233A"/>
                </a:solidFill>
                <a:latin typeface="Courier New" pitchFamily="34" charset="0"/>
                <a:ea typeface="Courier New" pitchFamily="34" charset="-122"/>
                <a:cs typeface="Courier New" pitchFamily="34" charset="-120"/>
              </a:rPr>
              <a:t>update_version_preference</a:t>
            </a:r>
            <a:endParaRPr lang="en-US" sz="1100" dirty="0"/>
          </a:p>
        </p:txBody>
      </p:sp>
      <p:sp>
        <p:nvSpPr>
          <p:cNvPr id="15" name="Text 13"/>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A unit test asserts the two phases are total and disjoint on every CI run, so --phase=all can never silently skip an operation.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ENGINEERING QUALITY</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Hardened by design, not by convention</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 pipeline was rebuilt after a review of an older Teamcenter deploy pipeline. Each finding became a design rule.</a:t>
            </a:r>
            <a:endParaRPr lang="en-US" sz="1400" dirty="0"/>
          </a:p>
        </p:txBody>
      </p:sp>
      <p:sp>
        <p:nvSpPr>
          <p:cNvPr id="5" name="Text 3"/>
          <p:cNvSpPr/>
          <p:nvPr/>
        </p:nvSpPr>
        <p:spPr>
          <a:xfrm>
            <a:off x="777240" y="1783080"/>
            <a:ext cx="4937760" cy="274320"/>
          </a:xfrm>
          <a:prstGeom prst="rect">
            <a:avLst/>
          </a:prstGeom>
          <a:noFill/>
          <a:ln/>
        </p:spPr>
        <p:txBody>
          <a:bodyPr wrap="square" lIns="0" tIns="0" rIns="0" bIns="0" rtlCol="0" anchor="ctr"/>
          <a:lstStyle/>
          <a:p>
            <a:pPr indent="0" marL="0">
              <a:buNone/>
            </a:pPr>
            <a:r>
              <a:rPr lang="en-US" sz="1200" b="1" dirty="0">
                <a:solidFill>
                  <a:srgbClr val="B23A48"/>
                </a:solidFill>
                <a:latin typeface="Arial" pitchFamily="34" charset="0"/>
                <a:ea typeface="Arial" pitchFamily="34" charset="-122"/>
                <a:cs typeface="Arial" pitchFamily="34" charset="-120"/>
              </a:rPr>
              <a:t>Previous-generation pipeline</a:t>
            </a:r>
            <a:endParaRPr lang="en-US" sz="1200" dirty="0"/>
          </a:p>
        </p:txBody>
      </p:sp>
      <p:sp>
        <p:nvSpPr>
          <p:cNvPr id="6" name="Text 4"/>
          <p:cNvSpPr/>
          <p:nvPr/>
        </p:nvSpPr>
        <p:spPr>
          <a:xfrm>
            <a:off x="6446520" y="1783080"/>
            <a:ext cx="4937760" cy="274320"/>
          </a:xfrm>
          <a:prstGeom prst="rect">
            <a:avLst/>
          </a:prstGeom>
          <a:noFill/>
          <a:ln/>
        </p:spPr>
        <p:txBody>
          <a:bodyPr wrap="square" lIns="0" tIns="0" rIns="0" bIns="0" rtlCol="0" anchor="ctr"/>
          <a:lstStyle/>
          <a:p>
            <a:pPr indent="0" marL="0">
              <a:buNone/>
            </a:pPr>
            <a:r>
              <a:rPr lang="en-US" sz="1200" b="1" dirty="0">
                <a:solidFill>
                  <a:srgbClr val="007F80"/>
                </a:solidFill>
                <a:latin typeface="Arial" pitchFamily="34" charset="0"/>
                <a:ea typeface="Arial" pitchFamily="34" charset="-122"/>
                <a:cs typeface="Arial" pitchFamily="34" charset="-120"/>
              </a:rPr>
              <a:t>This implementation</a:t>
            </a:r>
            <a:endParaRPr lang="en-US" sz="1200" dirty="0"/>
          </a:p>
        </p:txBody>
      </p:sp>
      <p:sp>
        <p:nvSpPr>
          <p:cNvPr id="7" name="Shape 5"/>
          <p:cNvSpPr/>
          <p:nvPr/>
        </p:nvSpPr>
        <p:spPr>
          <a:xfrm>
            <a:off x="640080" y="2148840"/>
            <a:ext cx="5440680" cy="713232"/>
          </a:xfrm>
          <a:prstGeom prst="roundRect">
            <a:avLst>
              <a:gd name="adj" fmla="val 8974"/>
            </a:avLst>
          </a:prstGeom>
          <a:solidFill>
            <a:srgbClr val="FBF2F3"/>
          </a:solidFill>
          <a:ln w="9525">
            <a:solidFill>
              <a:srgbClr val="F0DADD"/>
            </a:solidFill>
            <a:prstDash val="solid"/>
          </a:ln>
        </p:spPr>
      </p:sp>
      <p:sp>
        <p:nvSpPr>
          <p:cNvPr id="8" name="Text 6"/>
          <p:cNvSpPr/>
          <p:nvPr/>
        </p:nvSpPr>
        <p:spPr>
          <a:xfrm>
            <a:off x="822960" y="2148840"/>
            <a:ext cx="5074920" cy="713232"/>
          </a:xfrm>
          <a:prstGeom prst="rect">
            <a:avLst/>
          </a:prstGeom>
          <a:noFill/>
          <a:ln/>
        </p:spPr>
        <p:txBody>
          <a:bodyPr wrap="square" lIns="0" tIns="0" rIns="0" bIns="0" rtlCol="0" anchor="ctr"/>
          <a:lstStyle/>
          <a:p>
            <a:pPr indent="0" marL="0">
              <a:lnSpc>
                <a:spcPts val="1300"/>
              </a:lnSpc>
              <a:buNone/>
            </a:pPr>
            <a:r>
              <a:rPr lang="en-US" sz="1050" dirty="0">
                <a:solidFill>
                  <a:srgbClr val="6B3038"/>
                </a:solidFill>
                <a:latin typeface="Calibri" pitchFamily="34" charset="0"/>
                <a:ea typeface="Calibri" pitchFamily="34" charset="-122"/>
                <a:cs typeface="Calibri" pitchFamily="34" charset="-120"/>
              </a:rPr>
              <a:t>Passwords on the utility command line, visible to any user running ps</a:t>
            </a:r>
            <a:endParaRPr lang="en-US" sz="1050" dirty="0"/>
          </a:p>
        </p:txBody>
      </p:sp>
      <p:sp>
        <p:nvSpPr>
          <p:cNvPr id="9" name="Shape 7"/>
          <p:cNvSpPr/>
          <p:nvPr/>
        </p:nvSpPr>
        <p:spPr>
          <a:xfrm>
            <a:off x="6309360" y="2148840"/>
            <a:ext cx="5239512" cy="713232"/>
          </a:xfrm>
          <a:prstGeom prst="roundRect">
            <a:avLst>
              <a:gd name="adj" fmla="val 8974"/>
            </a:avLst>
          </a:prstGeom>
          <a:solidFill>
            <a:srgbClr val="F0FBF7"/>
          </a:solidFill>
          <a:ln w="9525">
            <a:solidFill>
              <a:srgbClr val="BFE9DA"/>
            </a:solidFill>
            <a:prstDash val="solid"/>
          </a:ln>
        </p:spPr>
      </p:sp>
      <p:sp>
        <p:nvSpPr>
          <p:cNvPr id="10" name="Text 8"/>
          <p:cNvSpPr/>
          <p:nvPr/>
        </p:nvSpPr>
        <p:spPr>
          <a:xfrm>
            <a:off x="6492240" y="2148840"/>
            <a:ext cx="4892040" cy="713232"/>
          </a:xfrm>
          <a:prstGeom prst="rect">
            <a:avLst/>
          </a:prstGeom>
          <a:noFill/>
          <a:ln/>
        </p:spPr>
        <p:txBody>
          <a:bodyPr wrap="square" lIns="0" tIns="0" rIns="0" bIns="0" rtlCol="0" anchor="ctr"/>
          <a:lstStyle/>
          <a:p>
            <a:pPr indent="0" marL="0">
              <a:lnSpc>
                <a:spcPts val="1300"/>
              </a:lnSpc>
              <a:buNone/>
            </a:pPr>
            <a:r>
              <a:rPr lang="en-US" sz="1050" dirty="0">
                <a:solidFill>
                  <a:srgbClr val="14544C"/>
                </a:solidFill>
                <a:latin typeface="Calibri" pitchFamily="34" charset="0"/>
                <a:ea typeface="Calibri" pitchFamily="34" charset="-122"/>
                <a:cs typeface="Calibri" pitchFamily="34" charset="-120"/>
              </a:rPr>
              <a:t>Encrypted password files via the utility's own documented mechanism, chmod-400, shredded after use</a:t>
            </a:r>
            <a:endParaRPr lang="en-US" sz="1050" dirty="0"/>
          </a:p>
        </p:txBody>
      </p:sp>
      <p:sp>
        <p:nvSpPr>
          <p:cNvPr id="11" name="Shape 9"/>
          <p:cNvSpPr/>
          <p:nvPr/>
        </p:nvSpPr>
        <p:spPr>
          <a:xfrm>
            <a:off x="640080" y="2953512"/>
            <a:ext cx="5440680" cy="713232"/>
          </a:xfrm>
          <a:prstGeom prst="roundRect">
            <a:avLst>
              <a:gd name="adj" fmla="val 8974"/>
            </a:avLst>
          </a:prstGeom>
          <a:solidFill>
            <a:srgbClr val="FBF2F3"/>
          </a:solidFill>
          <a:ln w="9525">
            <a:solidFill>
              <a:srgbClr val="F0DADD"/>
            </a:solidFill>
            <a:prstDash val="solid"/>
          </a:ln>
        </p:spPr>
      </p:sp>
      <p:sp>
        <p:nvSpPr>
          <p:cNvPr id="12" name="Text 10"/>
          <p:cNvSpPr/>
          <p:nvPr/>
        </p:nvSpPr>
        <p:spPr>
          <a:xfrm>
            <a:off x="822960" y="2953512"/>
            <a:ext cx="5074920" cy="713232"/>
          </a:xfrm>
          <a:prstGeom prst="rect">
            <a:avLst/>
          </a:prstGeom>
          <a:noFill/>
          <a:ln/>
        </p:spPr>
        <p:txBody>
          <a:bodyPr wrap="square" lIns="0" tIns="0" rIns="0" bIns="0" rtlCol="0" anchor="ctr"/>
          <a:lstStyle/>
          <a:p>
            <a:pPr indent="0" marL="0">
              <a:lnSpc>
                <a:spcPts val="1300"/>
              </a:lnSpc>
              <a:buNone/>
            </a:pPr>
            <a:r>
              <a:rPr lang="en-US" sz="1050" dirty="0">
                <a:solidFill>
                  <a:srgbClr val="6B3038"/>
                </a:solidFill>
                <a:latin typeface="Calibri" pitchFamily="34" charset="0"/>
                <a:ea typeface="Calibri" pitchFamily="34" charset="-122"/>
                <a:cs typeface="Calibri" pitchFamily="34" charset="-120"/>
              </a:rPr>
              <a:t>Free-text Jenkins parameter interpolated straight into a shell command</a:t>
            </a:r>
            <a:endParaRPr lang="en-US" sz="1050" dirty="0"/>
          </a:p>
        </p:txBody>
      </p:sp>
      <p:sp>
        <p:nvSpPr>
          <p:cNvPr id="13" name="Shape 11"/>
          <p:cNvSpPr/>
          <p:nvPr/>
        </p:nvSpPr>
        <p:spPr>
          <a:xfrm>
            <a:off x="6309360" y="2953512"/>
            <a:ext cx="5239512" cy="713232"/>
          </a:xfrm>
          <a:prstGeom prst="roundRect">
            <a:avLst>
              <a:gd name="adj" fmla="val 8974"/>
            </a:avLst>
          </a:prstGeom>
          <a:solidFill>
            <a:srgbClr val="F0FBF7"/>
          </a:solidFill>
          <a:ln w="9525">
            <a:solidFill>
              <a:srgbClr val="BFE9DA"/>
            </a:solidFill>
            <a:prstDash val="solid"/>
          </a:ln>
        </p:spPr>
      </p:sp>
      <p:sp>
        <p:nvSpPr>
          <p:cNvPr id="14" name="Text 12"/>
          <p:cNvSpPr/>
          <p:nvPr/>
        </p:nvSpPr>
        <p:spPr>
          <a:xfrm>
            <a:off x="6492240" y="2953512"/>
            <a:ext cx="4892040" cy="713232"/>
          </a:xfrm>
          <a:prstGeom prst="rect">
            <a:avLst/>
          </a:prstGeom>
          <a:noFill/>
          <a:ln/>
        </p:spPr>
        <p:txBody>
          <a:bodyPr wrap="square" lIns="0" tIns="0" rIns="0" bIns="0" rtlCol="0" anchor="ctr"/>
          <a:lstStyle/>
          <a:p>
            <a:pPr indent="0" marL="0">
              <a:lnSpc>
                <a:spcPts val="1300"/>
              </a:lnSpc>
              <a:buNone/>
            </a:pPr>
            <a:r>
              <a:rPr lang="en-US" sz="1050" dirty="0">
                <a:solidFill>
                  <a:srgbClr val="14544C"/>
                </a:solidFill>
                <a:latin typeface="Calibri" pitchFamily="34" charset="0"/>
                <a:ea typeface="Calibri" pitchFamily="34" charset="-122"/>
                <a:cs typeface="Calibri" pitchFamily="34" charset="-120"/>
              </a:rPr>
              <a:t>Operation list regex-validated in Jenkins, then re-validated against the real operation table</a:t>
            </a:r>
            <a:endParaRPr lang="en-US" sz="1050" dirty="0"/>
          </a:p>
        </p:txBody>
      </p:sp>
      <p:sp>
        <p:nvSpPr>
          <p:cNvPr id="15" name="Shape 13"/>
          <p:cNvSpPr/>
          <p:nvPr/>
        </p:nvSpPr>
        <p:spPr>
          <a:xfrm>
            <a:off x="640080" y="3758184"/>
            <a:ext cx="5440680" cy="713232"/>
          </a:xfrm>
          <a:prstGeom prst="roundRect">
            <a:avLst>
              <a:gd name="adj" fmla="val 8974"/>
            </a:avLst>
          </a:prstGeom>
          <a:solidFill>
            <a:srgbClr val="FBF2F3"/>
          </a:solidFill>
          <a:ln w="9525">
            <a:solidFill>
              <a:srgbClr val="F0DADD"/>
            </a:solidFill>
            <a:prstDash val="solid"/>
          </a:ln>
        </p:spPr>
      </p:sp>
      <p:sp>
        <p:nvSpPr>
          <p:cNvPr id="16" name="Text 14"/>
          <p:cNvSpPr/>
          <p:nvPr/>
        </p:nvSpPr>
        <p:spPr>
          <a:xfrm>
            <a:off x="822960" y="3758184"/>
            <a:ext cx="5074920" cy="713232"/>
          </a:xfrm>
          <a:prstGeom prst="rect">
            <a:avLst/>
          </a:prstGeom>
          <a:noFill/>
          <a:ln/>
        </p:spPr>
        <p:txBody>
          <a:bodyPr wrap="square" lIns="0" tIns="0" rIns="0" bIns="0" rtlCol="0" anchor="ctr"/>
          <a:lstStyle/>
          <a:p>
            <a:pPr indent="0" marL="0">
              <a:lnSpc>
                <a:spcPts val="1300"/>
              </a:lnSpc>
              <a:buNone/>
            </a:pPr>
            <a:r>
              <a:rPr lang="en-US" sz="1050" dirty="0">
                <a:solidFill>
                  <a:srgbClr val="6B3038"/>
                </a:solidFill>
                <a:latin typeface="Calibri" pitchFamily="34" charset="0"/>
                <a:ea typeface="Calibri" pitchFamily="34" charset="-122"/>
                <a:cs typeface="Calibri" pitchFamily="34" charset="-120"/>
              </a:rPr>
              <a:t>Unsandboxed Groovy and TLS verification disabled on outbound calls</a:t>
            </a:r>
            <a:endParaRPr lang="en-US" sz="1050" dirty="0"/>
          </a:p>
        </p:txBody>
      </p:sp>
      <p:sp>
        <p:nvSpPr>
          <p:cNvPr id="17" name="Shape 15"/>
          <p:cNvSpPr/>
          <p:nvPr/>
        </p:nvSpPr>
        <p:spPr>
          <a:xfrm>
            <a:off x="6309360" y="3758184"/>
            <a:ext cx="5239512" cy="713232"/>
          </a:xfrm>
          <a:prstGeom prst="roundRect">
            <a:avLst>
              <a:gd name="adj" fmla="val 8974"/>
            </a:avLst>
          </a:prstGeom>
          <a:solidFill>
            <a:srgbClr val="F0FBF7"/>
          </a:solidFill>
          <a:ln w="9525">
            <a:solidFill>
              <a:srgbClr val="BFE9DA"/>
            </a:solidFill>
            <a:prstDash val="solid"/>
          </a:ln>
        </p:spPr>
      </p:sp>
      <p:sp>
        <p:nvSpPr>
          <p:cNvPr id="18" name="Text 16"/>
          <p:cNvSpPr/>
          <p:nvPr/>
        </p:nvSpPr>
        <p:spPr>
          <a:xfrm>
            <a:off x="6492240" y="3758184"/>
            <a:ext cx="4892040" cy="713232"/>
          </a:xfrm>
          <a:prstGeom prst="rect">
            <a:avLst/>
          </a:prstGeom>
          <a:noFill/>
          <a:ln/>
        </p:spPr>
        <p:txBody>
          <a:bodyPr wrap="square" lIns="0" tIns="0" rIns="0" bIns="0" rtlCol="0" anchor="ctr"/>
          <a:lstStyle/>
          <a:p>
            <a:pPr indent="0" marL="0">
              <a:lnSpc>
                <a:spcPts val="1300"/>
              </a:lnSpc>
              <a:buNone/>
            </a:pPr>
            <a:r>
              <a:rPr lang="en-US" sz="1050" dirty="0">
                <a:solidFill>
                  <a:srgbClr val="14544C"/>
                </a:solidFill>
                <a:latin typeface="Calibri" pitchFamily="34" charset="0"/>
                <a:ea typeface="Calibri" pitchFamily="34" charset="-122"/>
                <a:cs typeface="Calibri" pitchFamily="34" charset="-120"/>
              </a:rPr>
              <a:t>No unsandboxed Groovy, no disabled TLS verification anywhere in the repo</a:t>
            </a:r>
            <a:endParaRPr lang="en-US" sz="1050" dirty="0"/>
          </a:p>
        </p:txBody>
      </p:sp>
      <p:sp>
        <p:nvSpPr>
          <p:cNvPr id="19" name="Shape 17"/>
          <p:cNvSpPr/>
          <p:nvPr/>
        </p:nvSpPr>
        <p:spPr>
          <a:xfrm>
            <a:off x="640080" y="4562856"/>
            <a:ext cx="5440680" cy="713232"/>
          </a:xfrm>
          <a:prstGeom prst="roundRect">
            <a:avLst>
              <a:gd name="adj" fmla="val 8974"/>
            </a:avLst>
          </a:prstGeom>
          <a:solidFill>
            <a:srgbClr val="FBF2F3"/>
          </a:solidFill>
          <a:ln w="9525">
            <a:solidFill>
              <a:srgbClr val="F0DADD"/>
            </a:solidFill>
            <a:prstDash val="solid"/>
          </a:ln>
        </p:spPr>
      </p:sp>
      <p:sp>
        <p:nvSpPr>
          <p:cNvPr id="20" name="Text 18"/>
          <p:cNvSpPr/>
          <p:nvPr/>
        </p:nvSpPr>
        <p:spPr>
          <a:xfrm>
            <a:off x="822960" y="4562856"/>
            <a:ext cx="5074920" cy="713232"/>
          </a:xfrm>
          <a:prstGeom prst="rect">
            <a:avLst/>
          </a:prstGeom>
          <a:noFill/>
          <a:ln/>
        </p:spPr>
        <p:txBody>
          <a:bodyPr wrap="square" lIns="0" tIns="0" rIns="0" bIns="0" rtlCol="0" anchor="ctr"/>
          <a:lstStyle/>
          <a:p>
            <a:pPr indent="0" marL="0">
              <a:lnSpc>
                <a:spcPts val="1300"/>
              </a:lnSpc>
              <a:buNone/>
            </a:pPr>
            <a:r>
              <a:rPr lang="en-US" sz="1050" dirty="0">
                <a:solidFill>
                  <a:srgbClr val="6B3038"/>
                </a:solidFill>
                <a:latin typeface="Calibri" pitchFamily="34" charset="0"/>
                <a:ea typeface="Calibri" pitchFamily="34" charset="-122"/>
                <a:cs typeface="Calibri" pitchFamily="34" charset="-120"/>
              </a:rPr>
              <a:t>Deploy logic in Perl calling utilities through string interpolation</a:t>
            </a:r>
            <a:endParaRPr lang="en-US" sz="1050" dirty="0"/>
          </a:p>
        </p:txBody>
      </p:sp>
      <p:sp>
        <p:nvSpPr>
          <p:cNvPr id="21" name="Shape 19"/>
          <p:cNvSpPr/>
          <p:nvPr/>
        </p:nvSpPr>
        <p:spPr>
          <a:xfrm>
            <a:off x="6309360" y="4562856"/>
            <a:ext cx="5239512" cy="713232"/>
          </a:xfrm>
          <a:prstGeom prst="roundRect">
            <a:avLst>
              <a:gd name="adj" fmla="val 8974"/>
            </a:avLst>
          </a:prstGeom>
          <a:solidFill>
            <a:srgbClr val="F0FBF7"/>
          </a:solidFill>
          <a:ln w="9525">
            <a:solidFill>
              <a:srgbClr val="BFE9DA"/>
            </a:solidFill>
            <a:prstDash val="solid"/>
          </a:ln>
        </p:spPr>
      </p:sp>
      <p:sp>
        <p:nvSpPr>
          <p:cNvPr id="22" name="Text 20"/>
          <p:cNvSpPr/>
          <p:nvPr/>
        </p:nvSpPr>
        <p:spPr>
          <a:xfrm>
            <a:off x="6492240" y="4562856"/>
            <a:ext cx="4892040" cy="713232"/>
          </a:xfrm>
          <a:prstGeom prst="rect">
            <a:avLst/>
          </a:prstGeom>
          <a:noFill/>
          <a:ln/>
        </p:spPr>
        <p:txBody>
          <a:bodyPr wrap="square" lIns="0" tIns="0" rIns="0" bIns="0" rtlCol="0" anchor="ctr"/>
          <a:lstStyle/>
          <a:p>
            <a:pPr indent="0" marL="0">
              <a:lnSpc>
                <a:spcPts val="1300"/>
              </a:lnSpc>
              <a:buNone/>
            </a:pPr>
            <a:r>
              <a:rPr lang="en-US" sz="1050" dirty="0">
                <a:solidFill>
                  <a:srgbClr val="14544C"/>
                </a:solidFill>
                <a:latin typeface="Calibri" pitchFamily="34" charset="0"/>
                <a:ea typeface="Calibri" pitchFamily="34" charset="-122"/>
                <a:cs typeface="Calibri" pitchFamily="34" charset="-120"/>
              </a:rPr>
              <a:t>Tested Python package; every subprocess call is an argument list built from typed values</a:t>
            </a:r>
            <a:endParaRPr lang="en-US" sz="1050" dirty="0"/>
          </a:p>
        </p:txBody>
      </p:sp>
      <p:sp>
        <p:nvSpPr>
          <p:cNvPr id="23" name="Shape 21"/>
          <p:cNvSpPr/>
          <p:nvPr/>
        </p:nvSpPr>
        <p:spPr>
          <a:xfrm>
            <a:off x="640080" y="5367528"/>
            <a:ext cx="5440680" cy="713232"/>
          </a:xfrm>
          <a:prstGeom prst="roundRect">
            <a:avLst>
              <a:gd name="adj" fmla="val 8974"/>
            </a:avLst>
          </a:prstGeom>
          <a:solidFill>
            <a:srgbClr val="FBF2F3"/>
          </a:solidFill>
          <a:ln w="9525">
            <a:solidFill>
              <a:srgbClr val="F0DADD"/>
            </a:solidFill>
            <a:prstDash val="solid"/>
          </a:ln>
        </p:spPr>
      </p:sp>
      <p:sp>
        <p:nvSpPr>
          <p:cNvPr id="24" name="Text 22"/>
          <p:cNvSpPr/>
          <p:nvPr/>
        </p:nvSpPr>
        <p:spPr>
          <a:xfrm>
            <a:off x="822960" y="5367528"/>
            <a:ext cx="5074920" cy="713232"/>
          </a:xfrm>
          <a:prstGeom prst="rect">
            <a:avLst/>
          </a:prstGeom>
          <a:noFill/>
          <a:ln/>
        </p:spPr>
        <p:txBody>
          <a:bodyPr wrap="square" lIns="0" tIns="0" rIns="0" bIns="0" rtlCol="0" anchor="ctr"/>
          <a:lstStyle/>
          <a:p>
            <a:pPr indent="0" marL="0">
              <a:lnSpc>
                <a:spcPts val="1300"/>
              </a:lnSpc>
              <a:buNone/>
            </a:pPr>
            <a:r>
              <a:rPr lang="en-US" sz="1050" dirty="0">
                <a:solidFill>
                  <a:srgbClr val="6B3038"/>
                </a:solidFill>
                <a:latin typeface="Calibri" pitchFamily="34" charset="0"/>
                <a:ea typeface="Calibri" pitchFamily="34" charset="-122"/>
                <a:cs typeface="Calibri" pitchFamily="34" charset="-120"/>
              </a:rPr>
              <a:t>No CI check on the pipelines themselves — a broken Jenkinsfile reached the branch</a:t>
            </a:r>
            <a:endParaRPr lang="en-US" sz="1050" dirty="0"/>
          </a:p>
        </p:txBody>
      </p:sp>
      <p:sp>
        <p:nvSpPr>
          <p:cNvPr id="25" name="Shape 23"/>
          <p:cNvSpPr/>
          <p:nvPr/>
        </p:nvSpPr>
        <p:spPr>
          <a:xfrm>
            <a:off x="6309360" y="5367528"/>
            <a:ext cx="5239512" cy="713232"/>
          </a:xfrm>
          <a:prstGeom prst="roundRect">
            <a:avLst>
              <a:gd name="adj" fmla="val 8974"/>
            </a:avLst>
          </a:prstGeom>
          <a:solidFill>
            <a:srgbClr val="F0FBF7"/>
          </a:solidFill>
          <a:ln w="9525">
            <a:solidFill>
              <a:srgbClr val="BFE9DA"/>
            </a:solidFill>
            <a:prstDash val="solid"/>
          </a:ln>
        </p:spPr>
      </p:sp>
      <p:sp>
        <p:nvSpPr>
          <p:cNvPr id="26" name="Text 24"/>
          <p:cNvSpPr/>
          <p:nvPr/>
        </p:nvSpPr>
        <p:spPr>
          <a:xfrm>
            <a:off x="6492240" y="5367528"/>
            <a:ext cx="4892040" cy="713232"/>
          </a:xfrm>
          <a:prstGeom prst="rect">
            <a:avLst/>
          </a:prstGeom>
          <a:noFill/>
          <a:ln/>
        </p:spPr>
        <p:txBody>
          <a:bodyPr wrap="square" lIns="0" tIns="0" rIns="0" bIns="0" rtlCol="0" anchor="ctr"/>
          <a:lstStyle/>
          <a:p>
            <a:pPr indent="0" marL="0">
              <a:lnSpc>
                <a:spcPts val="1300"/>
              </a:lnSpc>
              <a:buNone/>
            </a:pPr>
            <a:r>
              <a:rPr lang="en-US" sz="1050" dirty="0">
                <a:solidFill>
                  <a:srgbClr val="14544C"/>
                </a:solidFill>
                <a:latin typeface="Calibri" pitchFamily="34" charset="0"/>
                <a:ea typeface="Calibri" pitchFamily="34" charset="-122"/>
                <a:cs typeface="Calibri" pitchFamily="34" charset="-120"/>
              </a:rPr>
              <a:t>Every Jenkinsfile linted against Jenkins' own validation endpoint on each pull request</a:t>
            </a:r>
            <a:endParaRPr lang="en-US" sz="1050" dirty="0"/>
          </a:p>
        </p:txBody>
      </p:sp>
      <p:sp>
        <p:nvSpPr>
          <p:cNvPr id="27" name="Text 25"/>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Every Teamcenter utility call is sourced in code to a specific section of the Teamcenter Utilities SV2606 manual.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Four test layers, each with a job to do</a:t>
            </a:r>
            <a:endParaRPr lang="en-US" sz="2900" dirty="0"/>
          </a:p>
        </p:txBody>
      </p:sp>
      <p:sp>
        <p:nvSpPr>
          <p:cNvPr id="4" name="Shape 2"/>
          <p:cNvSpPr/>
          <p:nvPr/>
        </p:nvSpPr>
        <p:spPr>
          <a:xfrm>
            <a:off x="2743200" y="1719072"/>
            <a:ext cx="3200400" cy="969264"/>
          </a:xfrm>
          <a:prstGeom prst="roundRect">
            <a:avLst>
              <a:gd name="adj" fmla="val 7547"/>
            </a:avLst>
          </a:prstGeom>
          <a:solidFill>
            <a:srgbClr val="001034"/>
          </a:solidFill>
          <a:ln/>
          <a:effectLst>
            <a:outerShdw sx="100000" sy="100000" kx="0" ky="0" algn="bl" rotWithShape="0" blurRad="127000" dist="25400" dir="5400000">
              <a:srgbClr val="0A1E4A">
                <a:alpha val="13000"/>
              </a:srgbClr>
            </a:outerShdw>
          </a:effectLst>
        </p:spPr>
      </p:sp>
      <p:sp>
        <p:nvSpPr>
          <p:cNvPr id="5" name="Text 3"/>
          <p:cNvSpPr/>
          <p:nvPr/>
        </p:nvSpPr>
        <p:spPr>
          <a:xfrm>
            <a:off x="2926080" y="1865376"/>
            <a:ext cx="28346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Active Workspace UI</a:t>
            </a:r>
            <a:endParaRPr lang="en-US" sz="1400" dirty="0"/>
          </a:p>
        </p:txBody>
      </p:sp>
      <p:sp>
        <p:nvSpPr>
          <p:cNvPr id="6" name="Text 4"/>
          <p:cNvSpPr/>
          <p:nvPr/>
        </p:nvSpPr>
        <p:spPr>
          <a:xfrm>
            <a:off x="2926080" y="2176272"/>
            <a:ext cx="2834640" cy="402336"/>
          </a:xfrm>
          <a:prstGeom prst="rect">
            <a:avLst/>
          </a:prstGeom>
          <a:noFill/>
          <a:ln/>
        </p:spPr>
        <p:txBody>
          <a:bodyPr wrap="square" lIns="0" tIns="0" rIns="0" bIns="0" rtlCol="0" anchor="ctr"/>
          <a:lstStyle/>
          <a:p>
            <a:pPr algn="ctr" indent="0" marL="0">
              <a:lnSpc>
                <a:spcPts val="1200"/>
              </a:lnSpc>
              <a:buNone/>
            </a:pPr>
            <a:r>
              <a:rPr lang="en-US" sz="1000" dirty="0">
                <a:solidFill>
                  <a:srgbClr val="D3E1EA"/>
                </a:solidFill>
                <a:latin typeface="Calibri" pitchFamily="34" charset="0"/>
                <a:ea typeface="Calibri" pitchFamily="34" charset="-122"/>
                <a:cs typeface="Calibri" pitchFamily="34" charset="-120"/>
              </a:rPr>
              <a:t>Gauge + Geb + Selenium — critical end-user journeys</a:t>
            </a:r>
            <a:endParaRPr lang="en-US" sz="1000" dirty="0"/>
          </a:p>
        </p:txBody>
      </p:sp>
      <p:sp>
        <p:nvSpPr>
          <p:cNvPr id="7" name="Text 5"/>
          <p:cNvSpPr/>
          <p:nvPr/>
        </p:nvSpPr>
        <p:spPr>
          <a:xfrm>
            <a:off x="8183880" y="2020824"/>
            <a:ext cx="914400" cy="36576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Layer 4</a:t>
            </a:r>
            <a:endParaRPr lang="en-US" sz="1300" dirty="0"/>
          </a:p>
        </p:txBody>
      </p:sp>
      <p:sp>
        <p:nvSpPr>
          <p:cNvPr id="8" name="Shape 6"/>
          <p:cNvSpPr/>
          <p:nvPr/>
        </p:nvSpPr>
        <p:spPr>
          <a:xfrm>
            <a:off x="2057400" y="2816352"/>
            <a:ext cx="4572000" cy="969264"/>
          </a:xfrm>
          <a:prstGeom prst="roundRect">
            <a:avLst>
              <a:gd name="adj" fmla="val 7547"/>
            </a:avLst>
          </a:prstGeom>
          <a:solidFill>
            <a:srgbClr val="0A1E4A"/>
          </a:solidFill>
          <a:ln/>
          <a:effectLst>
            <a:outerShdw sx="100000" sy="100000" kx="0" ky="0" algn="bl" rotWithShape="0" blurRad="127000" dist="25400" dir="5400000">
              <a:srgbClr val="0A1E4A">
                <a:alpha val="13000"/>
              </a:srgbClr>
            </a:outerShdw>
          </a:effectLst>
        </p:spPr>
      </p:sp>
      <p:sp>
        <p:nvSpPr>
          <p:cNvPr id="9" name="Text 7"/>
          <p:cNvSpPr/>
          <p:nvPr/>
        </p:nvSpPr>
        <p:spPr>
          <a:xfrm>
            <a:off x="2240280" y="2962656"/>
            <a:ext cx="42062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Custom gateway API</a:t>
            </a:r>
            <a:endParaRPr lang="en-US" sz="1400" dirty="0"/>
          </a:p>
        </p:txBody>
      </p:sp>
      <p:sp>
        <p:nvSpPr>
          <p:cNvPr id="10" name="Text 8"/>
          <p:cNvSpPr/>
          <p:nvPr/>
        </p:nvSpPr>
        <p:spPr>
          <a:xfrm>
            <a:off x="2240280" y="3273552"/>
            <a:ext cx="4206240" cy="402336"/>
          </a:xfrm>
          <a:prstGeom prst="rect">
            <a:avLst/>
          </a:prstGeom>
          <a:noFill/>
          <a:ln/>
        </p:spPr>
        <p:txBody>
          <a:bodyPr wrap="square" lIns="0" tIns="0" rIns="0" bIns="0" rtlCol="0" anchor="ctr"/>
          <a:lstStyle/>
          <a:p>
            <a:pPr algn="ctr" indent="0" marL="0">
              <a:lnSpc>
                <a:spcPts val="1200"/>
              </a:lnSpc>
              <a:buNone/>
            </a:pPr>
            <a:r>
              <a:rPr lang="en-US" sz="1000" dirty="0">
                <a:solidFill>
                  <a:srgbClr val="D3E1EA"/>
                </a:solidFill>
                <a:latin typeface="Calibri" pitchFamily="34" charset="0"/>
                <a:ea typeface="Calibri" pitchFamily="34" charset="-122"/>
                <a:cs typeface="Calibri" pitchFamily="34" charset="-120"/>
              </a:rPr>
              <a:t>Postman/Newman against /api/* business endpoints</a:t>
            </a:r>
            <a:endParaRPr lang="en-US" sz="1000" dirty="0"/>
          </a:p>
        </p:txBody>
      </p:sp>
      <p:sp>
        <p:nvSpPr>
          <p:cNvPr id="11" name="Text 9"/>
          <p:cNvSpPr/>
          <p:nvPr/>
        </p:nvSpPr>
        <p:spPr>
          <a:xfrm>
            <a:off x="8183880" y="3118104"/>
            <a:ext cx="914400" cy="365760"/>
          </a:xfrm>
          <a:prstGeom prst="rect">
            <a:avLst/>
          </a:prstGeom>
          <a:noFill/>
          <a:ln/>
        </p:spPr>
        <p:txBody>
          <a:bodyPr wrap="square" lIns="0" tIns="0" rIns="0" bIns="0" rtlCol="0" anchor="ctr"/>
          <a:lstStyle/>
          <a:p>
            <a:pPr indent="0" marL="0">
              <a:buNone/>
            </a:pPr>
            <a:r>
              <a:rPr lang="en-US" sz="1300" b="1" dirty="0">
                <a:solidFill>
                  <a:srgbClr val="0A1E4A"/>
                </a:solidFill>
                <a:latin typeface="Arial" pitchFamily="34" charset="0"/>
                <a:ea typeface="Arial" pitchFamily="34" charset="-122"/>
                <a:cs typeface="Arial" pitchFamily="34" charset="-120"/>
              </a:rPr>
              <a:t>Layer 3</a:t>
            </a:r>
            <a:endParaRPr lang="en-US" sz="1300" dirty="0"/>
          </a:p>
        </p:txBody>
      </p:sp>
      <p:sp>
        <p:nvSpPr>
          <p:cNvPr id="12" name="Shape 10"/>
          <p:cNvSpPr/>
          <p:nvPr/>
        </p:nvSpPr>
        <p:spPr>
          <a:xfrm>
            <a:off x="1325880" y="3913632"/>
            <a:ext cx="6035040" cy="969264"/>
          </a:xfrm>
          <a:prstGeom prst="roundRect">
            <a:avLst>
              <a:gd name="adj" fmla="val 7547"/>
            </a:avLst>
          </a:prstGeom>
          <a:solidFill>
            <a:srgbClr val="007F80"/>
          </a:solidFill>
          <a:ln/>
          <a:effectLst>
            <a:outerShdw sx="100000" sy="100000" kx="0" ky="0" algn="bl" rotWithShape="0" blurRad="127000" dist="25400" dir="5400000">
              <a:srgbClr val="0A1E4A">
                <a:alpha val="13000"/>
              </a:srgbClr>
            </a:outerShdw>
          </a:effectLst>
        </p:spPr>
      </p:sp>
      <p:sp>
        <p:nvSpPr>
          <p:cNvPr id="13" name="Text 11"/>
          <p:cNvSpPr/>
          <p:nvPr/>
        </p:nvSpPr>
        <p:spPr>
          <a:xfrm>
            <a:off x="1508760" y="4059936"/>
            <a:ext cx="566928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OOTB Teamcenter REST API</a:t>
            </a:r>
            <a:endParaRPr lang="en-US" sz="1400" dirty="0"/>
          </a:p>
        </p:txBody>
      </p:sp>
      <p:sp>
        <p:nvSpPr>
          <p:cNvPr id="14" name="Text 12"/>
          <p:cNvSpPr/>
          <p:nvPr/>
        </p:nvSpPr>
        <p:spPr>
          <a:xfrm>
            <a:off x="1508760" y="4370832"/>
            <a:ext cx="5669280" cy="402336"/>
          </a:xfrm>
          <a:prstGeom prst="rect">
            <a:avLst/>
          </a:prstGeom>
          <a:noFill/>
          <a:ln/>
        </p:spPr>
        <p:txBody>
          <a:bodyPr wrap="square" lIns="0" tIns="0" rIns="0" bIns="0" rtlCol="0" anchor="ctr"/>
          <a:lstStyle/>
          <a:p>
            <a:pPr algn="ctr" indent="0" marL="0">
              <a:lnSpc>
                <a:spcPts val="1200"/>
              </a:lnSpc>
              <a:buNone/>
            </a:pPr>
            <a:r>
              <a:rPr lang="en-US" sz="1000" dirty="0">
                <a:solidFill>
                  <a:srgbClr val="D3E1EA"/>
                </a:solidFill>
                <a:latin typeface="Calibri" pitchFamily="34" charset="0"/>
                <a:ea typeface="Calibri" pitchFamily="34" charset="-122"/>
                <a:cs typeface="Calibri" pitchFamily="34" charset="-120"/>
              </a:rPr>
              <a:t>Postman/Newman against JsonRestServices — session, items, query, BOM, workflow</a:t>
            </a:r>
            <a:endParaRPr lang="en-US" sz="1000" dirty="0"/>
          </a:p>
        </p:txBody>
      </p:sp>
      <p:sp>
        <p:nvSpPr>
          <p:cNvPr id="15" name="Text 13"/>
          <p:cNvSpPr/>
          <p:nvPr/>
        </p:nvSpPr>
        <p:spPr>
          <a:xfrm>
            <a:off x="8183880" y="4215384"/>
            <a:ext cx="914400" cy="365760"/>
          </a:xfrm>
          <a:prstGeom prst="rect">
            <a:avLst/>
          </a:prstGeom>
          <a:noFill/>
          <a:ln/>
        </p:spPr>
        <p:txBody>
          <a:bodyPr wrap="square" lIns="0" tIns="0" rIns="0" bIns="0" rtlCol="0" anchor="ctr"/>
          <a:lstStyle/>
          <a:p>
            <a:pPr indent="0" marL="0">
              <a:buNone/>
            </a:pPr>
            <a:r>
              <a:rPr lang="en-US" sz="1300" b="1" dirty="0">
                <a:solidFill>
                  <a:srgbClr val="007F80"/>
                </a:solidFill>
                <a:latin typeface="Arial" pitchFamily="34" charset="0"/>
                <a:ea typeface="Arial" pitchFamily="34" charset="-122"/>
                <a:cs typeface="Arial" pitchFamily="34" charset="-120"/>
              </a:rPr>
              <a:t>Layer 2</a:t>
            </a:r>
            <a:endParaRPr lang="en-US" sz="1300" dirty="0"/>
          </a:p>
        </p:txBody>
      </p:sp>
      <p:sp>
        <p:nvSpPr>
          <p:cNvPr id="16" name="Shape 14"/>
          <p:cNvSpPr/>
          <p:nvPr/>
        </p:nvSpPr>
        <p:spPr>
          <a:xfrm>
            <a:off x="640080" y="5010912"/>
            <a:ext cx="7406640" cy="969264"/>
          </a:xfrm>
          <a:prstGeom prst="roundRect">
            <a:avLst>
              <a:gd name="adj" fmla="val 7547"/>
            </a:avLst>
          </a:prstGeom>
          <a:solidFill>
            <a:srgbClr val="00A5A6"/>
          </a:solidFill>
          <a:ln/>
          <a:effectLst>
            <a:outerShdw sx="100000" sy="100000" kx="0" ky="0" algn="bl" rotWithShape="0" blurRad="127000" dist="25400" dir="5400000">
              <a:srgbClr val="0A1E4A">
                <a:alpha val="13000"/>
              </a:srgbClr>
            </a:outerShdw>
          </a:effectLst>
        </p:spPr>
      </p:sp>
      <p:sp>
        <p:nvSpPr>
          <p:cNvPr id="17" name="Text 15"/>
          <p:cNvSpPr/>
          <p:nvPr/>
        </p:nvSpPr>
        <p:spPr>
          <a:xfrm>
            <a:off x="822960" y="5157216"/>
            <a:ext cx="704088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Pipeline &amp; deploy-engine unit tests</a:t>
            </a:r>
            <a:endParaRPr lang="en-US" sz="1400" dirty="0"/>
          </a:p>
        </p:txBody>
      </p:sp>
      <p:sp>
        <p:nvSpPr>
          <p:cNvPr id="18" name="Text 16"/>
          <p:cNvSpPr/>
          <p:nvPr/>
        </p:nvSpPr>
        <p:spPr>
          <a:xfrm>
            <a:off x="822960" y="5468112"/>
            <a:ext cx="7040880" cy="402336"/>
          </a:xfrm>
          <a:prstGeom prst="rect">
            <a:avLst/>
          </a:prstGeom>
          <a:noFill/>
          <a:ln/>
        </p:spPr>
        <p:txBody>
          <a:bodyPr wrap="square" lIns="0" tIns="0" rIns="0" bIns="0" rtlCol="0" anchor="ctr"/>
          <a:lstStyle/>
          <a:p>
            <a:pPr algn="ctr" indent="0" marL="0">
              <a:lnSpc>
                <a:spcPts val="1200"/>
              </a:lnSpc>
              <a:buNone/>
            </a:pPr>
            <a:r>
              <a:rPr lang="en-US" sz="1000" dirty="0">
                <a:solidFill>
                  <a:srgbClr val="D3E1EA"/>
                </a:solidFill>
                <a:latin typeface="Calibri" pitchFamily="34" charset="0"/>
                <a:ea typeface="Calibri" pitchFamily="34" charset="-122"/>
                <a:cs typeface="Calibri" pitchFamily="34" charset="-120"/>
              </a:rPr>
              <a:t>pytest — operation table, config rendering, injection guards</a:t>
            </a:r>
            <a:endParaRPr lang="en-US" sz="1000" dirty="0"/>
          </a:p>
        </p:txBody>
      </p:sp>
      <p:sp>
        <p:nvSpPr>
          <p:cNvPr id="19" name="Text 17"/>
          <p:cNvSpPr/>
          <p:nvPr/>
        </p:nvSpPr>
        <p:spPr>
          <a:xfrm>
            <a:off x="8183880" y="5312664"/>
            <a:ext cx="914400" cy="365760"/>
          </a:xfrm>
          <a:prstGeom prst="rect">
            <a:avLst/>
          </a:prstGeom>
          <a:noFill/>
          <a:ln/>
        </p:spPr>
        <p:txBody>
          <a:bodyPr wrap="square" lIns="0" tIns="0" rIns="0" bIns="0" rtlCol="0" anchor="ctr"/>
          <a:lstStyle/>
          <a:p>
            <a:pPr indent="0" marL="0">
              <a:buNone/>
            </a:pPr>
            <a:r>
              <a:rPr lang="en-US" sz="1300" b="1" dirty="0">
                <a:solidFill>
                  <a:srgbClr val="00A5A6"/>
                </a:solidFill>
                <a:latin typeface="Arial" pitchFamily="34" charset="0"/>
                <a:ea typeface="Arial" pitchFamily="34" charset="-122"/>
                <a:cs typeface="Arial" pitchFamily="34" charset="-120"/>
              </a:rPr>
              <a:t>Layer 1</a:t>
            </a:r>
            <a:endParaRPr lang="en-US" sz="1300" dirty="0"/>
          </a:p>
        </p:txBody>
      </p:sp>
      <p:sp>
        <p:nvSpPr>
          <p:cNvPr id="20" name="Shape 18"/>
          <p:cNvSpPr/>
          <p:nvPr/>
        </p:nvSpPr>
        <p:spPr>
          <a:xfrm>
            <a:off x="9144000" y="1719072"/>
            <a:ext cx="2404872" cy="4041648"/>
          </a:xfrm>
          <a:prstGeom prst="roundRect">
            <a:avLst>
              <a:gd name="adj" fmla="val 3422"/>
            </a:avLst>
          </a:prstGeom>
          <a:solidFill>
            <a:srgbClr val="F1F5F7"/>
          </a:solidFill>
          <a:ln w="9525">
            <a:solidFill>
              <a:srgbClr val="DDE5EA"/>
            </a:solidFill>
            <a:prstDash val="solid"/>
          </a:ln>
        </p:spPr>
      </p:sp>
      <p:sp>
        <p:nvSpPr>
          <p:cNvPr id="21" name="Text 19"/>
          <p:cNvSpPr/>
          <p:nvPr/>
        </p:nvSpPr>
        <p:spPr>
          <a:xfrm>
            <a:off x="9372600" y="1920240"/>
            <a:ext cx="201168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Design rules</a:t>
            </a:r>
            <a:endParaRPr lang="en-US" sz="1400" dirty="0"/>
          </a:p>
        </p:txBody>
      </p:sp>
      <p:sp>
        <p:nvSpPr>
          <p:cNvPr id="22" name="Text 20"/>
          <p:cNvSpPr/>
          <p:nvPr/>
        </p:nvSpPr>
        <p:spPr>
          <a:xfrm>
            <a:off x="9372600" y="2331720"/>
            <a:ext cx="1965960" cy="3291840"/>
          </a:xfrm>
          <a:prstGeom prst="rect">
            <a:avLst/>
          </a:prstGeom>
          <a:noFill/>
          <a:ln/>
        </p:spPr>
        <p:txBody>
          <a:bodyPr wrap="square" lIns="0" tIns="0" rIns="0" bIns="0" rtlCol="0" anchor="t"/>
          <a:lstStyle/>
          <a:p>
            <a:pPr marL="342900" indent="-342900">
              <a:lnSpc>
                <a:spcPts val="1300"/>
              </a:lnSpc>
              <a:spcAft>
                <a:spcPts val="1000"/>
              </a:spcAft>
              <a:buSzPct val="100000"/>
              <a:buChar char="•"/>
            </a:pPr>
            <a:r>
              <a:rPr lang="en-US" sz="1050" dirty="0">
                <a:solidFill>
                  <a:srgbClr val="12233A"/>
                </a:solidFill>
                <a:latin typeface="Calibri" pitchFamily="34" charset="0"/>
                <a:ea typeface="Calibri" pitchFamily="34" charset="-122"/>
                <a:cs typeface="Calibri" pitchFamily="34" charset="-120"/>
              </a:rPr>
              <a:t>Prove each check at the lowest layer that can prove it</a:t>
            </a:r>
            <a:endParaRPr lang="en-US" sz="1050" dirty="0"/>
          </a:p>
          <a:p>
            <a:pPr marL="342900" indent="-342900">
              <a:lnSpc>
                <a:spcPts val="1300"/>
              </a:lnSpc>
              <a:spcAft>
                <a:spcPts val="1000"/>
              </a:spcAft>
              <a:buSzPct val="100000"/>
              <a:buChar char="•"/>
            </a:pPr>
            <a:r>
              <a:rPr lang="en-US" sz="1050" dirty="0">
                <a:solidFill>
                  <a:srgbClr val="12233A"/>
                </a:solidFill>
                <a:latin typeface="Calibri" pitchFamily="34" charset="0"/>
                <a:ea typeface="Calibri" pitchFamily="34" charset="-122"/>
                <a:cs typeface="Calibri" pitchFamily="34" charset="-120"/>
              </a:rPr>
              <a:t>Fast feedback first, long suites later</a:t>
            </a:r>
            <a:endParaRPr lang="en-US" sz="1050" dirty="0"/>
          </a:p>
          <a:p>
            <a:pPr marL="342900" indent="-342900">
              <a:lnSpc>
                <a:spcPts val="1300"/>
              </a:lnSpc>
              <a:spcAft>
                <a:spcPts val="1000"/>
              </a:spcAft>
              <a:buSzPct val="100000"/>
              <a:buChar char="•"/>
            </a:pPr>
            <a:r>
              <a:rPr lang="en-US" sz="1050" dirty="0">
                <a:solidFill>
                  <a:srgbClr val="12233A"/>
                </a:solidFill>
                <a:latin typeface="Calibri" pitchFamily="34" charset="0"/>
                <a:ea typeface="Calibri" pitchFamily="34" charset="-122"/>
                <a:cs typeface="Calibri" pitchFamily="34" charset="-120"/>
              </a:rPr>
              <a:t>Smoke set on every deployment, full regression nightly</a:t>
            </a:r>
            <a:endParaRPr lang="en-US" sz="1050" dirty="0"/>
          </a:p>
          <a:p>
            <a:pPr marL="342900" indent="-342900">
              <a:lnSpc>
                <a:spcPts val="1300"/>
              </a:lnSpc>
              <a:spcAft>
                <a:spcPts val="1000"/>
              </a:spcAft>
              <a:buSzPct val="100000"/>
              <a:buChar char="•"/>
            </a:pPr>
            <a:r>
              <a:rPr lang="en-US" sz="1050" dirty="0">
                <a:solidFill>
                  <a:srgbClr val="12233A"/>
                </a:solidFill>
                <a:latin typeface="Calibri" pitchFamily="34" charset="0"/>
                <a:ea typeface="Calibri" pitchFamily="34" charset="-122"/>
                <a:cs typeface="Calibri" pitchFamily="34" charset="-120"/>
              </a:rPr>
              <a:t>Every failure reproducible from an artefact and a commit</a:t>
            </a:r>
            <a:endParaRPr lang="en-US" sz="1050" dirty="0"/>
          </a:p>
          <a:p>
            <a:pPr marL="342900" indent="-342900">
              <a:lnSpc>
                <a:spcPts val="1300"/>
              </a:lnSpc>
              <a:spcAft>
                <a:spcPts val="1000"/>
              </a:spcAft>
              <a:buSzPct val="100000"/>
              <a:buChar char="•"/>
            </a:pPr>
            <a:r>
              <a:rPr lang="en-US" sz="1050" dirty="0">
                <a:solidFill>
                  <a:srgbClr val="12233A"/>
                </a:solidFill>
                <a:latin typeface="Calibri" pitchFamily="34" charset="0"/>
                <a:ea typeface="Calibri" pitchFamily="34" charset="-122"/>
                <a:cs typeface="Calibri" pitchFamily="34" charset="-120"/>
              </a:rPr>
              <a:t>No manual step inside an automated run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 · PIPELINE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Layer 1 — the pipeline tests itself</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Before a single Teamcenter utility runs, the deploy engine is unit-tested. These tests run in seconds on every build and every pull request.</a:t>
            </a:r>
            <a:endParaRPr lang="en-US" sz="1350" dirty="0"/>
          </a:p>
        </p:txBody>
      </p:sp>
      <p:sp>
        <p:nvSpPr>
          <p:cNvPr id="5" name="Shape 3"/>
          <p:cNvSpPr/>
          <p:nvPr/>
        </p:nvSpPr>
        <p:spPr>
          <a:xfrm>
            <a:off x="640080" y="1783080"/>
            <a:ext cx="5257800" cy="1481328"/>
          </a:xfrm>
          <a:prstGeom prst="roundRect">
            <a:avLst>
              <a:gd name="adj" fmla="val 555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77824" y="2039112"/>
            <a:ext cx="548640" cy="548640"/>
          </a:xfrm>
          <a:prstGeom prst="ellipse">
            <a:avLst/>
          </a:prstGeom>
          <a:solidFill>
            <a:srgbClr val="E9EEF8"/>
          </a:solidFill>
          <a:ln w="12700">
            <a:solidFill>
              <a:srgbClr val="E9EEF8"/>
            </a:solidFill>
            <a:prstDash val="solid"/>
          </a:ln>
        </p:spPr>
      </p:sp>
      <p:pic>
        <p:nvPicPr>
          <p:cNvPr id="7" name="Image 0" descr="preencoded.png">    </p:cNvPr>
          <p:cNvPicPr>
            <a:picLocks noChangeAspect="1"/>
          </p:cNvPicPr>
          <p:nvPr/>
        </p:nvPicPr>
        <p:blipFill>
          <a:blip r:embed="rId1"/>
          <a:stretch>
            <a:fillRect/>
          </a:stretch>
        </p:blipFill>
        <p:spPr>
          <a:xfrm>
            <a:off x="1009498" y="2170786"/>
            <a:ext cx="285293" cy="285293"/>
          </a:xfrm>
          <a:prstGeom prst="rect">
            <a:avLst/>
          </a:prstGeom>
        </p:spPr>
      </p:pic>
      <p:sp>
        <p:nvSpPr>
          <p:cNvPr id="8" name="Text 5"/>
          <p:cNvSpPr/>
          <p:nvPr/>
        </p:nvSpPr>
        <p:spPr>
          <a:xfrm>
            <a:off x="1572768" y="2020824"/>
            <a:ext cx="4114800" cy="292608"/>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Operation table integrity</a:t>
            </a:r>
            <a:endParaRPr lang="en-US" sz="1350" dirty="0"/>
          </a:p>
        </p:txBody>
      </p:sp>
      <p:sp>
        <p:nvSpPr>
          <p:cNvPr id="9" name="Text 6"/>
          <p:cNvSpPr/>
          <p:nvPr/>
        </p:nvSpPr>
        <p:spPr>
          <a:xfrm>
            <a:off x="877824" y="2514600"/>
            <a:ext cx="4800600" cy="640080"/>
          </a:xfrm>
          <a:prstGeom prst="rect">
            <a:avLst/>
          </a:prstGeom>
          <a:noFill/>
          <a:ln/>
        </p:spPr>
        <p:txBody>
          <a:bodyPr wrap="square" lIns="0" tIns="0" rIns="0" bIns="0" rtlCol="0" anchor="ctr"/>
          <a:lstStyle/>
          <a:p>
            <a:pPr indent="0" marL="0">
              <a:lnSpc>
                <a:spcPts val="1350"/>
              </a:lnSpc>
              <a:buNone/>
            </a:pPr>
            <a:r>
              <a:rPr lang="en-US" sz="1100" dirty="0">
                <a:solidFill>
                  <a:srgbClr val="5A6672"/>
                </a:solidFill>
                <a:latin typeface="Calibri" pitchFamily="34" charset="0"/>
                <a:ea typeface="Calibri" pitchFamily="34" charset="-122"/>
                <a:cs typeface="Calibri" pitchFamily="34" charset="-120"/>
              </a:rPr>
              <a:t>Asserts every operation belongs to exactly one phase and that indexes are unique — so a phase can never silently skip a step.</a:t>
            </a:r>
            <a:endParaRPr lang="en-US" sz="1100" dirty="0"/>
          </a:p>
        </p:txBody>
      </p:sp>
      <p:sp>
        <p:nvSpPr>
          <p:cNvPr id="10" name="Shape 7"/>
          <p:cNvSpPr/>
          <p:nvPr/>
        </p:nvSpPr>
        <p:spPr>
          <a:xfrm>
            <a:off x="6172200" y="1783080"/>
            <a:ext cx="5257800" cy="1481328"/>
          </a:xfrm>
          <a:prstGeom prst="roundRect">
            <a:avLst>
              <a:gd name="adj" fmla="val 555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Shape 8"/>
          <p:cNvSpPr/>
          <p:nvPr/>
        </p:nvSpPr>
        <p:spPr>
          <a:xfrm>
            <a:off x="6409944" y="2039112"/>
            <a:ext cx="548640" cy="548640"/>
          </a:xfrm>
          <a:prstGeom prst="ellipse">
            <a:avLst/>
          </a:prstGeom>
          <a:solidFill>
            <a:srgbClr val="E9EEF8"/>
          </a:solidFill>
          <a:ln w="12700">
            <a:solidFill>
              <a:srgbClr val="E9EEF8"/>
            </a:solidFill>
            <a:prstDash val="solid"/>
          </a:ln>
        </p:spPr>
      </p:sp>
      <p:pic>
        <p:nvPicPr>
          <p:cNvPr id="12" name="Image 1" descr="preencoded.png">    </p:cNvPr>
          <p:cNvPicPr>
            <a:picLocks noChangeAspect="1"/>
          </p:cNvPicPr>
          <p:nvPr/>
        </p:nvPicPr>
        <p:blipFill>
          <a:blip r:embed="rId2"/>
          <a:stretch>
            <a:fillRect/>
          </a:stretch>
        </p:blipFill>
        <p:spPr>
          <a:xfrm>
            <a:off x="6541618" y="2170786"/>
            <a:ext cx="285293" cy="285293"/>
          </a:xfrm>
          <a:prstGeom prst="rect">
            <a:avLst/>
          </a:prstGeom>
        </p:spPr>
      </p:pic>
      <p:sp>
        <p:nvSpPr>
          <p:cNvPr id="13" name="Text 9"/>
          <p:cNvSpPr/>
          <p:nvPr/>
        </p:nvSpPr>
        <p:spPr>
          <a:xfrm>
            <a:off x="7104888" y="2020824"/>
            <a:ext cx="4114800" cy="292608"/>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Range and selection syntax</a:t>
            </a:r>
            <a:endParaRPr lang="en-US" sz="1350" dirty="0"/>
          </a:p>
        </p:txBody>
      </p:sp>
      <p:sp>
        <p:nvSpPr>
          <p:cNvPr id="14" name="Text 10"/>
          <p:cNvSpPr/>
          <p:nvPr/>
        </p:nvSpPr>
        <p:spPr>
          <a:xfrm>
            <a:off x="6409944" y="2514600"/>
            <a:ext cx="4800600" cy="640080"/>
          </a:xfrm>
          <a:prstGeom prst="rect">
            <a:avLst/>
          </a:prstGeom>
          <a:noFill/>
          <a:ln/>
        </p:spPr>
        <p:txBody>
          <a:bodyPr wrap="square" lIns="0" tIns="0" rIns="0" bIns="0" rtlCol="0" anchor="ctr"/>
          <a:lstStyle/>
          <a:p>
            <a:pPr indent="0" marL="0">
              <a:lnSpc>
                <a:spcPts val="1350"/>
              </a:lnSpc>
              <a:buNone/>
            </a:pPr>
            <a:r>
              <a:rPr lang="en-US" sz="1100" dirty="0">
                <a:solidFill>
                  <a:srgbClr val="5A6672"/>
                </a:solidFill>
                <a:latin typeface="Calibri" pitchFamily="34" charset="0"/>
                <a:ea typeface="Calibri" pitchFamily="34" charset="-122"/>
                <a:cs typeface="Calibri" pitchFamily="34" charset="-120"/>
              </a:rPr>
              <a:t>Verifies that comma lists and 'from:to' ranges resolve to exactly the operations the caller intended.</a:t>
            </a:r>
            <a:endParaRPr lang="en-US" sz="1100" dirty="0"/>
          </a:p>
        </p:txBody>
      </p:sp>
      <p:sp>
        <p:nvSpPr>
          <p:cNvPr id="15" name="Shape 11"/>
          <p:cNvSpPr/>
          <p:nvPr/>
        </p:nvSpPr>
        <p:spPr>
          <a:xfrm>
            <a:off x="640080" y="3474720"/>
            <a:ext cx="5257800" cy="1481328"/>
          </a:xfrm>
          <a:prstGeom prst="roundRect">
            <a:avLst>
              <a:gd name="adj" fmla="val 555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6" name="Shape 12"/>
          <p:cNvSpPr/>
          <p:nvPr/>
        </p:nvSpPr>
        <p:spPr>
          <a:xfrm>
            <a:off x="877824" y="3730752"/>
            <a:ext cx="548640" cy="548640"/>
          </a:xfrm>
          <a:prstGeom prst="ellipse">
            <a:avLst/>
          </a:prstGeom>
          <a:solidFill>
            <a:srgbClr val="E9EEF8"/>
          </a:solidFill>
          <a:ln w="12700">
            <a:solidFill>
              <a:srgbClr val="E9EEF8"/>
            </a:solidFill>
            <a:prstDash val="solid"/>
          </a:ln>
        </p:spPr>
      </p:sp>
      <p:pic>
        <p:nvPicPr>
          <p:cNvPr id="17" name="Image 2" descr="preencoded.png">    </p:cNvPr>
          <p:cNvPicPr>
            <a:picLocks noChangeAspect="1"/>
          </p:cNvPicPr>
          <p:nvPr/>
        </p:nvPicPr>
        <p:blipFill>
          <a:blip r:embed="rId3"/>
          <a:stretch>
            <a:fillRect/>
          </a:stretch>
        </p:blipFill>
        <p:spPr>
          <a:xfrm>
            <a:off x="1009498" y="3862426"/>
            <a:ext cx="285293" cy="285293"/>
          </a:xfrm>
          <a:prstGeom prst="rect">
            <a:avLst/>
          </a:prstGeom>
        </p:spPr>
      </p:pic>
      <p:sp>
        <p:nvSpPr>
          <p:cNvPr id="18" name="Text 13"/>
          <p:cNvSpPr/>
          <p:nvPr/>
        </p:nvSpPr>
        <p:spPr>
          <a:xfrm>
            <a:off x="1572768" y="3712464"/>
            <a:ext cx="4114800" cy="292608"/>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Injection and credential guards</a:t>
            </a:r>
            <a:endParaRPr lang="en-US" sz="1350" dirty="0"/>
          </a:p>
        </p:txBody>
      </p:sp>
      <p:sp>
        <p:nvSpPr>
          <p:cNvPr id="19" name="Text 14"/>
          <p:cNvSpPr/>
          <p:nvPr/>
        </p:nvSpPr>
        <p:spPr>
          <a:xfrm>
            <a:off x="877824" y="4206240"/>
            <a:ext cx="4800600" cy="640080"/>
          </a:xfrm>
          <a:prstGeom prst="rect">
            <a:avLst/>
          </a:prstGeom>
          <a:noFill/>
          <a:ln/>
        </p:spPr>
        <p:txBody>
          <a:bodyPr wrap="square" lIns="0" tIns="0" rIns="0" bIns="0" rtlCol="0" anchor="ctr"/>
          <a:lstStyle/>
          <a:p>
            <a:pPr indent="0" marL="0">
              <a:lnSpc>
                <a:spcPts val="1350"/>
              </a:lnSpc>
              <a:buNone/>
            </a:pPr>
            <a:r>
              <a:rPr lang="en-US" sz="1100" dirty="0">
                <a:solidFill>
                  <a:srgbClr val="5A6672"/>
                </a:solidFill>
                <a:latin typeface="Calibri" pitchFamily="34" charset="0"/>
                <a:ea typeface="Calibri" pitchFamily="34" charset="-122"/>
                <a:cs typeface="Calibri" pitchFamily="34" charset="-120"/>
              </a:rPr>
              <a:t>Rejects any plaintext password argument; confirms lookalike flags are not misidentified.</a:t>
            </a:r>
            <a:endParaRPr lang="en-US" sz="1100" dirty="0"/>
          </a:p>
        </p:txBody>
      </p:sp>
      <p:sp>
        <p:nvSpPr>
          <p:cNvPr id="20" name="Shape 15"/>
          <p:cNvSpPr/>
          <p:nvPr/>
        </p:nvSpPr>
        <p:spPr>
          <a:xfrm>
            <a:off x="6172200" y="3474720"/>
            <a:ext cx="5257800" cy="1481328"/>
          </a:xfrm>
          <a:prstGeom prst="roundRect">
            <a:avLst>
              <a:gd name="adj" fmla="val 555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1" name="Shape 16"/>
          <p:cNvSpPr/>
          <p:nvPr/>
        </p:nvSpPr>
        <p:spPr>
          <a:xfrm>
            <a:off x="6409944" y="3730752"/>
            <a:ext cx="548640" cy="548640"/>
          </a:xfrm>
          <a:prstGeom prst="ellipse">
            <a:avLst/>
          </a:prstGeom>
          <a:solidFill>
            <a:srgbClr val="E9EEF8"/>
          </a:solidFill>
          <a:ln w="12700">
            <a:solidFill>
              <a:srgbClr val="E9EEF8"/>
            </a:solidFill>
            <a:prstDash val="solid"/>
          </a:ln>
        </p:spPr>
      </p:sp>
      <p:pic>
        <p:nvPicPr>
          <p:cNvPr id="22" name="Image 3" descr="preencoded.png">    </p:cNvPr>
          <p:cNvPicPr>
            <a:picLocks noChangeAspect="1"/>
          </p:cNvPicPr>
          <p:nvPr/>
        </p:nvPicPr>
        <p:blipFill>
          <a:blip r:embed="rId4"/>
          <a:stretch>
            <a:fillRect/>
          </a:stretch>
        </p:blipFill>
        <p:spPr>
          <a:xfrm>
            <a:off x="6541618" y="3862426"/>
            <a:ext cx="285293" cy="285293"/>
          </a:xfrm>
          <a:prstGeom prst="rect">
            <a:avLst/>
          </a:prstGeom>
        </p:spPr>
      </p:pic>
      <p:sp>
        <p:nvSpPr>
          <p:cNvPr id="23" name="Text 17"/>
          <p:cNvSpPr/>
          <p:nvPr/>
        </p:nvSpPr>
        <p:spPr>
          <a:xfrm>
            <a:off x="7104888" y="3712464"/>
            <a:ext cx="4114800" cy="292608"/>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Environment resolution regression</a:t>
            </a:r>
            <a:endParaRPr lang="en-US" sz="1350" dirty="0"/>
          </a:p>
        </p:txBody>
      </p:sp>
      <p:sp>
        <p:nvSpPr>
          <p:cNvPr id="24" name="Text 18"/>
          <p:cNvSpPr/>
          <p:nvPr/>
        </p:nvSpPr>
        <p:spPr>
          <a:xfrm>
            <a:off x="6409944" y="4206240"/>
            <a:ext cx="4800600" cy="640080"/>
          </a:xfrm>
          <a:prstGeom prst="rect">
            <a:avLst/>
          </a:prstGeom>
          <a:noFill/>
          <a:ln/>
        </p:spPr>
        <p:txBody>
          <a:bodyPr wrap="square" lIns="0" tIns="0" rIns="0" bIns="0" rtlCol="0" anchor="ctr"/>
          <a:lstStyle/>
          <a:p>
            <a:pPr indent="0" marL="0">
              <a:lnSpc>
                <a:spcPts val="1350"/>
              </a:lnSpc>
              <a:buNone/>
            </a:pPr>
            <a:r>
              <a:rPr lang="en-US" sz="1100" dirty="0">
                <a:solidFill>
                  <a:srgbClr val="5A6672"/>
                </a:solidFill>
                <a:latin typeface="Calibri" pitchFamily="34" charset="0"/>
                <a:ea typeface="Calibri" pitchFamily="34" charset="-122"/>
                <a:cs typeface="Calibri" pitchFamily="34" charset="-120"/>
              </a:rPr>
              <a:t>Guards a real bug found in smoke testing: placeholders in environment properties that were never resolved against the supplied paths.</a:t>
            </a:r>
            <a:endParaRPr lang="en-US" sz="1100" dirty="0"/>
          </a:p>
        </p:txBody>
      </p:sp>
      <p:sp>
        <p:nvSpPr>
          <p:cNvPr id="25" name="Shape 19"/>
          <p:cNvSpPr/>
          <p:nvPr/>
        </p:nvSpPr>
        <p:spPr>
          <a:xfrm>
            <a:off x="640080" y="5212080"/>
            <a:ext cx="10908792" cy="804672"/>
          </a:xfrm>
          <a:prstGeom prst="roundRect">
            <a:avLst>
              <a:gd name="adj" fmla="val 11364"/>
            </a:avLst>
          </a:prstGeom>
          <a:solidFill>
            <a:srgbClr val="F0FBF7"/>
          </a:solidFill>
          <a:ln w="12700">
            <a:solidFill>
              <a:srgbClr val="00E1A0"/>
            </a:solidFill>
            <a:prstDash val="solid"/>
          </a:ln>
        </p:spPr>
      </p:sp>
      <p:sp>
        <p:nvSpPr>
          <p:cNvPr id="26" name="Text 20"/>
          <p:cNvSpPr/>
          <p:nvPr/>
        </p:nvSpPr>
        <p:spPr>
          <a:xfrm>
            <a:off x="1005840" y="5212080"/>
            <a:ext cx="10149840" cy="804672"/>
          </a:xfrm>
          <a:prstGeom prst="rect">
            <a:avLst/>
          </a:prstGeom>
          <a:noFill/>
          <a:ln/>
        </p:spPr>
        <p:txBody>
          <a:bodyPr wrap="square" lIns="0" tIns="0" rIns="0" bIns="0" rtlCol="0" anchor="ctr"/>
          <a:lstStyle/>
          <a:p>
            <a:pPr indent="0" marL="0">
              <a:buNone/>
            </a:pPr>
            <a:r>
              <a:rPr lang="en-US" sz="1300" dirty="0">
                <a:solidFill>
                  <a:srgbClr val="12233A"/>
                </a:solidFill>
                <a:latin typeface="Calibri" pitchFamily="34" charset="0"/>
                <a:ea typeface="Calibri" pitchFamily="34" charset="-122"/>
                <a:cs typeface="Calibri" pitchFamily="34" charset="-120"/>
              </a:rPr>
              <a:t>The build job refuses to package anything until these pass — a broken deploy engine never reaches an environment.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 · API</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Layer 2 — OOTB Teamcenter REST API</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Postman collections executed by Newman in CI. These verify that standard Teamcenter behaviour survives the upgrade — no browser involved.</a:t>
            </a:r>
            <a:endParaRPr lang="en-US" sz="1350" dirty="0"/>
          </a:p>
        </p:txBody>
      </p:sp>
      <p:sp>
        <p:nvSpPr>
          <p:cNvPr id="5" name="Shape 3"/>
          <p:cNvSpPr/>
          <p:nvPr/>
        </p:nvSpPr>
        <p:spPr>
          <a:xfrm>
            <a:off x="640080" y="181051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59536" y="2011680"/>
            <a:ext cx="493776" cy="493776"/>
          </a:xfrm>
          <a:prstGeom prst="ellipse">
            <a:avLst/>
          </a:prstGeom>
          <a:solidFill>
            <a:srgbClr val="E9EEF8"/>
          </a:solidFill>
          <a:ln w="12700">
            <a:solidFill>
              <a:srgbClr val="E9EEF8"/>
            </a:solidFill>
            <a:prstDash val="solid"/>
          </a:ln>
        </p:spPr>
      </p:sp>
      <p:pic>
        <p:nvPicPr>
          <p:cNvPr id="7" name="Image 0" descr="preencoded.png">    </p:cNvPr>
          <p:cNvPicPr>
            <a:picLocks noChangeAspect="1"/>
          </p:cNvPicPr>
          <p:nvPr/>
        </p:nvPicPr>
        <p:blipFill>
          <a:blip r:embed="rId1"/>
          <a:stretch>
            <a:fillRect/>
          </a:stretch>
        </p:blipFill>
        <p:spPr>
          <a:xfrm>
            <a:off x="978042" y="2130186"/>
            <a:ext cx="256764" cy="256764"/>
          </a:xfrm>
          <a:prstGeom prst="rect">
            <a:avLst/>
          </a:prstGeom>
        </p:spPr>
      </p:pic>
      <p:sp>
        <p:nvSpPr>
          <p:cNvPr id="8" name="Text 5"/>
          <p:cNvSpPr/>
          <p:nvPr/>
        </p:nvSpPr>
        <p:spPr>
          <a:xfrm>
            <a:off x="1463040" y="202996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Session &amp; XSRF</a:t>
            </a:r>
            <a:endParaRPr lang="en-US" sz="1250" dirty="0"/>
          </a:p>
        </p:txBody>
      </p:sp>
      <p:sp>
        <p:nvSpPr>
          <p:cNvPr id="9" name="Text 6"/>
          <p:cNvSpPr/>
          <p:nvPr/>
        </p:nvSpPr>
        <p:spPr>
          <a:xfrm>
            <a:off x="859536" y="245059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Cookie bootstrap, token retrieval, login across both service variants, logout</a:t>
            </a:r>
            <a:endParaRPr lang="en-US" sz="1050" dirty="0"/>
          </a:p>
        </p:txBody>
      </p:sp>
      <p:sp>
        <p:nvSpPr>
          <p:cNvPr id="10" name="Shape 7"/>
          <p:cNvSpPr/>
          <p:nvPr/>
        </p:nvSpPr>
        <p:spPr>
          <a:xfrm>
            <a:off x="4343400" y="181051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Shape 8"/>
          <p:cNvSpPr/>
          <p:nvPr/>
        </p:nvSpPr>
        <p:spPr>
          <a:xfrm>
            <a:off x="4562856" y="2011680"/>
            <a:ext cx="493776" cy="493776"/>
          </a:xfrm>
          <a:prstGeom prst="ellipse">
            <a:avLst/>
          </a:prstGeom>
          <a:solidFill>
            <a:srgbClr val="E9EEF8"/>
          </a:solidFill>
          <a:ln w="12700">
            <a:solidFill>
              <a:srgbClr val="E9EEF8"/>
            </a:solidFill>
            <a:prstDash val="solid"/>
          </a:ln>
        </p:spPr>
      </p:sp>
      <p:pic>
        <p:nvPicPr>
          <p:cNvPr id="12" name="Image 1" descr="preencoded.png">    </p:cNvPr>
          <p:cNvPicPr>
            <a:picLocks noChangeAspect="1"/>
          </p:cNvPicPr>
          <p:nvPr/>
        </p:nvPicPr>
        <p:blipFill>
          <a:blip r:embed="rId2"/>
          <a:stretch>
            <a:fillRect/>
          </a:stretch>
        </p:blipFill>
        <p:spPr>
          <a:xfrm>
            <a:off x="4681362" y="2130186"/>
            <a:ext cx="256764" cy="256764"/>
          </a:xfrm>
          <a:prstGeom prst="rect">
            <a:avLst/>
          </a:prstGeom>
        </p:spPr>
      </p:pic>
      <p:sp>
        <p:nvSpPr>
          <p:cNvPr id="13" name="Text 9"/>
          <p:cNvSpPr/>
          <p:nvPr/>
        </p:nvSpPr>
        <p:spPr>
          <a:xfrm>
            <a:off x="5166360" y="202996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Item lifecycle</a:t>
            </a:r>
            <a:endParaRPr lang="en-US" sz="1250" dirty="0"/>
          </a:p>
        </p:txBody>
      </p:sp>
      <p:sp>
        <p:nvSpPr>
          <p:cNvPr id="14" name="Text 10"/>
          <p:cNvSpPr/>
          <p:nvPr/>
        </p:nvSpPr>
        <p:spPr>
          <a:xfrm>
            <a:off x="4562856" y="245059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Create item and revision, verify returned UIDs and parsed identifiers</a:t>
            </a:r>
            <a:endParaRPr lang="en-US" sz="1050" dirty="0"/>
          </a:p>
        </p:txBody>
      </p:sp>
      <p:sp>
        <p:nvSpPr>
          <p:cNvPr id="15" name="Shape 11"/>
          <p:cNvSpPr/>
          <p:nvPr/>
        </p:nvSpPr>
        <p:spPr>
          <a:xfrm>
            <a:off x="8046720" y="181051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6" name="Shape 12"/>
          <p:cNvSpPr/>
          <p:nvPr/>
        </p:nvSpPr>
        <p:spPr>
          <a:xfrm>
            <a:off x="8266176" y="2011680"/>
            <a:ext cx="493776" cy="493776"/>
          </a:xfrm>
          <a:prstGeom prst="ellipse">
            <a:avLst/>
          </a:prstGeom>
          <a:solidFill>
            <a:srgbClr val="E9EEF8"/>
          </a:solidFill>
          <a:ln w="12700">
            <a:solidFill>
              <a:srgbClr val="E9EEF8"/>
            </a:solidFill>
            <a:prstDash val="solid"/>
          </a:ln>
        </p:spPr>
      </p:sp>
      <p:pic>
        <p:nvPicPr>
          <p:cNvPr id="17" name="Image 2" descr="preencoded.png">    </p:cNvPr>
          <p:cNvPicPr>
            <a:picLocks noChangeAspect="1"/>
          </p:cNvPicPr>
          <p:nvPr/>
        </p:nvPicPr>
        <p:blipFill>
          <a:blip r:embed="rId3"/>
          <a:stretch>
            <a:fillRect/>
          </a:stretch>
        </p:blipFill>
        <p:spPr>
          <a:xfrm>
            <a:off x="8384682" y="2130186"/>
            <a:ext cx="256764" cy="256764"/>
          </a:xfrm>
          <a:prstGeom prst="rect">
            <a:avLst/>
          </a:prstGeom>
        </p:spPr>
      </p:pic>
      <p:sp>
        <p:nvSpPr>
          <p:cNvPr id="18" name="Text 13"/>
          <p:cNvSpPr/>
          <p:nvPr/>
        </p:nvSpPr>
        <p:spPr>
          <a:xfrm>
            <a:off x="8869680" y="202996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Saved queries</a:t>
            </a:r>
            <a:endParaRPr lang="en-US" sz="1250" dirty="0"/>
          </a:p>
        </p:txBody>
      </p:sp>
      <p:sp>
        <p:nvSpPr>
          <p:cNvPr id="19" name="Text 14"/>
          <p:cNvSpPr/>
          <p:nvPr/>
        </p:nvSpPr>
        <p:spPr>
          <a:xfrm>
            <a:off x="8266176" y="245059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Find the query definition, execute it, assert the expected result set</a:t>
            </a:r>
            <a:endParaRPr lang="en-US" sz="1050" dirty="0"/>
          </a:p>
        </p:txBody>
      </p:sp>
      <p:sp>
        <p:nvSpPr>
          <p:cNvPr id="20" name="Shape 15"/>
          <p:cNvSpPr/>
          <p:nvPr/>
        </p:nvSpPr>
        <p:spPr>
          <a:xfrm>
            <a:off x="640080" y="327355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1" name="Shape 16"/>
          <p:cNvSpPr/>
          <p:nvPr/>
        </p:nvSpPr>
        <p:spPr>
          <a:xfrm>
            <a:off x="859536" y="3474720"/>
            <a:ext cx="493776" cy="493776"/>
          </a:xfrm>
          <a:prstGeom prst="ellipse">
            <a:avLst/>
          </a:prstGeom>
          <a:solidFill>
            <a:srgbClr val="E9EEF8"/>
          </a:solidFill>
          <a:ln w="12700">
            <a:solidFill>
              <a:srgbClr val="E9EEF8"/>
            </a:solidFill>
            <a:prstDash val="solid"/>
          </a:ln>
        </p:spPr>
      </p:sp>
      <p:pic>
        <p:nvPicPr>
          <p:cNvPr id="22" name="Image 3" descr="preencoded.png">    </p:cNvPr>
          <p:cNvPicPr>
            <a:picLocks noChangeAspect="1"/>
          </p:cNvPicPr>
          <p:nvPr/>
        </p:nvPicPr>
        <p:blipFill>
          <a:blip r:embed="rId4"/>
          <a:stretch>
            <a:fillRect/>
          </a:stretch>
        </p:blipFill>
        <p:spPr>
          <a:xfrm>
            <a:off x="978042" y="3593226"/>
            <a:ext cx="256764" cy="256764"/>
          </a:xfrm>
          <a:prstGeom prst="rect">
            <a:avLst/>
          </a:prstGeom>
        </p:spPr>
      </p:pic>
      <p:sp>
        <p:nvSpPr>
          <p:cNvPr id="23" name="Text 17"/>
          <p:cNvSpPr/>
          <p:nvPr/>
        </p:nvSpPr>
        <p:spPr>
          <a:xfrm>
            <a:off x="1463040" y="349300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Datasets &amp; files</a:t>
            </a:r>
            <a:endParaRPr lang="en-US" sz="1250" dirty="0"/>
          </a:p>
        </p:txBody>
      </p:sp>
      <p:sp>
        <p:nvSpPr>
          <p:cNvPr id="24" name="Text 18"/>
          <p:cNvSpPr/>
          <p:nvPr/>
        </p:nvSpPr>
        <p:spPr>
          <a:xfrm>
            <a:off x="859536" y="391363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Create datasets and commit dataset files through the standard services</a:t>
            </a:r>
            <a:endParaRPr lang="en-US" sz="1050" dirty="0"/>
          </a:p>
        </p:txBody>
      </p:sp>
      <p:sp>
        <p:nvSpPr>
          <p:cNvPr id="25" name="Shape 19"/>
          <p:cNvSpPr/>
          <p:nvPr/>
        </p:nvSpPr>
        <p:spPr>
          <a:xfrm>
            <a:off x="4343400" y="327355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6" name="Shape 20"/>
          <p:cNvSpPr/>
          <p:nvPr/>
        </p:nvSpPr>
        <p:spPr>
          <a:xfrm>
            <a:off x="4562856" y="3474720"/>
            <a:ext cx="493776" cy="493776"/>
          </a:xfrm>
          <a:prstGeom prst="ellipse">
            <a:avLst/>
          </a:prstGeom>
          <a:solidFill>
            <a:srgbClr val="E9EEF8"/>
          </a:solidFill>
          <a:ln w="12700">
            <a:solidFill>
              <a:srgbClr val="E9EEF8"/>
            </a:solidFill>
            <a:prstDash val="solid"/>
          </a:ln>
        </p:spPr>
      </p:sp>
      <p:pic>
        <p:nvPicPr>
          <p:cNvPr id="27" name="Image 4" descr="preencoded.png">    </p:cNvPr>
          <p:cNvPicPr>
            <a:picLocks noChangeAspect="1"/>
          </p:cNvPicPr>
          <p:nvPr/>
        </p:nvPicPr>
        <p:blipFill>
          <a:blip r:embed="rId5"/>
          <a:stretch>
            <a:fillRect/>
          </a:stretch>
        </p:blipFill>
        <p:spPr>
          <a:xfrm>
            <a:off x="4681362" y="3593226"/>
            <a:ext cx="256764" cy="256764"/>
          </a:xfrm>
          <a:prstGeom prst="rect">
            <a:avLst/>
          </a:prstGeom>
        </p:spPr>
      </p:pic>
      <p:sp>
        <p:nvSpPr>
          <p:cNvPr id="28" name="Text 21"/>
          <p:cNvSpPr/>
          <p:nvPr/>
        </p:nvSpPr>
        <p:spPr>
          <a:xfrm>
            <a:off x="5166360" y="349300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BOM &amp; structure</a:t>
            </a:r>
            <a:endParaRPr lang="en-US" sz="1250" dirty="0"/>
          </a:p>
        </p:txBody>
      </p:sp>
      <p:sp>
        <p:nvSpPr>
          <p:cNvPr id="29" name="Text 22"/>
          <p:cNvSpPr/>
          <p:nvPr/>
        </p:nvSpPr>
        <p:spPr>
          <a:xfrm>
            <a:off x="4562856" y="391363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Structure operations exposed through the standard data-management services</a:t>
            </a:r>
            <a:endParaRPr lang="en-US" sz="1050" dirty="0"/>
          </a:p>
        </p:txBody>
      </p:sp>
      <p:sp>
        <p:nvSpPr>
          <p:cNvPr id="30" name="Shape 23"/>
          <p:cNvSpPr/>
          <p:nvPr/>
        </p:nvSpPr>
        <p:spPr>
          <a:xfrm>
            <a:off x="8046720" y="3273552"/>
            <a:ext cx="3429000" cy="1261872"/>
          </a:xfrm>
          <a:prstGeom prst="roundRect">
            <a:avLst>
              <a:gd name="adj" fmla="val 6522"/>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31" name="Shape 24"/>
          <p:cNvSpPr/>
          <p:nvPr/>
        </p:nvSpPr>
        <p:spPr>
          <a:xfrm>
            <a:off x="8266176" y="3474720"/>
            <a:ext cx="493776" cy="493776"/>
          </a:xfrm>
          <a:prstGeom prst="ellipse">
            <a:avLst/>
          </a:prstGeom>
          <a:solidFill>
            <a:srgbClr val="E9EEF8"/>
          </a:solidFill>
          <a:ln w="12700">
            <a:solidFill>
              <a:srgbClr val="E9EEF8"/>
            </a:solidFill>
            <a:prstDash val="solid"/>
          </a:ln>
        </p:spPr>
      </p:sp>
      <p:pic>
        <p:nvPicPr>
          <p:cNvPr id="32" name="Image 5" descr="preencoded.png">    </p:cNvPr>
          <p:cNvPicPr>
            <a:picLocks noChangeAspect="1"/>
          </p:cNvPicPr>
          <p:nvPr/>
        </p:nvPicPr>
        <p:blipFill>
          <a:blip r:embed="rId6"/>
          <a:stretch>
            <a:fillRect/>
          </a:stretch>
        </p:blipFill>
        <p:spPr>
          <a:xfrm>
            <a:off x="8384682" y="3593226"/>
            <a:ext cx="256764" cy="256764"/>
          </a:xfrm>
          <a:prstGeom prst="rect">
            <a:avLst/>
          </a:prstGeom>
        </p:spPr>
      </p:pic>
      <p:sp>
        <p:nvSpPr>
          <p:cNvPr id="33" name="Text 25"/>
          <p:cNvSpPr/>
          <p:nvPr/>
        </p:nvSpPr>
        <p:spPr>
          <a:xfrm>
            <a:off x="8869680" y="3493008"/>
            <a:ext cx="251460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Workflow</a:t>
            </a:r>
            <a:endParaRPr lang="en-US" sz="1250" dirty="0"/>
          </a:p>
        </p:txBody>
      </p:sp>
      <p:sp>
        <p:nvSpPr>
          <p:cNvPr id="34" name="Text 26"/>
          <p:cNvSpPr/>
          <p:nvPr/>
        </p:nvSpPr>
        <p:spPr>
          <a:xfrm>
            <a:off x="8266176" y="3913632"/>
            <a:ext cx="3017520" cy="5486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Create workflow instances against an item revision and assert the process starts</a:t>
            </a:r>
            <a:endParaRPr lang="en-US" sz="1050" dirty="0"/>
          </a:p>
        </p:txBody>
      </p:sp>
      <p:sp>
        <p:nvSpPr>
          <p:cNvPr id="35" name="Shape 27"/>
          <p:cNvSpPr/>
          <p:nvPr/>
        </p:nvSpPr>
        <p:spPr>
          <a:xfrm>
            <a:off x="640080" y="4828032"/>
            <a:ext cx="10908792" cy="1097280"/>
          </a:xfrm>
          <a:prstGeom prst="roundRect">
            <a:avLst>
              <a:gd name="adj" fmla="val 8333"/>
            </a:avLst>
          </a:prstGeom>
          <a:solidFill>
            <a:srgbClr val="001034"/>
          </a:solidFill>
          <a:ln/>
        </p:spPr>
      </p:sp>
      <p:sp>
        <p:nvSpPr>
          <p:cNvPr id="36" name="Text 28"/>
          <p:cNvSpPr/>
          <p:nvPr/>
        </p:nvSpPr>
        <p:spPr>
          <a:xfrm>
            <a:off x="1005840" y="4956048"/>
            <a:ext cx="4572000" cy="274320"/>
          </a:xfrm>
          <a:prstGeom prst="rect">
            <a:avLst/>
          </a:prstGeom>
          <a:noFill/>
          <a:ln/>
        </p:spPr>
        <p:txBody>
          <a:bodyPr wrap="square" lIns="0" tIns="0" rIns="0" bIns="0" rtlCol="0" anchor="ctr"/>
          <a:lstStyle/>
          <a:p>
            <a:pPr indent="0" marL="0">
              <a:buNone/>
            </a:pPr>
            <a:r>
              <a:rPr lang="en-US" sz="1300" b="1" dirty="0">
                <a:solidFill>
                  <a:srgbClr val="00E1A0"/>
                </a:solidFill>
                <a:latin typeface="Arial" pitchFamily="34" charset="0"/>
                <a:ea typeface="Arial" pitchFamily="34" charset="-122"/>
                <a:cs typeface="Arial" pitchFamily="34" charset="-120"/>
              </a:rPr>
              <a:t>Environment abstraction is the point</a:t>
            </a:r>
            <a:endParaRPr lang="en-US" sz="1300" dirty="0"/>
          </a:p>
        </p:txBody>
      </p:sp>
      <p:sp>
        <p:nvSpPr>
          <p:cNvPr id="37" name="Text 29"/>
          <p:cNvSpPr/>
          <p:nvPr/>
        </p:nvSpPr>
        <p:spPr>
          <a:xfrm>
            <a:off x="1005840" y="5257800"/>
            <a:ext cx="10149840" cy="548640"/>
          </a:xfrm>
          <a:prstGeom prst="rect">
            <a:avLst/>
          </a:prstGeom>
          <a:noFill/>
          <a:ln/>
        </p:spPr>
        <p:txBody>
          <a:bodyPr wrap="square" lIns="0" tIns="0" rIns="0" bIns="0" rtlCol="0" anchor="ctr"/>
          <a:lstStyle/>
          <a:p>
            <a:pPr indent="0" marL="0">
              <a:lnSpc>
                <a:spcPts val="1400"/>
              </a:lnSpc>
              <a:buNone/>
            </a:pPr>
            <a:r>
              <a:rPr lang="en-US" sz="1150" dirty="0">
                <a:solidFill>
                  <a:srgbClr val="C7D3DE"/>
                </a:solidFill>
                <a:latin typeface="Calibri" pitchFamily="34" charset="0"/>
                <a:ea typeface="Calibri" pitchFamily="34" charset="-122"/>
                <a:cs typeface="Calibri" pitchFamily="34" charset="-120"/>
              </a:rPr>
              <a:t>Base URLs and credentials come from per-environment variable files, never from the request. The same collection runs against DEV, QA and UAT — in parallel — with secrets injected from the CI credential store.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 · API</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Layer 3 — custom gateway API</a:t>
            </a:r>
            <a:endParaRPr lang="en-US" sz="2900" dirty="0"/>
          </a:p>
        </p:txBody>
      </p:sp>
      <p:sp>
        <p:nvSpPr>
          <p:cNvPr id="4" name="Text 2"/>
          <p:cNvSpPr/>
          <p:nvPr/>
        </p:nvSpPr>
        <p:spPr>
          <a:xfrm>
            <a:off x="640080" y="1335024"/>
            <a:ext cx="10881360" cy="36576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A Spring Boot gateway exposes business-level endpoints and centralises Teamcenter session, cookie and XSRF handling. Its own suite tests business flows, not platform mechanics.</a:t>
            </a:r>
            <a:endParaRPr lang="en-US" sz="1350" dirty="0"/>
          </a:p>
        </p:txBody>
      </p:sp>
      <p:sp>
        <p:nvSpPr>
          <p:cNvPr id="5" name="Shape 3"/>
          <p:cNvSpPr/>
          <p:nvPr/>
        </p:nvSpPr>
        <p:spPr>
          <a:xfrm>
            <a:off x="640080" y="1828800"/>
            <a:ext cx="6675120" cy="804672"/>
          </a:xfrm>
          <a:prstGeom prst="roundRect">
            <a:avLst>
              <a:gd name="adj" fmla="val 9091"/>
            </a:avLst>
          </a:prstGeom>
          <a:solidFill>
            <a:srgbClr val="F1F5F7"/>
          </a:solidFill>
          <a:ln w="9525">
            <a:solidFill>
              <a:srgbClr val="DDE5EA"/>
            </a:solidFill>
            <a:prstDash val="solid"/>
          </a:ln>
        </p:spPr>
      </p:sp>
      <p:sp>
        <p:nvSpPr>
          <p:cNvPr id="6" name="Shape 4"/>
          <p:cNvSpPr/>
          <p:nvPr/>
        </p:nvSpPr>
        <p:spPr>
          <a:xfrm>
            <a:off x="822960" y="2057400"/>
            <a:ext cx="658368" cy="329184"/>
          </a:xfrm>
          <a:prstGeom prst="roundRect">
            <a:avLst>
              <a:gd name="adj" fmla="val 50000"/>
            </a:avLst>
          </a:prstGeom>
          <a:solidFill>
            <a:srgbClr val="00A5A6"/>
          </a:solidFill>
          <a:ln/>
        </p:spPr>
      </p:sp>
      <p:sp>
        <p:nvSpPr>
          <p:cNvPr id="7" name="Text 5"/>
          <p:cNvSpPr/>
          <p:nvPr/>
        </p:nvSpPr>
        <p:spPr>
          <a:xfrm>
            <a:off x="822960" y="2057400"/>
            <a:ext cx="65836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GET</a:t>
            </a:r>
            <a:endParaRPr lang="en-US" sz="950" dirty="0"/>
          </a:p>
        </p:txBody>
      </p:sp>
      <p:sp>
        <p:nvSpPr>
          <p:cNvPr id="8" name="Text 6"/>
          <p:cNvSpPr/>
          <p:nvPr/>
        </p:nvSpPr>
        <p:spPr>
          <a:xfrm>
            <a:off x="1600200" y="1938528"/>
            <a:ext cx="5577840" cy="274320"/>
          </a:xfrm>
          <a:prstGeom prst="rect">
            <a:avLst/>
          </a:prstGeom>
          <a:noFill/>
          <a:ln/>
        </p:spPr>
        <p:txBody>
          <a:bodyPr wrap="square" lIns="0" tIns="0" rIns="0" bIns="0" rtlCol="0" anchor="ctr"/>
          <a:lstStyle/>
          <a:p>
            <a:pPr indent="0" marL="0">
              <a:buNone/>
            </a:pPr>
            <a:r>
              <a:rPr lang="en-US" sz="1200" b="1" dirty="0">
                <a:solidFill>
                  <a:srgbClr val="001034"/>
                </a:solidFill>
                <a:latin typeface="Courier New" pitchFamily="34" charset="0"/>
                <a:ea typeface="Courier New" pitchFamily="34" charset="-122"/>
                <a:cs typeface="Courier New" pitchFamily="34" charset="-120"/>
              </a:rPr>
              <a:t>/api/health</a:t>
            </a:r>
            <a:endParaRPr lang="en-US" sz="1200" dirty="0"/>
          </a:p>
        </p:txBody>
      </p:sp>
      <p:sp>
        <p:nvSpPr>
          <p:cNvPr id="9" name="Text 7"/>
          <p:cNvSpPr/>
          <p:nvPr/>
        </p:nvSpPr>
        <p:spPr>
          <a:xfrm>
            <a:off x="1600200" y="2231136"/>
            <a:ext cx="5623560" cy="329184"/>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Liveness and configuration check — also the deployment smoke test</a:t>
            </a:r>
            <a:endParaRPr lang="en-US" sz="1050" dirty="0"/>
          </a:p>
        </p:txBody>
      </p:sp>
      <p:sp>
        <p:nvSpPr>
          <p:cNvPr id="10" name="Shape 8"/>
          <p:cNvSpPr/>
          <p:nvPr/>
        </p:nvSpPr>
        <p:spPr>
          <a:xfrm>
            <a:off x="640080" y="2743200"/>
            <a:ext cx="6675120" cy="804672"/>
          </a:xfrm>
          <a:prstGeom prst="roundRect">
            <a:avLst>
              <a:gd name="adj" fmla="val 9091"/>
            </a:avLst>
          </a:prstGeom>
          <a:solidFill>
            <a:srgbClr val="FFFFFF"/>
          </a:solidFill>
          <a:ln w="9525">
            <a:solidFill>
              <a:srgbClr val="DDE5EA"/>
            </a:solidFill>
            <a:prstDash val="solid"/>
          </a:ln>
        </p:spPr>
      </p:sp>
      <p:sp>
        <p:nvSpPr>
          <p:cNvPr id="11" name="Shape 9"/>
          <p:cNvSpPr/>
          <p:nvPr/>
        </p:nvSpPr>
        <p:spPr>
          <a:xfrm>
            <a:off x="822960" y="2971800"/>
            <a:ext cx="658368" cy="329184"/>
          </a:xfrm>
          <a:prstGeom prst="roundRect">
            <a:avLst>
              <a:gd name="adj" fmla="val 50000"/>
            </a:avLst>
          </a:prstGeom>
          <a:solidFill>
            <a:srgbClr val="001034"/>
          </a:solidFill>
          <a:ln/>
        </p:spPr>
      </p:sp>
      <p:sp>
        <p:nvSpPr>
          <p:cNvPr id="12" name="Text 10"/>
          <p:cNvSpPr/>
          <p:nvPr/>
        </p:nvSpPr>
        <p:spPr>
          <a:xfrm>
            <a:off x="822960" y="2971800"/>
            <a:ext cx="65836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POST</a:t>
            </a:r>
            <a:endParaRPr lang="en-US" sz="950" dirty="0"/>
          </a:p>
        </p:txBody>
      </p:sp>
      <p:sp>
        <p:nvSpPr>
          <p:cNvPr id="13" name="Text 11"/>
          <p:cNvSpPr/>
          <p:nvPr/>
        </p:nvSpPr>
        <p:spPr>
          <a:xfrm>
            <a:off x="1600200" y="2852928"/>
            <a:ext cx="5577840" cy="274320"/>
          </a:xfrm>
          <a:prstGeom prst="rect">
            <a:avLst/>
          </a:prstGeom>
          <a:noFill/>
          <a:ln/>
        </p:spPr>
        <p:txBody>
          <a:bodyPr wrap="square" lIns="0" tIns="0" rIns="0" bIns="0" rtlCol="0" anchor="ctr"/>
          <a:lstStyle/>
          <a:p>
            <a:pPr indent="0" marL="0">
              <a:buNone/>
            </a:pPr>
            <a:r>
              <a:rPr lang="en-US" sz="1200" b="1" dirty="0">
                <a:solidFill>
                  <a:srgbClr val="001034"/>
                </a:solidFill>
                <a:latin typeface="Courier New" pitchFamily="34" charset="0"/>
                <a:ea typeface="Courier New" pitchFamily="34" charset="-122"/>
                <a:cs typeface="Courier New" pitchFamily="34" charset="-120"/>
              </a:rPr>
              <a:t>/api/createItems</a:t>
            </a:r>
            <a:endParaRPr lang="en-US" sz="1200" dirty="0"/>
          </a:p>
        </p:txBody>
      </p:sp>
      <p:sp>
        <p:nvSpPr>
          <p:cNvPr id="14" name="Text 12"/>
          <p:cNvSpPr/>
          <p:nvPr/>
        </p:nvSpPr>
        <p:spPr>
          <a:xfrm>
            <a:off x="1600200" y="3145536"/>
            <a:ext cx="5623560" cy="329184"/>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Create an item and revision through validated business logic</a:t>
            </a:r>
            <a:endParaRPr lang="en-US" sz="1050" dirty="0"/>
          </a:p>
        </p:txBody>
      </p:sp>
      <p:sp>
        <p:nvSpPr>
          <p:cNvPr id="15" name="Shape 13"/>
          <p:cNvSpPr/>
          <p:nvPr/>
        </p:nvSpPr>
        <p:spPr>
          <a:xfrm>
            <a:off x="640080" y="3657600"/>
            <a:ext cx="6675120" cy="804672"/>
          </a:xfrm>
          <a:prstGeom prst="roundRect">
            <a:avLst>
              <a:gd name="adj" fmla="val 9091"/>
            </a:avLst>
          </a:prstGeom>
          <a:solidFill>
            <a:srgbClr val="F1F5F7"/>
          </a:solidFill>
          <a:ln w="9525">
            <a:solidFill>
              <a:srgbClr val="DDE5EA"/>
            </a:solidFill>
            <a:prstDash val="solid"/>
          </a:ln>
        </p:spPr>
      </p:sp>
      <p:sp>
        <p:nvSpPr>
          <p:cNvPr id="16" name="Shape 14"/>
          <p:cNvSpPr/>
          <p:nvPr/>
        </p:nvSpPr>
        <p:spPr>
          <a:xfrm>
            <a:off x="822960" y="3886200"/>
            <a:ext cx="658368" cy="329184"/>
          </a:xfrm>
          <a:prstGeom prst="roundRect">
            <a:avLst>
              <a:gd name="adj" fmla="val 50000"/>
            </a:avLst>
          </a:prstGeom>
          <a:solidFill>
            <a:srgbClr val="001034"/>
          </a:solidFill>
          <a:ln/>
        </p:spPr>
      </p:sp>
      <p:sp>
        <p:nvSpPr>
          <p:cNvPr id="17" name="Text 15"/>
          <p:cNvSpPr/>
          <p:nvPr/>
        </p:nvSpPr>
        <p:spPr>
          <a:xfrm>
            <a:off x="822960" y="3886200"/>
            <a:ext cx="65836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POST</a:t>
            </a:r>
            <a:endParaRPr lang="en-US" sz="950" dirty="0"/>
          </a:p>
        </p:txBody>
      </p:sp>
      <p:sp>
        <p:nvSpPr>
          <p:cNvPr id="18" name="Text 16"/>
          <p:cNvSpPr/>
          <p:nvPr/>
        </p:nvSpPr>
        <p:spPr>
          <a:xfrm>
            <a:off x="1600200" y="3767328"/>
            <a:ext cx="5577840" cy="274320"/>
          </a:xfrm>
          <a:prstGeom prst="rect">
            <a:avLst/>
          </a:prstGeom>
          <a:noFill/>
          <a:ln/>
        </p:spPr>
        <p:txBody>
          <a:bodyPr wrap="square" lIns="0" tIns="0" rIns="0" bIns="0" rtlCol="0" anchor="ctr"/>
          <a:lstStyle/>
          <a:p>
            <a:pPr indent="0" marL="0">
              <a:buNone/>
            </a:pPr>
            <a:r>
              <a:rPr lang="en-US" sz="1200" b="1" dirty="0">
                <a:solidFill>
                  <a:srgbClr val="001034"/>
                </a:solidFill>
                <a:latin typeface="Courier New" pitchFamily="34" charset="0"/>
                <a:ea typeface="Courier New" pitchFamily="34" charset="-122"/>
                <a:cs typeface="Courier New" pitchFamily="34" charset="-120"/>
              </a:rPr>
              <a:t>/api/bom/add-child</a:t>
            </a:r>
            <a:endParaRPr lang="en-US" sz="1200" dirty="0"/>
          </a:p>
        </p:txBody>
      </p:sp>
      <p:sp>
        <p:nvSpPr>
          <p:cNvPr id="19" name="Text 17"/>
          <p:cNvSpPr/>
          <p:nvPr/>
        </p:nvSpPr>
        <p:spPr>
          <a:xfrm>
            <a:off x="1600200" y="4059936"/>
            <a:ext cx="5623560" cy="329184"/>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Attach a child revision to a parent structure</a:t>
            </a:r>
            <a:endParaRPr lang="en-US" sz="1050" dirty="0"/>
          </a:p>
        </p:txBody>
      </p:sp>
      <p:sp>
        <p:nvSpPr>
          <p:cNvPr id="20" name="Shape 18"/>
          <p:cNvSpPr/>
          <p:nvPr/>
        </p:nvSpPr>
        <p:spPr>
          <a:xfrm>
            <a:off x="7680960" y="1828800"/>
            <a:ext cx="3867912" cy="3566160"/>
          </a:xfrm>
          <a:prstGeom prst="roundRect">
            <a:avLst>
              <a:gd name="adj" fmla="val 2308"/>
            </a:avLst>
          </a:prstGeom>
          <a:solidFill>
            <a:srgbClr val="F1F5F7"/>
          </a:solidFill>
          <a:ln w="9525">
            <a:solidFill>
              <a:srgbClr val="DDE5EA"/>
            </a:solidFill>
            <a:prstDash val="solid"/>
          </a:ln>
        </p:spPr>
      </p:sp>
      <p:sp>
        <p:nvSpPr>
          <p:cNvPr id="21" name="Text 19"/>
          <p:cNvSpPr/>
          <p:nvPr/>
        </p:nvSpPr>
        <p:spPr>
          <a:xfrm>
            <a:off x="7955280" y="2011680"/>
            <a:ext cx="3291840" cy="292608"/>
          </a:xfrm>
          <a:prstGeom prst="rect">
            <a:avLst/>
          </a:prstGeom>
          <a:noFill/>
          <a:ln/>
        </p:spPr>
        <p:txBody>
          <a:bodyPr wrap="square" lIns="0" tIns="0" rIns="0" bIns="0" rtlCol="0" anchor="ctr"/>
          <a:lstStyle/>
          <a:p>
            <a:pPr indent="0" marL="0">
              <a:buNone/>
            </a:pPr>
            <a:r>
              <a:rPr lang="en-US" sz="1400" b="1" dirty="0">
                <a:solidFill>
                  <a:srgbClr val="001034"/>
                </a:solidFill>
                <a:latin typeface="Arial" pitchFamily="34" charset="0"/>
                <a:ea typeface="Arial" pitchFamily="34" charset="-122"/>
                <a:cs typeface="Arial" pitchFamily="34" charset="-120"/>
              </a:rPr>
              <a:t>What the suite asserts</a:t>
            </a:r>
            <a:endParaRPr lang="en-US" sz="1400" dirty="0"/>
          </a:p>
        </p:txBody>
      </p:sp>
      <p:sp>
        <p:nvSpPr>
          <p:cNvPr id="22" name="Text 20"/>
          <p:cNvSpPr/>
          <p:nvPr/>
        </p:nvSpPr>
        <p:spPr>
          <a:xfrm>
            <a:off x="7955280" y="2395728"/>
            <a:ext cx="3291840" cy="2834640"/>
          </a:xfrm>
          <a:prstGeom prst="rect">
            <a:avLst/>
          </a:prstGeom>
          <a:noFill/>
          <a:ln/>
        </p:spPr>
        <p:txBody>
          <a:bodyPr wrap="square" lIns="0" tIns="0" rIns="0" bIns="0" rtlCol="0" anchor="t"/>
          <a:lstStyle/>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Status codes and response shape</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Required fields present and business values correct</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Consistent error payload from the shared error handler</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Response-time thresholds as a non-functional signal</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Health endpoint green after every deployment</a:t>
            </a:r>
            <a:endParaRPr lang="en-US" sz="1100" dirty="0"/>
          </a:p>
        </p:txBody>
      </p:sp>
      <p:sp>
        <p:nvSpPr>
          <p:cNvPr id="23" name="Text 21"/>
          <p:cNvSpPr/>
          <p:nvPr/>
        </p:nvSpPr>
        <p:spPr>
          <a:xfrm>
            <a:off x="640080" y="4800600"/>
            <a:ext cx="6675120" cy="640080"/>
          </a:xfrm>
          <a:prstGeom prst="rect">
            <a:avLst/>
          </a:prstGeom>
          <a:noFill/>
          <a:ln/>
        </p:spPr>
        <p:txBody>
          <a:bodyPr wrap="square" lIns="0" tIns="0" rIns="0" bIns="0" rtlCol="0" anchor="ctr"/>
          <a:lstStyle/>
          <a:p>
            <a:pPr indent="0" marL="0">
              <a:lnSpc>
                <a:spcPts val="1400"/>
              </a:lnSpc>
              <a:buNone/>
            </a:pPr>
            <a:r>
              <a:rPr lang="en-US" sz="1150" i="1" dirty="0">
                <a:solidFill>
                  <a:srgbClr val="007F80"/>
                </a:solidFill>
                <a:latin typeface="Calibri" pitchFamily="34" charset="0"/>
                <a:ea typeface="Calibri" pitchFamily="34" charset="-122"/>
                <a:cs typeface="Calibri" pitchFamily="34" charset="-120"/>
              </a:rPr>
              <a:t>The gateway keeps Teamcenter and Active Workspace standard while still allowing custom operations — and gives every client one place where auth complexity is solved.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 · UI</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Layer 4 — Active Workspace UI</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Specifications are written in business language and backed by page objects, so the scenario survives a client update even when the DOM changes.</a:t>
            </a:r>
            <a:endParaRPr lang="en-US" sz="1350" dirty="0"/>
          </a:p>
        </p:txBody>
      </p:sp>
      <p:sp>
        <p:nvSpPr>
          <p:cNvPr id="5" name="Shape 3"/>
          <p:cNvSpPr/>
          <p:nvPr/>
        </p:nvSpPr>
        <p:spPr>
          <a:xfrm>
            <a:off x="640080" y="1783080"/>
            <a:ext cx="2587752" cy="1691640"/>
          </a:xfrm>
          <a:prstGeom prst="roundRect">
            <a:avLst>
              <a:gd name="adj" fmla="val 4865"/>
            </a:avLst>
          </a:prstGeom>
          <a:solidFill>
            <a:srgbClr val="001034"/>
          </a:solidFill>
          <a:ln w="9525">
            <a:solidFill>
              <a:srgbClr val="001034"/>
            </a:solidFill>
            <a:prstDash val="solid"/>
          </a:ln>
          <a:effectLst>
            <a:outerShdw sx="100000" sy="100000" kx="0" ky="0" algn="bl" rotWithShape="0" blurRad="127000" dist="25400" dir="5400000">
              <a:srgbClr val="0A1E4A">
                <a:alpha val="13000"/>
              </a:srgbClr>
            </a:outerShdw>
          </a:effectLst>
        </p:spPr>
      </p:sp>
      <p:sp>
        <p:nvSpPr>
          <p:cNvPr id="6" name="Text 4"/>
          <p:cNvSpPr/>
          <p:nvPr/>
        </p:nvSpPr>
        <p:spPr>
          <a:xfrm>
            <a:off x="841248" y="1965960"/>
            <a:ext cx="2194560" cy="292608"/>
          </a:xfrm>
          <a:prstGeom prst="rect">
            <a:avLst/>
          </a:prstGeom>
          <a:noFill/>
          <a:ln/>
        </p:spPr>
        <p:txBody>
          <a:bodyPr wrap="square" lIns="0" tIns="0" rIns="0" bIns="0" rtlCol="0" anchor="ctr"/>
          <a:lstStyle/>
          <a:p>
            <a:pPr indent="0" marL="0">
              <a:buNone/>
            </a:pPr>
            <a:r>
              <a:rPr lang="en-US" sz="1300" b="1" dirty="0">
                <a:solidFill>
                  <a:srgbClr val="00E1A0"/>
                </a:solidFill>
                <a:latin typeface="Arial" pitchFamily="34" charset="0"/>
                <a:ea typeface="Arial" pitchFamily="34" charset="-122"/>
                <a:cs typeface="Arial" pitchFamily="34" charset="-120"/>
              </a:rPr>
              <a:t>Specification</a:t>
            </a:r>
            <a:endParaRPr lang="en-US" sz="1300" dirty="0"/>
          </a:p>
        </p:txBody>
      </p:sp>
      <p:sp>
        <p:nvSpPr>
          <p:cNvPr id="7" name="Text 5"/>
          <p:cNvSpPr/>
          <p:nvPr/>
        </p:nvSpPr>
        <p:spPr>
          <a:xfrm>
            <a:off x="841248" y="2304288"/>
            <a:ext cx="2194560" cy="1005840"/>
          </a:xfrm>
          <a:prstGeom prst="rect">
            <a:avLst/>
          </a:prstGeom>
          <a:noFill/>
          <a:ln/>
        </p:spPr>
        <p:txBody>
          <a:bodyPr wrap="square" lIns="0" tIns="0" rIns="0" bIns="0" rtlCol="0" anchor="ctr"/>
          <a:lstStyle/>
          <a:p>
            <a:pPr indent="0" marL="0">
              <a:lnSpc>
                <a:spcPts val="1300"/>
              </a:lnSpc>
              <a:buNone/>
            </a:pPr>
            <a:r>
              <a:rPr lang="en-US" sz="1050" dirty="0">
                <a:solidFill>
                  <a:srgbClr val="CFDCE6"/>
                </a:solidFill>
                <a:latin typeface="Calibri" pitchFamily="34" charset="0"/>
                <a:ea typeface="Calibri" pitchFamily="34" charset="-122"/>
                <a:cs typeface="Calibri" pitchFamily="34" charset="-120"/>
              </a:rPr>
              <a:t>Business-readable scenario steps, reviewable by a functional lead</a:t>
            </a:r>
            <a:endParaRPr lang="en-US" sz="1050" dirty="0"/>
          </a:p>
        </p:txBody>
      </p:sp>
      <p:sp>
        <p:nvSpPr>
          <p:cNvPr id="8" name="Shape 6"/>
          <p:cNvSpPr/>
          <p:nvPr/>
        </p:nvSpPr>
        <p:spPr>
          <a:xfrm>
            <a:off x="3236976" y="2468880"/>
            <a:ext cx="155448" cy="292608"/>
          </a:xfrm>
          <a:prstGeom prst="chevron">
            <a:avLst/>
          </a:prstGeom>
          <a:solidFill>
            <a:srgbClr val="9FB3C2"/>
          </a:solidFill>
          <a:ln w="12700">
            <a:solidFill>
              <a:srgbClr val="9FB3C2"/>
            </a:solidFill>
            <a:prstDash val="solid"/>
          </a:ln>
        </p:spPr>
      </p:sp>
      <p:sp>
        <p:nvSpPr>
          <p:cNvPr id="9" name="Shape 7"/>
          <p:cNvSpPr/>
          <p:nvPr/>
        </p:nvSpPr>
        <p:spPr>
          <a:xfrm>
            <a:off x="3410712" y="1783080"/>
            <a:ext cx="2587752" cy="1691640"/>
          </a:xfrm>
          <a:prstGeom prst="roundRect">
            <a:avLst>
              <a:gd name="adj" fmla="val 486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Text 8"/>
          <p:cNvSpPr/>
          <p:nvPr/>
        </p:nvSpPr>
        <p:spPr>
          <a:xfrm>
            <a:off x="3611880" y="1965960"/>
            <a:ext cx="2194560" cy="292608"/>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Step implementation</a:t>
            </a:r>
            <a:endParaRPr lang="en-US" sz="1300" dirty="0"/>
          </a:p>
        </p:txBody>
      </p:sp>
      <p:sp>
        <p:nvSpPr>
          <p:cNvPr id="11" name="Text 9"/>
          <p:cNvSpPr/>
          <p:nvPr/>
        </p:nvSpPr>
        <p:spPr>
          <a:xfrm>
            <a:off x="3611880" y="2304288"/>
            <a:ext cx="2194560" cy="10058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Groovy binding each sentence to an action on a page object</a:t>
            </a:r>
            <a:endParaRPr lang="en-US" sz="1050" dirty="0"/>
          </a:p>
        </p:txBody>
      </p:sp>
      <p:sp>
        <p:nvSpPr>
          <p:cNvPr id="12" name="Shape 10"/>
          <p:cNvSpPr/>
          <p:nvPr/>
        </p:nvSpPr>
        <p:spPr>
          <a:xfrm>
            <a:off x="6007608" y="2468880"/>
            <a:ext cx="155448" cy="292608"/>
          </a:xfrm>
          <a:prstGeom prst="chevron">
            <a:avLst/>
          </a:prstGeom>
          <a:solidFill>
            <a:srgbClr val="9FB3C2"/>
          </a:solidFill>
          <a:ln w="12700">
            <a:solidFill>
              <a:srgbClr val="9FB3C2"/>
            </a:solidFill>
            <a:prstDash val="solid"/>
          </a:ln>
        </p:spPr>
      </p:sp>
      <p:sp>
        <p:nvSpPr>
          <p:cNvPr id="13" name="Shape 11"/>
          <p:cNvSpPr/>
          <p:nvPr/>
        </p:nvSpPr>
        <p:spPr>
          <a:xfrm>
            <a:off x="6181344" y="1783080"/>
            <a:ext cx="2587752" cy="1691640"/>
          </a:xfrm>
          <a:prstGeom prst="roundRect">
            <a:avLst>
              <a:gd name="adj" fmla="val 486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4" name="Text 12"/>
          <p:cNvSpPr/>
          <p:nvPr/>
        </p:nvSpPr>
        <p:spPr>
          <a:xfrm>
            <a:off x="6382512" y="1965960"/>
            <a:ext cx="2194560" cy="292608"/>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Page object</a:t>
            </a:r>
            <a:endParaRPr lang="en-US" sz="1300" dirty="0"/>
          </a:p>
        </p:txBody>
      </p:sp>
      <p:sp>
        <p:nvSpPr>
          <p:cNvPr id="15" name="Text 13"/>
          <p:cNvSpPr/>
          <p:nvPr/>
        </p:nvSpPr>
        <p:spPr>
          <a:xfrm>
            <a:off x="6382512" y="2304288"/>
            <a:ext cx="2194560" cy="10058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One class per screen, owning that screen's selectors</a:t>
            </a:r>
            <a:endParaRPr lang="en-US" sz="1050" dirty="0"/>
          </a:p>
        </p:txBody>
      </p:sp>
      <p:sp>
        <p:nvSpPr>
          <p:cNvPr id="16" name="Shape 14"/>
          <p:cNvSpPr/>
          <p:nvPr/>
        </p:nvSpPr>
        <p:spPr>
          <a:xfrm>
            <a:off x="8778240" y="2468880"/>
            <a:ext cx="155448" cy="292608"/>
          </a:xfrm>
          <a:prstGeom prst="chevron">
            <a:avLst/>
          </a:prstGeom>
          <a:solidFill>
            <a:srgbClr val="9FB3C2"/>
          </a:solidFill>
          <a:ln w="12700">
            <a:solidFill>
              <a:srgbClr val="9FB3C2"/>
            </a:solidFill>
            <a:prstDash val="solid"/>
          </a:ln>
        </p:spPr>
      </p:sp>
      <p:sp>
        <p:nvSpPr>
          <p:cNvPr id="17" name="Shape 15"/>
          <p:cNvSpPr/>
          <p:nvPr/>
        </p:nvSpPr>
        <p:spPr>
          <a:xfrm>
            <a:off x="8951976" y="1783080"/>
            <a:ext cx="2587752" cy="1691640"/>
          </a:xfrm>
          <a:prstGeom prst="roundRect">
            <a:avLst>
              <a:gd name="adj" fmla="val 486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8" name="Text 16"/>
          <p:cNvSpPr/>
          <p:nvPr/>
        </p:nvSpPr>
        <p:spPr>
          <a:xfrm>
            <a:off x="9153144" y="1965960"/>
            <a:ext cx="2194560" cy="292608"/>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Browser</a:t>
            </a:r>
            <a:endParaRPr lang="en-US" sz="1300" dirty="0"/>
          </a:p>
        </p:txBody>
      </p:sp>
      <p:sp>
        <p:nvSpPr>
          <p:cNvPr id="19" name="Text 17"/>
          <p:cNvSpPr/>
          <p:nvPr/>
        </p:nvSpPr>
        <p:spPr>
          <a:xfrm>
            <a:off x="9153144" y="2304288"/>
            <a:ext cx="2194560" cy="100584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Chrome, Firefox or Edge — headless in CI, visible for debugging</a:t>
            </a:r>
            <a:endParaRPr lang="en-US" sz="1050" dirty="0"/>
          </a:p>
        </p:txBody>
      </p:sp>
      <p:sp>
        <p:nvSpPr>
          <p:cNvPr id="20" name="Shape 18"/>
          <p:cNvSpPr/>
          <p:nvPr/>
        </p:nvSpPr>
        <p:spPr>
          <a:xfrm>
            <a:off x="640080" y="3703320"/>
            <a:ext cx="3429000" cy="1600200"/>
          </a:xfrm>
          <a:prstGeom prst="roundRect">
            <a:avLst>
              <a:gd name="adj" fmla="val 5143"/>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1" name="Shape 19"/>
          <p:cNvSpPr/>
          <p:nvPr/>
        </p:nvSpPr>
        <p:spPr>
          <a:xfrm>
            <a:off x="877824" y="3913632"/>
            <a:ext cx="512064" cy="512064"/>
          </a:xfrm>
          <a:prstGeom prst="ellipse">
            <a:avLst/>
          </a:prstGeom>
          <a:solidFill>
            <a:srgbClr val="001034"/>
          </a:solidFill>
          <a:ln w="12700">
            <a:solidFill>
              <a:srgbClr val="001034"/>
            </a:solidFill>
            <a:prstDash val="solid"/>
          </a:ln>
        </p:spPr>
      </p:sp>
      <p:pic>
        <p:nvPicPr>
          <p:cNvPr id="22" name="Image 0" descr="preencoded.png">    </p:cNvPr>
          <p:cNvPicPr>
            <a:picLocks noChangeAspect="1"/>
          </p:cNvPicPr>
          <p:nvPr/>
        </p:nvPicPr>
        <p:blipFill>
          <a:blip r:embed="rId1"/>
          <a:stretch>
            <a:fillRect/>
          </a:stretch>
        </p:blipFill>
        <p:spPr>
          <a:xfrm>
            <a:off x="1000719" y="4036527"/>
            <a:ext cx="266273" cy="266273"/>
          </a:xfrm>
          <a:prstGeom prst="rect">
            <a:avLst/>
          </a:prstGeom>
        </p:spPr>
      </p:pic>
      <p:sp>
        <p:nvSpPr>
          <p:cNvPr id="23" name="Text 20"/>
          <p:cNvSpPr/>
          <p:nvPr/>
        </p:nvSpPr>
        <p:spPr>
          <a:xfrm>
            <a:off x="1481328" y="3950208"/>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Screenshots on failure</a:t>
            </a:r>
            <a:endParaRPr lang="en-US" sz="1250" dirty="0"/>
          </a:p>
        </p:txBody>
      </p:sp>
      <p:sp>
        <p:nvSpPr>
          <p:cNvPr id="24" name="Text 21"/>
          <p:cNvSpPr/>
          <p:nvPr/>
        </p:nvSpPr>
        <p:spPr>
          <a:xfrm>
            <a:off x="877824" y="4535424"/>
            <a:ext cx="3017520" cy="68580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Captured automatically and kept with the run as evidence</a:t>
            </a:r>
            <a:endParaRPr lang="en-US" sz="1050" dirty="0"/>
          </a:p>
        </p:txBody>
      </p:sp>
      <p:sp>
        <p:nvSpPr>
          <p:cNvPr id="25" name="Shape 22"/>
          <p:cNvSpPr/>
          <p:nvPr/>
        </p:nvSpPr>
        <p:spPr>
          <a:xfrm>
            <a:off x="4343400" y="3703320"/>
            <a:ext cx="3429000" cy="1600200"/>
          </a:xfrm>
          <a:prstGeom prst="roundRect">
            <a:avLst>
              <a:gd name="adj" fmla="val 5143"/>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6" name="Shape 23"/>
          <p:cNvSpPr/>
          <p:nvPr/>
        </p:nvSpPr>
        <p:spPr>
          <a:xfrm>
            <a:off x="4581144" y="3913632"/>
            <a:ext cx="512064" cy="512064"/>
          </a:xfrm>
          <a:prstGeom prst="ellipse">
            <a:avLst/>
          </a:prstGeom>
          <a:solidFill>
            <a:srgbClr val="001034"/>
          </a:solidFill>
          <a:ln w="12700">
            <a:solidFill>
              <a:srgbClr val="001034"/>
            </a:solidFill>
            <a:prstDash val="solid"/>
          </a:ln>
        </p:spPr>
      </p:sp>
      <p:pic>
        <p:nvPicPr>
          <p:cNvPr id="27" name="Image 1" descr="preencoded.png">    </p:cNvPr>
          <p:cNvPicPr>
            <a:picLocks noChangeAspect="1"/>
          </p:cNvPicPr>
          <p:nvPr/>
        </p:nvPicPr>
        <p:blipFill>
          <a:blip r:embed="rId2"/>
          <a:stretch>
            <a:fillRect/>
          </a:stretch>
        </p:blipFill>
        <p:spPr>
          <a:xfrm>
            <a:off x="4704039" y="4036527"/>
            <a:ext cx="266273" cy="266273"/>
          </a:xfrm>
          <a:prstGeom prst="rect">
            <a:avLst/>
          </a:prstGeom>
        </p:spPr>
      </p:pic>
      <p:sp>
        <p:nvSpPr>
          <p:cNvPr id="28" name="Text 24"/>
          <p:cNvSpPr/>
          <p:nvPr/>
        </p:nvSpPr>
        <p:spPr>
          <a:xfrm>
            <a:off x="5184648" y="3950208"/>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Layered environments</a:t>
            </a:r>
            <a:endParaRPr lang="en-US" sz="1250" dirty="0"/>
          </a:p>
        </p:txBody>
      </p:sp>
      <p:sp>
        <p:nvSpPr>
          <p:cNvPr id="29" name="Text 25"/>
          <p:cNvSpPr/>
          <p:nvPr/>
        </p:nvSpPr>
        <p:spPr>
          <a:xfrm>
            <a:off x="4581144" y="4535424"/>
            <a:ext cx="3017520" cy="68580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A named environment overrides only the keys that differ from the default</a:t>
            </a:r>
            <a:endParaRPr lang="en-US" sz="1050" dirty="0"/>
          </a:p>
        </p:txBody>
      </p:sp>
      <p:sp>
        <p:nvSpPr>
          <p:cNvPr id="30" name="Shape 26"/>
          <p:cNvSpPr/>
          <p:nvPr/>
        </p:nvSpPr>
        <p:spPr>
          <a:xfrm>
            <a:off x="8046720" y="3703320"/>
            <a:ext cx="3429000" cy="1600200"/>
          </a:xfrm>
          <a:prstGeom prst="roundRect">
            <a:avLst>
              <a:gd name="adj" fmla="val 5143"/>
            </a:avLst>
          </a:prstGeom>
          <a:solidFill>
            <a:srgbClr val="F1F5F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31" name="Shape 27"/>
          <p:cNvSpPr/>
          <p:nvPr/>
        </p:nvSpPr>
        <p:spPr>
          <a:xfrm>
            <a:off x="8284464" y="3913632"/>
            <a:ext cx="512064" cy="512064"/>
          </a:xfrm>
          <a:prstGeom prst="ellipse">
            <a:avLst/>
          </a:prstGeom>
          <a:solidFill>
            <a:srgbClr val="001034"/>
          </a:solidFill>
          <a:ln w="12700">
            <a:solidFill>
              <a:srgbClr val="001034"/>
            </a:solidFill>
            <a:prstDash val="solid"/>
          </a:ln>
        </p:spPr>
      </p:sp>
      <p:pic>
        <p:nvPicPr>
          <p:cNvPr id="32" name="Image 2" descr="preencoded.png">    </p:cNvPr>
          <p:cNvPicPr>
            <a:picLocks noChangeAspect="1"/>
          </p:cNvPicPr>
          <p:nvPr/>
        </p:nvPicPr>
        <p:blipFill>
          <a:blip r:embed="rId3"/>
          <a:stretch>
            <a:fillRect/>
          </a:stretch>
        </p:blipFill>
        <p:spPr>
          <a:xfrm>
            <a:off x="8407359" y="4036527"/>
            <a:ext cx="266273" cy="266273"/>
          </a:xfrm>
          <a:prstGeom prst="rect">
            <a:avLst/>
          </a:prstGeom>
        </p:spPr>
      </p:pic>
      <p:sp>
        <p:nvSpPr>
          <p:cNvPr id="33" name="Text 28"/>
          <p:cNvSpPr/>
          <p:nvPr/>
        </p:nvSpPr>
        <p:spPr>
          <a:xfrm>
            <a:off x="8887968" y="3950208"/>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Encrypted credentials</a:t>
            </a:r>
            <a:endParaRPr lang="en-US" sz="1250" dirty="0"/>
          </a:p>
        </p:txBody>
      </p:sp>
      <p:sp>
        <p:nvSpPr>
          <p:cNvPr id="34" name="Text 29"/>
          <p:cNvSpPr/>
          <p:nvPr/>
        </p:nvSpPr>
        <p:spPr>
          <a:xfrm>
            <a:off x="8284464" y="4535424"/>
            <a:ext cx="3017520" cy="68580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Passwords stored as AES-256/GCM ciphertext, decrypted at runtime from a CI-held key</a:t>
            </a:r>
            <a:endParaRPr lang="en-US" sz="1050" dirty="0"/>
          </a:p>
        </p:txBody>
      </p:sp>
      <p:sp>
        <p:nvSpPr>
          <p:cNvPr id="35" name="Text 30"/>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Today the suite covers the sign-in journey against the native Active Workspace sign-in form; instances fronted by corporate SSO need their own page object.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SCOPE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The scenario catalogue</a:t>
            </a:r>
            <a:endParaRPr lang="en-US" sz="2900" dirty="0"/>
          </a:p>
        </p:txBody>
      </p:sp>
      <p:sp>
        <p:nvSpPr>
          <p:cNvPr id="4" name="Text 2"/>
          <p:cNvSpPr/>
          <p:nvPr/>
        </p:nvSpPr>
        <p:spPr>
          <a:xfrm>
            <a:off x="640080" y="1316736"/>
            <a:ext cx="10881360" cy="365760"/>
          </a:xfrm>
          <a:prstGeom prst="rect">
            <a:avLst/>
          </a:prstGeom>
          <a:noFill/>
          <a:ln/>
        </p:spPr>
        <p:txBody>
          <a:bodyPr wrap="square" lIns="0" tIns="0" rIns="0" bIns="0" rtlCol="0" anchor="ctr"/>
          <a:lstStyle/>
          <a:p>
            <a:pPr indent="0" marL="0">
              <a:buNone/>
            </a:pPr>
            <a:r>
              <a:rPr lang="en-US" sz="1300" dirty="0">
                <a:solidFill>
                  <a:srgbClr val="5A6672"/>
                </a:solidFill>
                <a:latin typeface="Calibri" pitchFamily="34" charset="0"/>
                <a:ea typeface="Calibri" pitchFamily="34" charset="-122"/>
                <a:cs typeface="Calibri" pitchFamily="34" charset="-120"/>
              </a:rPr>
              <a:t>Six business scenarios carry most of the upgrade risk. Each is covered at the lowest layer that can prove it, and again through the UI only where the client itself is the thing under test.</a:t>
            </a:r>
            <a:endParaRPr lang="en-US" sz="1300" dirty="0"/>
          </a:p>
        </p:txBody>
      </p:sp>
      <p:sp>
        <p:nvSpPr>
          <p:cNvPr id="5" name="Text 3"/>
          <p:cNvSpPr/>
          <p:nvPr/>
        </p:nvSpPr>
        <p:spPr>
          <a:xfrm>
            <a:off x="5806440" y="1828800"/>
            <a:ext cx="1325880" cy="256032"/>
          </a:xfrm>
          <a:prstGeom prst="rect">
            <a:avLst/>
          </a:prstGeom>
          <a:noFill/>
          <a:ln/>
        </p:spPr>
        <p:txBody>
          <a:bodyPr wrap="square" lIns="0" tIns="0" rIns="0" bIns="0" rtlCol="0" anchor="ctr"/>
          <a:lstStyle/>
          <a:p>
            <a:pPr algn="ctr" indent="0" marL="0">
              <a:buNone/>
            </a:pPr>
            <a:r>
              <a:rPr lang="en-US" sz="1050" b="1" dirty="0">
                <a:solidFill>
                  <a:srgbClr val="5A6672"/>
                </a:solidFill>
                <a:latin typeface="Arial" pitchFamily="34" charset="0"/>
                <a:ea typeface="Arial" pitchFamily="34" charset="-122"/>
                <a:cs typeface="Arial" pitchFamily="34" charset="-120"/>
              </a:rPr>
              <a:t>OOTB REST</a:t>
            </a:r>
            <a:endParaRPr lang="en-US" sz="1050" dirty="0"/>
          </a:p>
        </p:txBody>
      </p:sp>
      <p:sp>
        <p:nvSpPr>
          <p:cNvPr id="6" name="Text 4"/>
          <p:cNvSpPr/>
          <p:nvPr/>
        </p:nvSpPr>
        <p:spPr>
          <a:xfrm>
            <a:off x="7269480" y="1828800"/>
            <a:ext cx="1325880" cy="256032"/>
          </a:xfrm>
          <a:prstGeom prst="rect">
            <a:avLst/>
          </a:prstGeom>
          <a:noFill/>
          <a:ln/>
        </p:spPr>
        <p:txBody>
          <a:bodyPr wrap="square" lIns="0" tIns="0" rIns="0" bIns="0" rtlCol="0" anchor="ctr"/>
          <a:lstStyle/>
          <a:p>
            <a:pPr algn="ctr" indent="0" marL="0">
              <a:buNone/>
            </a:pPr>
            <a:r>
              <a:rPr lang="en-US" sz="1050" b="1" dirty="0">
                <a:solidFill>
                  <a:srgbClr val="5A6672"/>
                </a:solidFill>
                <a:latin typeface="Arial" pitchFamily="34" charset="0"/>
                <a:ea typeface="Arial" pitchFamily="34" charset="-122"/>
                <a:cs typeface="Arial" pitchFamily="34" charset="-120"/>
              </a:rPr>
              <a:t>Gateway API</a:t>
            </a:r>
            <a:endParaRPr lang="en-US" sz="1050" dirty="0"/>
          </a:p>
        </p:txBody>
      </p:sp>
      <p:sp>
        <p:nvSpPr>
          <p:cNvPr id="7" name="Text 5"/>
          <p:cNvSpPr/>
          <p:nvPr/>
        </p:nvSpPr>
        <p:spPr>
          <a:xfrm>
            <a:off x="8732520" y="1828800"/>
            <a:ext cx="1325880" cy="256032"/>
          </a:xfrm>
          <a:prstGeom prst="rect">
            <a:avLst/>
          </a:prstGeom>
          <a:noFill/>
          <a:ln/>
        </p:spPr>
        <p:txBody>
          <a:bodyPr wrap="square" lIns="0" tIns="0" rIns="0" bIns="0" rtlCol="0" anchor="ctr"/>
          <a:lstStyle/>
          <a:p>
            <a:pPr algn="ctr" indent="0" marL="0">
              <a:buNone/>
            </a:pPr>
            <a:r>
              <a:rPr lang="en-US" sz="1050" b="1" dirty="0">
                <a:solidFill>
                  <a:srgbClr val="5A6672"/>
                </a:solidFill>
                <a:latin typeface="Arial" pitchFamily="34" charset="0"/>
                <a:ea typeface="Arial" pitchFamily="34" charset="-122"/>
                <a:cs typeface="Arial" pitchFamily="34" charset="-120"/>
              </a:rPr>
              <a:t>AW UI</a:t>
            </a:r>
            <a:endParaRPr lang="en-US" sz="1050" dirty="0"/>
          </a:p>
        </p:txBody>
      </p:sp>
      <p:sp>
        <p:nvSpPr>
          <p:cNvPr id="8" name="Text 6"/>
          <p:cNvSpPr/>
          <p:nvPr/>
        </p:nvSpPr>
        <p:spPr>
          <a:xfrm>
            <a:off x="10195560" y="1828800"/>
            <a:ext cx="1325880" cy="256032"/>
          </a:xfrm>
          <a:prstGeom prst="rect">
            <a:avLst/>
          </a:prstGeom>
          <a:noFill/>
          <a:ln/>
        </p:spPr>
        <p:txBody>
          <a:bodyPr wrap="square" lIns="0" tIns="0" rIns="0" bIns="0" rtlCol="0" anchor="ctr"/>
          <a:lstStyle/>
          <a:p>
            <a:pPr algn="ctr" indent="0" marL="0">
              <a:buNone/>
            </a:pPr>
            <a:r>
              <a:rPr lang="en-US" sz="1050" b="1" dirty="0">
                <a:solidFill>
                  <a:srgbClr val="5A6672"/>
                </a:solidFill>
                <a:latin typeface="Arial" pitchFamily="34" charset="0"/>
                <a:ea typeface="Arial" pitchFamily="34" charset="-122"/>
                <a:cs typeface="Arial" pitchFamily="34" charset="-120"/>
              </a:rPr>
              <a:t>Priority</a:t>
            </a:r>
            <a:endParaRPr lang="en-US" sz="1050" dirty="0"/>
          </a:p>
        </p:txBody>
      </p:sp>
      <p:sp>
        <p:nvSpPr>
          <p:cNvPr id="9" name="Shape 7"/>
          <p:cNvSpPr/>
          <p:nvPr/>
        </p:nvSpPr>
        <p:spPr>
          <a:xfrm>
            <a:off x="640080" y="2139696"/>
            <a:ext cx="10908792" cy="585216"/>
          </a:xfrm>
          <a:prstGeom prst="roundRect">
            <a:avLst>
              <a:gd name="adj" fmla="val 10938"/>
            </a:avLst>
          </a:prstGeom>
          <a:solidFill>
            <a:srgbClr val="F1F5F7"/>
          </a:solidFill>
          <a:ln w="9525">
            <a:solidFill>
              <a:srgbClr val="E4EAEE"/>
            </a:solidFill>
            <a:prstDash val="solid"/>
          </a:ln>
        </p:spPr>
      </p:sp>
      <p:sp>
        <p:nvSpPr>
          <p:cNvPr id="10" name="Text 8"/>
          <p:cNvSpPr/>
          <p:nvPr/>
        </p:nvSpPr>
        <p:spPr>
          <a:xfrm>
            <a:off x="859536" y="2194560"/>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Create objects</a:t>
            </a:r>
            <a:endParaRPr lang="en-US" sz="1250" dirty="0"/>
          </a:p>
        </p:txBody>
      </p:sp>
      <p:sp>
        <p:nvSpPr>
          <p:cNvPr id="11" name="Text 9"/>
          <p:cNvSpPr/>
          <p:nvPr/>
        </p:nvSpPr>
        <p:spPr>
          <a:xfrm>
            <a:off x="859536" y="2441448"/>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Items, revisions and documents with the correct type and ID rules</a:t>
            </a:r>
            <a:endParaRPr lang="en-US" sz="1000" dirty="0"/>
          </a:p>
        </p:txBody>
      </p:sp>
      <p:sp>
        <p:nvSpPr>
          <p:cNvPr id="12" name="Shape 10"/>
          <p:cNvSpPr/>
          <p:nvPr/>
        </p:nvSpPr>
        <p:spPr>
          <a:xfrm>
            <a:off x="6035040" y="2286000"/>
            <a:ext cx="868680" cy="292608"/>
          </a:xfrm>
          <a:prstGeom prst="roundRect">
            <a:avLst>
              <a:gd name="adj" fmla="val 50000"/>
            </a:avLst>
          </a:prstGeom>
          <a:solidFill>
            <a:srgbClr val="007F80"/>
          </a:solidFill>
          <a:ln/>
        </p:spPr>
      </p:sp>
      <p:sp>
        <p:nvSpPr>
          <p:cNvPr id="13" name="Text 11"/>
          <p:cNvSpPr/>
          <p:nvPr/>
        </p:nvSpPr>
        <p:spPr>
          <a:xfrm>
            <a:off x="6035040" y="2286000"/>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Have</a:t>
            </a:r>
            <a:endParaRPr lang="en-US" sz="900" dirty="0"/>
          </a:p>
        </p:txBody>
      </p:sp>
      <p:sp>
        <p:nvSpPr>
          <p:cNvPr id="14" name="Shape 12"/>
          <p:cNvSpPr/>
          <p:nvPr/>
        </p:nvSpPr>
        <p:spPr>
          <a:xfrm>
            <a:off x="7498080" y="2286000"/>
            <a:ext cx="868680" cy="292608"/>
          </a:xfrm>
          <a:prstGeom prst="roundRect">
            <a:avLst>
              <a:gd name="adj" fmla="val 50000"/>
            </a:avLst>
          </a:prstGeom>
          <a:solidFill>
            <a:srgbClr val="007F80"/>
          </a:solidFill>
          <a:ln/>
        </p:spPr>
      </p:sp>
      <p:sp>
        <p:nvSpPr>
          <p:cNvPr id="15" name="Text 13"/>
          <p:cNvSpPr/>
          <p:nvPr/>
        </p:nvSpPr>
        <p:spPr>
          <a:xfrm>
            <a:off x="7498080" y="2286000"/>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Have</a:t>
            </a:r>
            <a:endParaRPr lang="en-US" sz="900" dirty="0"/>
          </a:p>
        </p:txBody>
      </p:sp>
      <p:sp>
        <p:nvSpPr>
          <p:cNvPr id="16" name="Shape 14"/>
          <p:cNvSpPr/>
          <p:nvPr/>
        </p:nvSpPr>
        <p:spPr>
          <a:xfrm>
            <a:off x="8961120" y="2286000"/>
            <a:ext cx="868680" cy="292608"/>
          </a:xfrm>
          <a:prstGeom prst="roundRect">
            <a:avLst>
              <a:gd name="adj" fmla="val 50000"/>
            </a:avLst>
          </a:prstGeom>
          <a:solidFill>
            <a:srgbClr val="0A1E4A"/>
          </a:solidFill>
          <a:ln/>
        </p:spPr>
      </p:sp>
      <p:sp>
        <p:nvSpPr>
          <p:cNvPr id="17" name="Text 15"/>
          <p:cNvSpPr/>
          <p:nvPr/>
        </p:nvSpPr>
        <p:spPr>
          <a:xfrm>
            <a:off x="8961120" y="2286000"/>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18" name="Text 16"/>
          <p:cNvSpPr/>
          <p:nvPr/>
        </p:nvSpPr>
        <p:spPr>
          <a:xfrm>
            <a:off x="10195560" y="2286000"/>
            <a:ext cx="1325880" cy="292608"/>
          </a:xfrm>
          <a:prstGeom prst="rect">
            <a:avLst/>
          </a:prstGeom>
          <a:noFill/>
          <a:ln/>
        </p:spPr>
        <p:txBody>
          <a:bodyPr wrap="square" lIns="0" tIns="0" rIns="0" bIns="0" rtlCol="0" anchor="ctr"/>
          <a:lstStyle/>
          <a:p>
            <a:pPr algn="ctr" indent="0" marL="0">
              <a:buNone/>
            </a:pPr>
            <a:r>
              <a:rPr lang="en-US" sz="1200" b="1" dirty="0">
                <a:solidFill>
                  <a:srgbClr val="007F80"/>
                </a:solidFill>
                <a:latin typeface="Arial" pitchFamily="34" charset="0"/>
                <a:ea typeface="Arial" pitchFamily="34" charset="-122"/>
                <a:cs typeface="Arial" pitchFamily="34" charset="-120"/>
              </a:rPr>
              <a:t>P1</a:t>
            </a:r>
            <a:endParaRPr lang="en-US" sz="1200" dirty="0"/>
          </a:p>
        </p:txBody>
      </p:sp>
      <p:sp>
        <p:nvSpPr>
          <p:cNvPr id="19" name="Shape 17"/>
          <p:cNvSpPr/>
          <p:nvPr/>
        </p:nvSpPr>
        <p:spPr>
          <a:xfrm>
            <a:off x="640080" y="2798064"/>
            <a:ext cx="10908792" cy="585216"/>
          </a:xfrm>
          <a:prstGeom prst="roundRect">
            <a:avLst>
              <a:gd name="adj" fmla="val 10938"/>
            </a:avLst>
          </a:prstGeom>
          <a:solidFill>
            <a:srgbClr val="FFFFFF"/>
          </a:solidFill>
          <a:ln w="9525">
            <a:solidFill>
              <a:srgbClr val="E4EAEE"/>
            </a:solidFill>
            <a:prstDash val="solid"/>
          </a:ln>
        </p:spPr>
      </p:sp>
      <p:sp>
        <p:nvSpPr>
          <p:cNvPr id="20" name="Text 18"/>
          <p:cNvSpPr/>
          <p:nvPr/>
        </p:nvSpPr>
        <p:spPr>
          <a:xfrm>
            <a:off x="859536" y="2852928"/>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Edit properties</a:t>
            </a:r>
            <a:endParaRPr lang="en-US" sz="1250" dirty="0"/>
          </a:p>
        </p:txBody>
      </p:sp>
      <p:sp>
        <p:nvSpPr>
          <p:cNvPr id="21" name="Text 19"/>
          <p:cNvSpPr/>
          <p:nvPr/>
        </p:nvSpPr>
        <p:spPr>
          <a:xfrm>
            <a:off x="859536" y="3099816"/>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Start edit, modify, save and cancel across single and multi-select</a:t>
            </a:r>
            <a:endParaRPr lang="en-US" sz="1000" dirty="0"/>
          </a:p>
        </p:txBody>
      </p:sp>
      <p:sp>
        <p:nvSpPr>
          <p:cNvPr id="22" name="Shape 20"/>
          <p:cNvSpPr/>
          <p:nvPr/>
        </p:nvSpPr>
        <p:spPr>
          <a:xfrm>
            <a:off x="6035040" y="2944368"/>
            <a:ext cx="868680" cy="292608"/>
          </a:xfrm>
          <a:prstGeom prst="roundRect">
            <a:avLst>
              <a:gd name="adj" fmla="val 50000"/>
            </a:avLst>
          </a:prstGeom>
          <a:solidFill>
            <a:srgbClr val="0A1E4A"/>
          </a:solidFill>
          <a:ln/>
        </p:spPr>
      </p:sp>
      <p:sp>
        <p:nvSpPr>
          <p:cNvPr id="23" name="Text 21"/>
          <p:cNvSpPr/>
          <p:nvPr/>
        </p:nvSpPr>
        <p:spPr>
          <a:xfrm>
            <a:off x="6035040" y="2944368"/>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24" name="Shape 22"/>
          <p:cNvSpPr/>
          <p:nvPr/>
        </p:nvSpPr>
        <p:spPr>
          <a:xfrm>
            <a:off x="7498080" y="2944368"/>
            <a:ext cx="868680" cy="292608"/>
          </a:xfrm>
          <a:prstGeom prst="roundRect">
            <a:avLst>
              <a:gd name="adj" fmla="val 50000"/>
            </a:avLst>
          </a:prstGeom>
          <a:solidFill>
            <a:srgbClr val="C9D6DE"/>
          </a:solidFill>
          <a:ln/>
        </p:spPr>
      </p:sp>
      <p:sp>
        <p:nvSpPr>
          <p:cNvPr id="25" name="Text 23"/>
          <p:cNvSpPr/>
          <p:nvPr/>
        </p:nvSpPr>
        <p:spPr>
          <a:xfrm>
            <a:off x="7498080" y="2944368"/>
            <a:ext cx="868680" cy="292608"/>
          </a:xfrm>
          <a:prstGeom prst="rect">
            <a:avLst/>
          </a:prstGeom>
          <a:noFill/>
          <a:ln/>
        </p:spPr>
        <p:txBody>
          <a:bodyPr wrap="square" lIns="0" tIns="0" rIns="0" bIns="0" rtlCol="0" anchor="ctr"/>
          <a:lstStyle/>
          <a:p>
            <a:pPr algn="ctr" indent="0" marL="0">
              <a:buNone/>
            </a:pPr>
            <a:r>
              <a:rPr lang="en-US" sz="900" b="1" dirty="0">
                <a:solidFill>
                  <a:srgbClr val="5A6672"/>
                </a:solidFill>
                <a:latin typeface="Calibri" pitchFamily="34" charset="0"/>
                <a:ea typeface="Calibri" pitchFamily="34" charset="-122"/>
                <a:cs typeface="Calibri" pitchFamily="34" charset="-120"/>
              </a:rPr>
              <a:t>—</a:t>
            </a:r>
            <a:endParaRPr lang="en-US" sz="900" dirty="0"/>
          </a:p>
        </p:txBody>
      </p:sp>
      <p:sp>
        <p:nvSpPr>
          <p:cNvPr id="26" name="Shape 24"/>
          <p:cNvSpPr/>
          <p:nvPr/>
        </p:nvSpPr>
        <p:spPr>
          <a:xfrm>
            <a:off x="8961120" y="2944368"/>
            <a:ext cx="868680" cy="292608"/>
          </a:xfrm>
          <a:prstGeom prst="roundRect">
            <a:avLst>
              <a:gd name="adj" fmla="val 50000"/>
            </a:avLst>
          </a:prstGeom>
          <a:solidFill>
            <a:srgbClr val="0A1E4A"/>
          </a:solidFill>
          <a:ln/>
        </p:spPr>
      </p:sp>
      <p:sp>
        <p:nvSpPr>
          <p:cNvPr id="27" name="Text 25"/>
          <p:cNvSpPr/>
          <p:nvPr/>
        </p:nvSpPr>
        <p:spPr>
          <a:xfrm>
            <a:off x="8961120" y="2944368"/>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28" name="Text 26"/>
          <p:cNvSpPr/>
          <p:nvPr/>
        </p:nvSpPr>
        <p:spPr>
          <a:xfrm>
            <a:off x="10195560" y="2944368"/>
            <a:ext cx="1325880" cy="292608"/>
          </a:xfrm>
          <a:prstGeom prst="rect">
            <a:avLst/>
          </a:prstGeom>
          <a:noFill/>
          <a:ln/>
        </p:spPr>
        <p:txBody>
          <a:bodyPr wrap="square" lIns="0" tIns="0" rIns="0" bIns="0" rtlCol="0" anchor="ctr"/>
          <a:lstStyle/>
          <a:p>
            <a:pPr algn="ctr" indent="0" marL="0">
              <a:buNone/>
            </a:pPr>
            <a:r>
              <a:rPr lang="en-US" sz="1200" b="1" dirty="0">
                <a:solidFill>
                  <a:srgbClr val="007F80"/>
                </a:solidFill>
                <a:latin typeface="Arial" pitchFamily="34" charset="0"/>
                <a:ea typeface="Arial" pitchFamily="34" charset="-122"/>
                <a:cs typeface="Arial" pitchFamily="34" charset="-120"/>
              </a:rPr>
              <a:t>P1</a:t>
            </a:r>
            <a:endParaRPr lang="en-US" sz="1200" dirty="0"/>
          </a:p>
        </p:txBody>
      </p:sp>
      <p:sp>
        <p:nvSpPr>
          <p:cNvPr id="29" name="Shape 27"/>
          <p:cNvSpPr/>
          <p:nvPr/>
        </p:nvSpPr>
        <p:spPr>
          <a:xfrm>
            <a:off x="640080" y="3456432"/>
            <a:ext cx="10908792" cy="585216"/>
          </a:xfrm>
          <a:prstGeom prst="roundRect">
            <a:avLst>
              <a:gd name="adj" fmla="val 10938"/>
            </a:avLst>
          </a:prstGeom>
          <a:solidFill>
            <a:srgbClr val="F1F5F7"/>
          </a:solidFill>
          <a:ln w="9525">
            <a:solidFill>
              <a:srgbClr val="E4EAEE"/>
            </a:solidFill>
            <a:prstDash val="solid"/>
          </a:ln>
        </p:spPr>
      </p:sp>
      <p:sp>
        <p:nvSpPr>
          <p:cNvPr id="30" name="Text 28"/>
          <p:cNvSpPr/>
          <p:nvPr/>
        </p:nvSpPr>
        <p:spPr>
          <a:xfrm>
            <a:off x="859536" y="3511296"/>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Add datasets (files)</a:t>
            </a:r>
            <a:endParaRPr lang="en-US" sz="1250" dirty="0"/>
          </a:p>
        </p:txBody>
      </p:sp>
      <p:sp>
        <p:nvSpPr>
          <p:cNvPr id="31" name="Text 29"/>
          <p:cNvSpPr/>
          <p:nvPr/>
        </p:nvSpPr>
        <p:spPr>
          <a:xfrm>
            <a:off x="859536" y="3758184"/>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Create dataset, upload file, commit named reference, download back</a:t>
            </a:r>
            <a:endParaRPr lang="en-US" sz="1000" dirty="0"/>
          </a:p>
        </p:txBody>
      </p:sp>
      <p:sp>
        <p:nvSpPr>
          <p:cNvPr id="32" name="Shape 30"/>
          <p:cNvSpPr/>
          <p:nvPr/>
        </p:nvSpPr>
        <p:spPr>
          <a:xfrm>
            <a:off x="6035040" y="3602736"/>
            <a:ext cx="868680" cy="292608"/>
          </a:xfrm>
          <a:prstGeom prst="roundRect">
            <a:avLst>
              <a:gd name="adj" fmla="val 50000"/>
            </a:avLst>
          </a:prstGeom>
          <a:solidFill>
            <a:srgbClr val="C77700"/>
          </a:solidFill>
          <a:ln/>
        </p:spPr>
      </p:sp>
      <p:sp>
        <p:nvSpPr>
          <p:cNvPr id="33" name="Text 31"/>
          <p:cNvSpPr/>
          <p:nvPr/>
        </p:nvSpPr>
        <p:spPr>
          <a:xfrm>
            <a:off x="6035040" y="3602736"/>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34" name="Shape 32"/>
          <p:cNvSpPr/>
          <p:nvPr/>
        </p:nvSpPr>
        <p:spPr>
          <a:xfrm>
            <a:off x="7498080" y="3602736"/>
            <a:ext cx="868680" cy="292608"/>
          </a:xfrm>
          <a:prstGeom prst="roundRect">
            <a:avLst>
              <a:gd name="adj" fmla="val 50000"/>
            </a:avLst>
          </a:prstGeom>
          <a:solidFill>
            <a:srgbClr val="C9D6DE"/>
          </a:solidFill>
          <a:ln/>
        </p:spPr>
      </p:sp>
      <p:sp>
        <p:nvSpPr>
          <p:cNvPr id="35" name="Text 33"/>
          <p:cNvSpPr/>
          <p:nvPr/>
        </p:nvSpPr>
        <p:spPr>
          <a:xfrm>
            <a:off x="7498080" y="3602736"/>
            <a:ext cx="868680" cy="292608"/>
          </a:xfrm>
          <a:prstGeom prst="rect">
            <a:avLst/>
          </a:prstGeom>
          <a:noFill/>
          <a:ln/>
        </p:spPr>
        <p:txBody>
          <a:bodyPr wrap="square" lIns="0" tIns="0" rIns="0" bIns="0" rtlCol="0" anchor="ctr"/>
          <a:lstStyle/>
          <a:p>
            <a:pPr algn="ctr" indent="0" marL="0">
              <a:buNone/>
            </a:pPr>
            <a:r>
              <a:rPr lang="en-US" sz="900" b="1" dirty="0">
                <a:solidFill>
                  <a:srgbClr val="5A6672"/>
                </a:solidFill>
                <a:latin typeface="Calibri" pitchFamily="34" charset="0"/>
                <a:ea typeface="Calibri" pitchFamily="34" charset="-122"/>
                <a:cs typeface="Calibri" pitchFamily="34" charset="-120"/>
              </a:rPr>
              <a:t>—</a:t>
            </a:r>
            <a:endParaRPr lang="en-US" sz="900" dirty="0"/>
          </a:p>
        </p:txBody>
      </p:sp>
      <p:sp>
        <p:nvSpPr>
          <p:cNvPr id="36" name="Shape 34"/>
          <p:cNvSpPr/>
          <p:nvPr/>
        </p:nvSpPr>
        <p:spPr>
          <a:xfrm>
            <a:off x="8961120" y="3602736"/>
            <a:ext cx="868680" cy="292608"/>
          </a:xfrm>
          <a:prstGeom prst="roundRect">
            <a:avLst>
              <a:gd name="adj" fmla="val 50000"/>
            </a:avLst>
          </a:prstGeom>
          <a:solidFill>
            <a:srgbClr val="0A1E4A"/>
          </a:solidFill>
          <a:ln/>
        </p:spPr>
      </p:sp>
      <p:sp>
        <p:nvSpPr>
          <p:cNvPr id="37" name="Text 35"/>
          <p:cNvSpPr/>
          <p:nvPr/>
        </p:nvSpPr>
        <p:spPr>
          <a:xfrm>
            <a:off x="8961120" y="3602736"/>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38" name="Text 36"/>
          <p:cNvSpPr/>
          <p:nvPr/>
        </p:nvSpPr>
        <p:spPr>
          <a:xfrm>
            <a:off x="10195560" y="3602736"/>
            <a:ext cx="1325880" cy="292608"/>
          </a:xfrm>
          <a:prstGeom prst="rect">
            <a:avLst/>
          </a:prstGeom>
          <a:noFill/>
          <a:ln/>
        </p:spPr>
        <p:txBody>
          <a:bodyPr wrap="square" lIns="0" tIns="0" rIns="0" bIns="0" rtlCol="0" anchor="ctr"/>
          <a:lstStyle/>
          <a:p>
            <a:pPr algn="ctr" indent="0" marL="0">
              <a:buNone/>
            </a:pPr>
            <a:r>
              <a:rPr lang="en-US" sz="1200" b="1" dirty="0">
                <a:solidFill>
                  <a:srgbClr val="007F80"/>
                </a:solidFill>
                <a:latin typeface="Arial" pitchFamily="34" charset="0"/>
                <a:ea typeface="Arial" pitchFamily="34" charset="-122"/>
                <a:cs typeface="Arial" pitchFamily="34" charset="-120"/>
              </a:rPr>
              <a:t>P1</a:t>
            </a:r>
            <a:endParaRPr lang="en-US" sz="1200" dirty="0"/>
          </a:p>
        </p:txBody>
      </p:sp>
      <p:sp>
        <p:nvSpPr>
          <p:cNvPr id="39" name="Shape 37"/>
          <p:cNvSpPr/>
          <p:nvPr/>
        </p:nvSpPr>
        <p:spPr>
          <a:xfrm>
            <a:off x="640080" y="4114800"/>
            <a:ext cx="10908792" cy="585216"/>
          </a:xfrm>
          <a:prstGeom prst="roundRect">
            <a:avLst>
              <a:gd name="adj" fmla="val 10938"/>
            </a:avLst>
          </a:prstGeom>
          <a:solidFill>
            <a:srgbClr val="FFFFFF"/>
          </a:solidFill>
          <a:ln w="9525">
            <a:solidFill>
              <a:srgbClr val="E4EAEE"/>
            </a:solidFill>
            <a:prstDash val="solid"/>
          </a:ln>
        </p:spPr>
      </p:sp>
      <p:sp>
        <p:nvSpPr>
          <p:cNvPr id="40" name="Text 38"/>
          <p:cNvSpPr/>
          <p:nvPr/>
        </p:nvSpPr>
        <p:spPr>
          <a:xfrm>
            <a:off x="859536" y="4169664"/>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BOM building</a:t>
            </a:r>
            <a:endParaRPr lang="en-US" sz="1250" dirty="0"/>
          </a:p>
        </p:txBody>
      </p:sp>
      <p:sp>
        <p:nvSpPr>
          <p:cNvPr id="41" name="Text 39"/>
          <p:cNvSpPr/>
          <p:nvPr/>
        </p:nvSpPr>
        <p:spPr>
          <a:xfrm>
            <a:off x="859536" y="4416552"/>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Add children, set quantity and find number, save and re-open structure</a:t>
            </a:r>
            <a:endParaRPr lang="en-US" sz="1000" dirty="0"/>
          </a:p>
        </p:txBody>
      </p:sp>
      <p:sp>
        <p:nvSpPr>
          <p:cNvPr id="42" name="Shape 40"/>
          <p:cNvSpPr/>
          <p:nvPr/>
        </p:nvSpPr>
        <p:spPr>
          <a:xfrm>
            <a:off x="6035040" y="4261104"/>
            <a:ext cx="868680" cy="292608"/>
          </a:xfrm>
          <a:prstGeom prst="roundRect">
            <a:avLst>
              <a:gd name="adj" fmla="val 50000"/>
            </a:avLst>
          </a:prstGeom>
          <a:solidFill>
            <a:srgbClr val="0A1E4A"/>
          </a:solidFill>
          <a:ln/>
        </p:spPr>
      </p:sp>
      <p:sp>
        <p:nvSpPr>
          <p:cNvPr id="43" name="Text 41"/>
          <p:cNvSpPr/>
          <p:nvPr/>
        </p:nvSpPr>
        <p:spPr>
          <a:xfrm>
            <a:off x="6035040" y="4261104"/>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44" name="Shape 42"/>
          <p:cNvSpPr/>
          <p:nvPr/>
        </p:nvSpPr>
        <p:spPr>
          <a:xfrm>
            <a:off x="7498080" y="4261104"/>
            <a:ext cx="868680" cy="292608"/>
          </a:xfrm>
          <a:prstGeom prst="roundRect">
            <a:avLst>
              <a:gd name="adj" fmla="val 50000"/>
            </a:avLst>
          </a:prstGeom>
          <a:solidFill>
            <a:srgbClr val="C77700"/>
          </a:solidFill>
          <a:ln/>
        </p:spPr>
      </p:sp>
      <p:sp>
        <p:nvSpPr>
          <p:cNvPr id="45" name="Text 43"/>
          <p:cNvSpPr/>
          <p:nvPr/>
        </p:nvSpPr>
        <p:spPr>
          <a:xfrm>
            <a:off x="7498080" y="4261104"/>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46" name="Shape 44"/>
          <p:cNvSpPr/>
          <p:nvPr/>
        </p:nvSpPr>
        <p:spPr>
          <a:xfrm>
            <a:off x="8961120" y="4261104"/>
            <a:ext cx="868680" cy="292608"/>
          </a:xfrm>
          <a:prstGeom prst="roundRect">
            <a:avLst>
              <a:gd name="adj" fmla="val 50000"/>
            </a:avLst>
          </a:prstGeom>
          <a:solidFill>
            <a:srgbClr val="0A1E4A"/>
          </a:solidFill>
          <a:ln/>
        </p:spPr>
      </p:sp>
      <p:sp>
        <p:nvSpPr>
          <p:cNvPr id="47" name="Text 45"/>
          <p:cNvSpPr/>
          <p:nvPr/>
        </p:nvSpPr>
        <p:spPr>
          <a:xfrm>
            <a:off x="8961120" y="4261104"/>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48" name="Text 46"/>
          <p:cNvSpPr/>
          <p:nvPr/>
        </p:nvSpPr>
        <p:spPr>
          <a:xfrm>
            <a:off x="10195560" y="4261104"/>
            <a:ext cx="1325880" cy="292608"/>
          </a:xfrm>
          <a:prstGeom prst="rect">
            <a:avLst/>
          </a:prstGeom>
          <a:noFill/>
          <a:ln/>
        </p:spPr>
        <p:txBody>
          <a:bodyPr wrap="square" lIns="0" tIns="0" rIns="0" bIns="0" rtlCol="0" anchor="ctr"/>
          <a:lstStyle/>
          <a:p>
            <a:pPr algn="ctr" indent="0" marL="0">
              <a:buNone/>
            </a:pPr>
            <a:r>
              <a:rPr lang="en-US" sz="1200" b="1" dirty="0">
                <a:solidFill>
                  <a:srgbClr val="007F80"/>
                </a:solidFill>
                <a:latin typeface="Arial" pitchFamily="34" charset="0"/>
                <a:ea typeface="Arial" pitchFamily="34" charset="-122"/>
                <a:cs typeface="Arial" pitchFamily="34" charset="-120"/>
              </a:rPr>
              <a:t>P1</a:t>
            </a:r>
            <a:endParaRPr lang="en-US" sz="1200" dirty="0"/>
          </a:p>
        </p:txBody>
      </p:sp>
      <p:sp>
        <p:nvSpPr>
          <p:cNvPr id="49" name="Shape 47"/>
          <p:cNvSpPr/>
          <p:nvPr/>
        </p:nvSpPr>
        <p:spPr>
          <a:xfrm>
            <a:off x="640080" y="4773168"/>
            <a:ext cx="10908792" cy="585216"/>
          </a:xfrm>
          <a:prstGeom prst="roundRect">
            <a:avLst>
              <a:gd name="adj" fmla="val 10938"/>
            </a:avLst>
          </a:prstGeom>
          <a:solidFill>
            <a:srgbClr val="F1F5F7"/>
          </a:solidFill>
          <a:ln w="9525">
            <a:solidFill>
              <a:srgbClr val="E4EAEE"/>
            </a:solidFill>
            <a:prstDash val="solid"/>
          </a:ln>
        </p:spPr>
      </p:sp>
      <p:sp>
        <p:nvSpPr>
          <p:cNvPr id="50" name="Text 48"/>
          <p:cNvSpPr/>
          <p:nvPr/>
        </p:nvSpPr>
        <p:spPr>
          <a:xfrm>
            <a:off x="859536" y="4828032"/>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EBOM–MBOM alignment</a:t>
            </a:r>
            <a:endParaRPr lang="en-US" sz="1250" dirty="0"/>
          </a:p>
        </p:txBody>
      </p:sp>
      <p:sp>
        <p:nvSpPr>
          <p:cNvPr id="51" name="Text 49"/>
          <p:cNvSpPr/>
          <p:nvPr/>
        </p:nvSpPr>
        <p:spPr>
          <a:xfrm>
            <a:off x="859536" y="5074920"/>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Derive MBOM, run accountability, detect a deliberate mismatch</a:t>
            </a:r>
            <a:endParaRPr lang="en-US" sz="1000" dirty="0"/>
          </a:p>
        </p:txBody>
      </p:sp>
      <p:sp>
        <p:nvSpPr>
          <p:cNvPr id="52" name="Shape 50"/>
          <p:cNvSpPr/>
          <p:nvPr/>
        </p:nvSpPr>
        <p:spPr>
          <a:xfrm>
            <a:off x="6035040" y="4919472"/>
            <a:ext cx="868680" cy="292608"/>
          </a:xfrm>
          <a:prstGeom prst="roundRect">
            <a:avLst>
              <a:gd name="adj" fmla="val 50000"/>
            </a:avLst>
          </a:prstGeom>
          <a:solidFill>
            <a:srgbClr val="0A1E4A"/>
          </a:solidFill>
          <a:ln/>
        </p:spPr>
      </p:sp>
      <p:sp>
        <p:nvSpPr>
          <p:cNvPr id="53" name="Text 51"/>
          <p:cNvSpPr/>
          <p:nvPr/>
        </p:nvSpPr>
        <p:spPr>
          <a:xfrm>
            <a:off x="6035040" y="4919472"/>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54" name="Shape 52"/>
          <p:cNvSpPr/>
          <p:nvPr/>
        </p:nvSpPr>
        <p:spPr>
          <a:xfrm>
            <a:off x="7498080" y="4919472"/>
            <a:ext cx="868680" cy="292608"/>
          </a:xfrm>
          <a:prstGeom prst="roundRect">
            <a:avLst>
              <a:gd name="adj" fmla="val 50000"/>
            </a:avLst>
          </a:prstGeom>
          <a:solidFill>
            <a:srgbClr val="0A1E4A"/>
          </a:solidFill>
          <a:ln/>
        </p:spPr>
      </p:sp>
      <p:sp>
        <p:nvSpPr>
          <p:cNvPr id="55" name="Text 53"/>
          <p:cNvSpPr/>
          <p:nvPr/>
        </p:nvSpPr>
        <p:spPr>
          <a:xfrm>
            <a:off x="7498080" y="4919472"/>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56" name="Shape 54"/>
          <p:cNvSpPr/>
          <p:nvPr/>
        </p:nvSpPr>
        <p:spPr>
          <a:xfrm>
            <a:off x="8961120" y="4919472"/>
            <a:ext cx="868680" cy="292608"/>
          </a:xfrm>
          <a:prstGeom prst="roundRect">
            <a:avLst>
              <a:gd name="adj" fmla="val 50000"/>
            </a:avLst>
          </a:prstGeom>
          <a:solidFill>
            <a:srgbClr val="0A1E4A"/>
          </a:solidFill>
          <a:ln/>
        </p:spPr>
      </p:sp>
      <p:sp>
        <p:nvSpPr>
          <p:cNvPr id="57" name="Text 55"/>
          <p:cNvSpPr/>
          <p:nvPr/>
        </p:nvSpPr>
        <p:spPr>
          <a:xfrm>
            <a:off x="8961120" y="4919472"/>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58" name="Text 56"/>
          <p:cNvSpPr/>
          <p:nvPr/>
        </p:nvSpPr>
        <p:spPr>
          <a:xfrm>
            <a:off x="10195560" y="4919472"/>
            <a:ext cx="1325880" cy="292608"/>
          </a:xfrm>
          <a:prstGeom prst="rect">
            <a:avLst/>
          </a:prstGeom>
          <a:noFill/>
          <a:ln/>
        </p:spPr>
        <p:txBody>
          <a:bodyPr wrap="square" lIns="0" tIns="0" rIns="0" bIns="0" rtlCol="0" anchor="ctr"/>
          <a:lstStyle/>
          <a:p>
            <a:pPr algn="ctr" indent="0" marL="0">
              <a:buNone/>
            </a:pPr>
            <a:r>
              <a:rPr lang="en-US" sz="1200" b="1" dirty="0">
                <a:solidFill>
                  <a:srgbClr val="5A6672"/>
                </a:solidFill>
                <a:latin typeface="Arial" pitchFamily="34" charset="0"/>
                <a:ea typeface="Arial" pitchFamily="34" charset="-122"/>
                <a:cs typeface="Arial" pitchFamily="34" charset="-120"/>
              </a:rPr>
              <a:t>P2</a:t>
            </a:r>
            <a:endParaRPr lang="en-US" sz="1200" dirty="0"/>
          </a:p>
        </p:txBody>
      </p:sp>
      <p:sp>
        <p:nvSpPr>
          <p:cNvPr id="59" name="Shape 57"/>
          <p:cNvSpPr/>
          <p:nvPr/>
        </p:nvSpPr>
        <p:spPr>
          <a:xfrm>
            <a:off x="640080" y="5431536"/>
            <a:ext cx="10908792" cy="585216"/>
          </a:xfrm>
          <a:prstGeom prst="roundRect">
            <a:avLst>
              <a:gd name="adj" fmla="val 10938"/>
            </a:avLst>
          </a:prstGeom>
          <a:solidFill>
            <a:srgbClr val="FFFFFF"/>
          </a:solidFill>
          <a:ln w="9525">
            <a:solidFill>
              <a:srgbClr val="E4EAEE"/>
            </a:solidFill>
            <a:prstDash val="solid"/>
          </a:ln>
        </p:spPr>
      </p:sp>
      <p:sp>
        <p:nvSpPr>
          <p:cNvPr id="60" name="Text 58"/>
          <p:cNvSpPr/>
          <p:nvPr/>
        </p:nvSpPr>
        <p:spPr>
          <a:xfrm>
            <a:off x="859536" y="5486400"/>
            <a:ext cx="2743200" cy="25603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Solution variants</a:t>
            </a:r>
            <a:endParaRPr lang="en-US" sz="1250" dirty="0"/>
          </a:p>
        </p:txBody>
      </p:sp>
      <p:sp>
        <p:nvSpPr>
          <p:cNvPr id="61" name="Text 59"/>
          <p:cNvSpPr/>
          <p:nvPr/>
        </p:nvSpPr>
        <p:spPr>
          <a:xfrm>
            <a:off x="859536" y="5733288"/>
            <a:ext cx="5394960" cy="237744"/>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Apply variant conditions and rules, verify the configured structure</a:t>
            </a:r>
            <a:endParaRPr lang="en-US" sz="1000" dirty="0"/>
          </a:p>
        </p:txBody>
      </p:sp>
      <p:sp>
        <p:nvSpPr>
          <p:cNvPr id="62" name="Shape 60"/>
          <p:cNvSpPr/>
          <p:nvPr/>
        </p:nvSpPr>
        <p:spPr>
          <a:xfrm>
            <a:off x="6035040" y="5577840"/>
            <a:ext cx="868680" cy="292608"/>
          </a:xfrm>
          <a:prstGeom prst="roundRect">
            <a:avLst>
              <a:gd name="adj" fmla="val 50000"/>
            </a:avLst>
          </a:prstGeom>
          <a:solidFill>
            <a:srgbClr val="0A1E4A"/>
          </a:solidFill>
          <a:ln/>
        </p:spPr>
      </p:sp>
      <p:sp>
        <p:nvSpPr>
          <p:cNvPr id="63" name="Text 61"/>
          <p:cNvSpPr/>
          <p:nvPr/>
        </p:nvSpPr>
        <p:spPr>
          <a:xfrm>
            <a:off x="6035040" y="5577840"/>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64" name="Shape 62"/>
          <p:cNvSpPr/>
          <p:nvPr/>
        </p:nvSpPr>
        <p:spPr>
          <a:xfrm>
            <a:off x="7498080" y="5577840"/>
            <a:ext cx="868680" cy="292608"/>
          </a:xfrm>
          <a:prstGeom prst="roundRect">
            <a:avLst>
              <a:gd name="adj" fmla="val 50000"/>
            </a:avLst>
          </a:prstGeom>
          <a:solidFill>
            <a:srgbClr val="C9D6DE"/>
          </a:solidFill>
          <a:ln/>
        </p:spPr>
      </p:sp>
      <p:sp>
        <p:nvSpPr>
          <p:cNvPr id="65" name="Text 63"/>
          <p:cNvSpPr/>
          <p:nvPr/>
        </p:nvSpPr>
        <p:spPr>
          <a:xfrm>
            <a:off x="7498080" y="5577840"/>
            <a:ext cx="868680" cy="292608"/>
          </a:xfrm>
          <a:prstGeom prst="rect">
            <a:avLst/>
          </a:prstGeom>
          <a:noFill/>
          <a:ln/>
        </p:spPr>
        <p:txBody>
          <a:bodyPr wrap="square" lIns="0" tIns="0" rIns="0" bIns="0" rtlCol="0" anchor="ctr"/>
          <a:lstStyle/>
          <a:p>
            <a:pPr algn="ctr" indent="0" marL="0">
              <a:buNone/>
            </a:pPr>
            <a:r>
              <a:rPr lang="en-US" sz="900" b="1" dirty="0">
                <a:solidFill>
                  <a:srgbClr val="5A6672"/>
                </a:solidFill>
                <a:latin typeface="Calibri" pitchFamily="34" charset="0"/>
                <a:ea typeface="Calibri" pitchFamily="34" charset="-122"/>
                <a:cs typeface="Calibri" pitchFamily="34" charset="-120"/>
              </a:rPr>
              <a:t>—</a:t>
            </a:r>
            <a:endParaRPr lang="en-US" sz="900" dirty="0"/>
          </a:p>
        </p:txBody>
      </p:sp>
      <p:sp>
        <p:nvSpPr>
          <p:cNvPr id="66" name="Shape 64"/>
          <p:cNvSpPr/>
          <p:nvPr/>
        </p:nvSpPr>
        <p:spPr>
          <a:xfrm>
            <a:off x="8961120" y="5577840"/>
            <a:ext cx="868680" cy="292608"/>
          </a:xfrm>
          <a:prstGeom prst="roundRect">
            <a:avLst>
              <a:gd name="adj" fmla="val 50000"/>
            </a:avLst>
          </a:prstGeom>
          <a:solidFill>
            <a:srgbClr val="0A1E4A"/>
          </a:solidFill>
          <a:ln/>
        </p:spPr>
      </p:sp>
      <p:sp>
        <p:nvSpPr>
          <p:cNvPr id="67" name="Text 65"/>
          <p:cNvSpPr/>
          <p:nvPr/>
        </p:nvSpPr>
        <p:spPr>
          <a:xfrm>
            <a:off x="8961120" y="5577840"/>
            <a:ext cx="868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68" name="Text 66"/>
          <p:cNvSpPr/>
          <p:nvPr/>
        </p:nvSpPr>
        <p:spPr>
          <a:xfrm>
            <a:off x="10195560" y="5577840"/>
            <a:ext cx="1325880" cy="292608"/>
          </a:xfrm>
          <a:prstGeom prst="rect">
            <a:avLst/>
          </a:prstGeom>
          <a:noFill/>
          <a:ln/>
        </p:spPr>
        <p:txBody>
          <a:bodyPr wrap="square" lIns="0" tIns="0" rIns="0" bIns="0" rtlCol="0" anchor="ctr"/>
          <a:lstStyle/>
          <a:p>
            <a:pPr algn="ctr" indent="0" marL="0">
              <a:buNone/>
            </a:pPr>
            <a:r>
              <a:rPr lang="en-US" sz="1200" b="1" dirty="0">
                <a:solidFill>
                  <a:srgbClr val="5A6672"/>
                </a:solidFill>
                <a:latin typeface="Arial" pitchFamily="34" charset="0"/>
                <a:ea typeface="Arial" pitchFamily="34" charset="-122"/>
                <a:cs typeface="Arial" pitchFamily="34" charset="-120"/>
              </a:rPr>
              <a:t>P2</a:t>
            </a:r>
            <a:endParaRPr lang="en-US" sz="1200" dirty="0"/>
          </a:p>
        </p:txBody>
      </p:sp>
      <p:sp>
        <p:nvSpPr>
          <p:cNvPr id="69" name="Text 67"/>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Have = already in a collection today   ·   Partial = endpoint or request exists but assertions are missing   ·   Build = to be written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SCOPE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What each scenario has to prove</a:t>
            </a:r>
            <a:endParaRPr lang="en-US" sz="2900" dirty="0"/>
          </a:p>
        </p:txBody>
      </p:sp>
      <p:sp>
        <p:nvSpPr>
          <p:cNvPr id="4" name="Shape 2"/>
          <p:cNvSpPr/>
          <p:nvPr/>
        </p:nvSpPr>
        <p:spPr>
          <a:xfrm>
            <a:off x="640080" y="173736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877824" y="1956816"/>
            <a:ext cx="512064" cy="512064"/>
          </a:xfrm>
          <a:prstGeom prst="ellipse">
            <a:avLst/>
          </a:prstGeom>
          <a:solidFill>
            <a:srgbClr val="001034"/>
          </a:solidFill>
          <a:ln w="12700">
            <a:solidFill>
              <a:srgbClr val="001034"/>
            </a:solidFill>
            <a:prstDash val="solid"/>
          </a:ln>
        </p:spPr>
      </p:sp>
      <p:pic>
        <p:nvPicPr>
          <p:cNvPr id="6" name="Image 0" descr="preencoded.png">    </p:cNvPr>
          <p:cNvPicPr>
            <a:picLocks noChangeAspect="1"/>
          </p:cNvPicPr>
          <p:nvPr/>
        </p:nvPicPr>
        <p:blipFill>
          <a:blip r:embed="rId1"/>
          <a:stretch>
            <a:fillRect/>
          </a:stretch>
        </p:blipFill>
        <p:spPr>
          <a:xfrm>
            <a:off x="1000719" y="2079711"/>
            <a:ext cx="266273" cy="266273"/>
          </a:xfrm>
          <a:prstGeom prst="rect">
            <a:avLst/>
          </a:prstGeom>
        </p:spPr>
      </p:pic>
      <p:sp>
        <p:nvSpPr>
          <p:cNvPr id="7" name="Text 4"/>
          <p:cNvSpPr/>
          <p:nvPr/>
        </p:nvSpPr>
        <p:spPr>
          <a:xfrm>
            <a:off x="1481328" y="199339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Create objects</a:t>
            </a:r>
            <a:endParaRPr lang="en-US" sz="1250" dirty="0"/>
          </a:p>
        </p:txBody>
      </p:sp>
      <p:sp>
        <p:nvSpPr>
          <p:cNvPr id="8" name="Text 5"/>
          <p:cNvSpPr/>
          <p:nvPr/>
        </p:nvSpPr>
        <p:spPr>
          <a:xfrm>
            <a:off x="877824" y="259689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Item and revision created with the expected type</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ID and revision naming rules still applied</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Object retrievable by search immediately after</a:t>
            </a:r>
            <a:endParaRPr lang="en-US" sz="1000" dirty="0"/>
          </a:p>
        </p:txBody>
      </p:sp>
      <p:sp>
        <p:nvSpPr>
          <p:cNvPr id="9" name="Shape 6"/>
          <p:cNvSpPr/>
          <p:nvPr/>
        </p:nvSpPr>
        <p:spPr>
          <a:xfrm>
            <a:off x="4343400" y="173736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Shape 7"/>
          <p:cNvSpPr/>
          <p:nvPr/>
        </p:nvSpPr>
        <p:spPr>
          <a:xfrm>
            <a:off x="4581144" y="1956816"/>
            <a:ext cx="512064" cy="512064"/>
          </a:xfrm>
          <a:prstGeom prst="ellipse">
            <a:avLst/>
          </a:prstGeom>
          <a:solidFill>
            <a:srgbClr val="001034"/>
          </a:solidFill>
          <a:ln w="12700">
            <a:solidFill>
              <a:srgbClr val="001034"/>
            </a:solidFill>
            <a:prstDash val="solid"/>
          </a:ln>
        </p:spPr>
      </p:sp>
      <p:pic>
        <p:nvPicPr>
          <p:cNvPr id="11" name="Image 1" descr="preencoded.png">    </p:cNvPr>
          <p:cNvPicPr>
            <a:picLocks noChangeAspect="1"/>
          </p:cNvPicPr>
          <p:nvPr/>
        </p:nvPicPr>
        <p:blipFill>
          <a:blip r:embed="rId2"/>
          <a:stretch>
            <a:fillRect/>
          </a:stretch>
        </p:blipFill>
        <p:spPr>
          <a:xfrm>
            <a:off x="4704039" y="2079711"/>
            <a:ext cx="266273" cy="266273"/>
          </a:xfrm>
          <a:prstGeom prst="rect">
            <a:avLst/>
          </a:prstGeom>
        </p:spPr>
      </p:pic>
      <p:sp>
        <p:nvSpPr>
          <p:cNvPr id="12" name="Text 8"/>
          <p:cNvSpPr/>
          <p:nvPr/>
        </p:nvSpPr>
        <p:spPr>
          <a:xfrm>
            <a:off x="5184648" y="199339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Edit properties</a:t>
            </a:r>
            <a:endParaRPr lang="en-US" sz="1250" dirty="0"/>
          </a:p>
        </p:txBody>
      </p:sp>
      <p:sp>
        <p:nvSpPr>
          <p:cNvPr id="13" name="Text 9"/>
          <p:cNvSpPr/>
          <p:nvPr/>
        </p:nvSpPr>
        <p:spPr>
          <a:xfrm>
            <a:off x="4581144" y="259689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Save persists the new value on re-read</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Cancel discards cleanly, leaving no lock</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Read-only and rule-governed properties still rejected</a:t>
            </a:r>
            <a:endParaRPr lang="en-US" sz="1000" dirty="0"/>
          </a:p>
        </p:txBody>
      </p:sp>
      <p:sp>
        <p:nvSpPr>
          <p:cNvPr id="14" name="Shape 10"/>
          <p:cNvSpPr/>
          <p:nvPr/>
        </p:nvSpPr>
        <p:spPr>
          <a:xfrm>
            <a:off x="8046720" y="173736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5" name="Shape 11"/>
          <p:cNvSpPr/>
          <p:nvPr/>
        </p:nvSpPr>
        <p:spPr>
          <a:xfrm>
            <a:off x="8284464" y="1956816"/>
            <a:ext cx="512064" cy="512064"/>
          </a:xfrm>
          <a:prstGeom prst="ellipse">
            <a:avLst/>
          </a:prstGeom>
          <a:solidFill>
            <a:srgbClr val="001034"/>
          </a:solidFill>
          <a:ln w="12700">
            <a:solidFill>
              <a:srgbClr val="001034"/>
            </a:solidFill>
            <a:prstDash val="solid"/>
          </a:ln>
        </p:spPr>
      </p:sp>
      <p:pic>
        <p:nvPicPr>
          <p:cNvPr id="16" name="Image 2" descr="preencoded.png">    </p:cNvPr>
          <p:cNvPicPr>
            <a:picLocks noChangeAspect="1"/>
          </p:cNvPicPr>
          <p:nvPr/>
        </p:nvPicPr>
        <p:blipFill>
          <a:blip r:embed="rId3"/>
          <a:stretch>
            <a:fillRect/>
          </a:stretch>
        </p:blipFill>
        <p:spPr>
          <a:xfrm>
            <a:off x="8407359" y="2079711"/>
            <a:ext cx="266273" cy="266273"/>
          </a:xfrm>
          <a:prstGeom prst="rect">
            <a:avLst/>
          </a:prstGeom>
        </p:spPr>
      </p:pic>
      <p:sp>
        <p:nvSpPr>
          <p:cNvPr id="17" name="Text 12"/>
          <p:cNvSpPr/>
          <p:nvPr/>
        </p:nvSpPr>
        <p:spPr>
          <a:xfrm>
            <a:off x="8887968" y="199339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Add datasets (files)</a:t>
            </a:r>
            <a:endParaRPr lang="en-US" sz="1250" dirty="0"/>
          </a:p>
        </p:txBody>
      </p:sp>
      <p:sp>
        <p:nvSpPr>
          <p:cNvPr id="18" name="Text 13"/>
          <p:cNvSpPr/>
          <p:nvPr/>
        </p:nvSpPr>
        <p:spPr>
          <a:xfrm>
            <a:off x="8284464" y="259689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Named reference present on the dataset after commit</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File downloads back byte-identical</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Correct dataset type and relation to the revision</a:t>
            </a:r>
            <a:endParaRPr lang="en-US" sz="1000" dirty="0"/>
          </a:p>
        </p:txBody>
      </p:sp>
      <p:sp>
        <p:nvSpPr>
          <p:cNvPr id="19" name="Shape 14"/>
          <p:cNvSpPr/>
          <p:nvPr/>
        </p:nvSpPr>
        <p:spPr>
          <a:xfrm>
            <a:off x="640080" y="393192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0" name="Shape 15"/>
          <p:cNvSpPr/>
          <p:nvPr/>
        </p:nvSpPr>
        <p:spPr>
          <a:xfrm>
            <a:off x="877824" y="4151376"/>
            <a:ext cx="512064" cy="512064"/>
          </a:xfrm>
          <a:prstGeom prst="ellipse">
            <a:avLst/>
          </a:prstGeom>
          <a:solidFill>
            <a:srgbClr val="001034"/>
          </a:solidFill>
          <a:ln w="12700">
            <a:solidFill>
              <a:srgbClr val="001034"/>
            </a:solidFill>
            <a:prstDash val="solid"/>
          </a:ln>
        </p:spPr>
      </p:sp>
      <p:pic>
        <p:nvPicPr>
          <p:cNvPr id="21" name="Image 3" descr="preencoded.png">    </p:cNvPr>
          <p:cNvPicPr>
            <a:picLocks noChangeAspect="1"/>
          </p:cNvPicPr>
          <p:nvPr/>
        </p:nvPicPr>
        <p:blipFill>
          <a:blip r:embed="rId4"/>
          <a:stretch>
            <a:fillRect/>
          </a:stretch>
        </p:blipFill>
        <p:spPr>
          <a:xfrm>
            <a:off x="1000719" y="4274271"/>
            <a:ext cx="266273" cy="266273"/>
          </a:xfrm>
          <a:prstGeom prst="rect">
            <a:avLst/>
          </a:prstGeom>
        </p:spPr>
      </p:pic>
      <p:sp>
        <p:nvSpPr>
          <p:cNvPr id="22" name="Text 16"/>
          <p:cNvSpPr/>
          <p:nvPr/>
        </p:nvSpPr>
        <p:spPr>
          <a:xfrm>
            <a:off x="1481328" y="418795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BOM building</a:t>
            </a:r>
            <a:endParaRPr lang="en-US" sz="1250" dirty="0"/>
          </a:p>
        </p:txBody>
      </p:sp>
      <p:sp>
        <p:nvSpPr>
          <p:cNvPr id="23" name="Text 17"/>
          <p:cNvSpPr/>
          <p:nvPr/>
        </p:nvSpPr>
        <p:spPr>
          <a:xfrm>
            <a:off x="877824" y="479145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Children, quantities and find numbers persist on re-open</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Occurrence count matches the expected structure</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Structure edits respect check-out state</a:t>
            </a:r>
            <a:endParaRPr lang="en-US" sz="1000" dirty="0"/>
          </a:p>
        </p:txBody>
      </p:sp>
      <p:sp>
        <p:nvSpPr>
          <p:cNvPr id="24" name="Shape 18"/>
          <p:cNvSpPr/>
          <p:nvPr/>
        </p:nvSpPr>
        <p:spPr>
          <a:xfrm>
            <a:off x="4343400" y="393192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5" name="Shape 19"/>
          <p:cNvSpPr/>
          <p:nvPr/>
        </p:nvSpPr>
        <p:spPr>
          <a:xfrm>
            <a:off x="4581144" y="4151376"/>
            <a:ext cx="512064" cy="512064"/>
          </a:xfrm>
          <a:prstGeom prst="ellipse">
            <a:avLst/>
          </a:prstGeom>
          <a:solidFill>
            <a:srgbClr val="001034"/>
          </a:solidFill>
          <a:ln w="12700">
            <a:solidFill>
              <a:srgbClr val="001034"/>
            </a:solidFill>
            <a:prstDash val="solid"/>
          </a:ln>
        </p:spPr>
      </p:sp>
      <p:pic>
        <p:nvPicPr>
          <p:cNvPr id="26" name="Image 4" descr="preencoded.png">    </p:cNvPr>
          <p:cNvPicPr>
            <a:picLocks noChangeAspect="1"/>
          </p:cNvPicPr>
          <p:nvPr/>
        </p:nvPicPr>
        <p:blipFill>
          <a:blip r:embed="rId5"/>
          <a:stretch>
            <a:fillRect/>
          </a:stretch>
        </p:blipFill>
        <p:spPr>
          <a:xfrm>
            <a:off x="4704039" y="4274271"/>
            <a:ext cx="266273" cy="266273"/>
          </a:xfrm>
          <a:prstGeom prst="rect">
            <a:avLst/>
          </a:prstGeom>
        </p:spPr>
      </p:pic>
      <p:sp>
        <p:nvSpPr>
          <p:cNvPr id="27" name="Text 20"/>
          <p:cNvSpPr/>
          <p:nvPr/>
        </p:nvSpPr>
        <p:spPr>
          <a:xfrm>
            <a:off x="5184648" y="418795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EBOM–MBOM alignment</a:t>
            </a:r>
            <a:endParaRPr lang="en-US" sz="1250" dirty="0"/>
          </a:p>
        </p:txBody>
      </p:sp>
      <p:sp>
        <p:nvSpPr>
          <p:cNvPr id="28" name="Text 21"/>
          <p:cNvSpPr/>
          <p:nvPr/>
        </p:nvSpPr>
        <p:spPr>
          <a:xfrm>
            <a:off x="4581144" y="479145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MBOM derives from the EBOM as configured</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Accountability reports zero unaccounted parts</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A deliberate mismatch is actually detected</a:t>
            </a:r>
            <a:endParaRPr lang="en-US" sz="1000" dirty="0"/>
          </a:p>
        </p:txBody>
      </p:sp>
      <p:sp>
        <p:nvSpPr>
          <p:cNvPr id="29" name="Shape 22"/>
          <p:cNvSpPr/>
          <p:nvPr/>
        </p:nvSpPr>
        <p:spPr>
          <a:xfrm>
            <a:off x="8046720" y="3931920"/>
            <a:ext cx="3429000" cy="1965960"/>
          </a:xfrm>
          <a:prstGeom prst="roundRect">
            <a:avLst>
              <a:gd name="adj" fmla="val 4186"/>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30" name="Shape 23"/>
          <p:cNvSpPr/>
          <p:nvPr/>
        </p:nvSpPr>
        <p:spPr>
          <a:xfrm>
            <a:off x="8284464" y="4151376"/>
            <a:ext cx="512064" cy="512064"/>
          </a:xfrm>
          <a:prstGeom prst="ellipse">
            <a:avLst/>
          </a:prstGeom>
          <a:solidFill>
            <a:srgbClr val="001034"/>
          </a:solidFill>
          <a:ln w="12700">
            <a:solidFill>
              <a:srgbClr val="001034"/>
            </a:solidFill>
            <a:prstDash val="solid"/>
          </a:ln>
        </p:spPr>
      </p:sp>
      <p:pic>
        <p:nvPicPr>
          <p:cNvPr id="31" name="Image 5" descr="preencoded.png">    </p:cNvPr>
          <p:cNvPicPr>
            <a:picLocks noChangeAspect="1"/>
          </p:cNvPicPr>
          <p:nvPr/>
        </p:nvPicPr>
        <p:blipFill>
          <a:blip r:embed="rId6"/>
          <a:stretch>
            <a:fillRect/>
          </a:stretch>
        </p:blipFill>
        <p:spPr>
          <a:xfrm>
            <a:off x="8407359" y="4274271"/>
            <a:ext cx="266273" cy="266273"/>
          </a:xfrm>
          <a:prstGeom prst="rect">
            <a:avLst/>
          </a:prstGeom>
        </p:spPr>
      </p:pic>
      <p:sp>
        <p:nvSpPr>
          <p:cNvPr id="32" name="Text 24"/>
          <p:cNvSpPr/>
          <p:nvPr/>
        </p:nvSpPr>
        <p:spPr>
          <a:xfrm>
            <a:off x="8887968" y="4187952"/>
            <a:ext cx="2468880" cy="274320"/>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Solution variants</a:t>
            </a:r>
            <a:endParaRPr lang="en-US" sz="1250" dirty="0"/>
          </a:p>
        </p:txBody>
      </p:sp>
      <p:sp>
        <p:nvSpPr>
          <p:cNvPr id="33" name="Text 25"/>
          <p:cNvSpPr/>
          <p:nvPr/>
        </p:nvSpPr>
        <p:spPr>
          <a:xfrm>
            <a:off x="8284464" y="4791456"/>
            <a:ext cx="2971800" cy="1005840"/>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Configured structure returns only expected occurrences</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Switching the variant rule changes the result set</a:t>
            </a:r>
            <a:endParaRPr lang="en-US" sz="1000" dirty="0"/>
          </a:p>
          <a:p>
            <a:pPr marL="342900" indent="-342900">
              <a:lnSpc>
                <a:spcPts val="1250"/>
              </a:lnSpc>
              <a:spcAft>
                <a:spcPts val="600"/>
              </a:spcAft>
              <a:buSzPct val="100000"/>
              <a:buChar char="•"/>
            </a:pPr>
            <a:r>
              <a:rPr lang="en-US" sz="1000" dirty="0">
                <a:solidFill>
                  <a:srgbClr val="5A6672"/>
                </a:solidFill>
                <a:latin typeface="Calibri" pitchFamily="34" charset="0"/>
                <a:ea typeface="Calibri" pitchFamily="34" charset="-122"/>
                <a:cs typeface="Calibri" pitchFamily="34" charset="-120"/>
              </a:rPr>
              <a:t>Variant conditions survive the release upgrade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EFFORT ESTIMATE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What it costs to build</a:t>
            </a:r>
            <a:endParaRPr lang="en-US" sz="2900" dirty="0"/>
          </a:p>
        </p:txBody>
      </p:sp>
      <p:graphicFrame>
        <p:nvGraphicFramePr>
          <p:cNvPr id="4" name="Chart 0" descr=""/>
          <p:cNvGraphicFramePr/>
          <p:nvPr/>
        </p:nvGraphicFramePr>
        <p:xfrm>
          <a:off x="640080" y="1600200"/>
          <a:ext cx="68580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600200"/>
            <a:ext cx="3822192" cy="1417320"/>
          </a:xfrm>
          <a:prstGeom prst="roundRect">
            <a:avLst>
              <a:gd name="adj" fmla="val 5806"/>
            </a:avLst>
          </a:prstGeom>
          <a:solidFill>
            <a:srgbClr val="001034"/>
          </a:solidFill>
          <a:ln/>
        </p:spPr>
      </p:sp>
      <p:sp>
        <p:nvSpPr>
          <p:cNvPr id="6" name="Text 3"/>
          <p:cNvSpPr/>
          <p:nvPr/>
        </p:nvSpPr>
        <p:spPr>
          <a:xfrm>
            <a:off x="8001000" y="1755648"/>
            <a:ext cx="3291840" cy="457200"/>
          </a:xfrm>
          <a:prstGeom prst="rect">
            <a:avLst/>
          </a:prstGeom>
          <a:noFill/>
          <a:ln/>
        </p:spPr>
        <p:txBody>
          <a:bodyPr wrap="square" lIns="0" tIns="0" rIns="0" bIns="0" rtlCol="0" anchor="ctr"/>
          <a:lstStyle/>
          <a:p>
            <a:pPr indent="0" marL="0">
              <a:buNone/>
            </a:pPr>
            <a:r>
              <a:rPr lang="en-US" sz="2700" b="1" dirty="0">
                <a:solidFill>
                  <a:srgbClr val="00E1A0"/>
                </a:solidFill>
                <a:latin typeface="Arial" pitchFamily="34" charset="0"/>
                <a:ea typeface="Arial" pitchFamily="34" charset="-122"/>
                <a:cs typeface="Arial" pitchFamily="34" charset="-120"/>
              </a:rPr>
              <a:t>≈ 67 → 42</a:t>
            </a:r>
            <a:endParaRPr lang="en-US" sz="2700" dirty="0"/>
          </a:p>
        </p:txBody>
      </p:sp>
      <p:sp>
        <p:nvSpPr>
          <p:cNvPr id="7" name="Text 4"/>
          <p:cNvSpPr/>
          <p:nvPr/>
        </p:nvSpPr>
        <p:spPr>
          <a:xfrm>
            <a:off x="8001000" y="2240280"/>
            <a:ext cx="3291840" cy="685800"/>
          </a:xfrm>
          <a:prstGeom prst="rect">
            <a:avLst/>
          </a:prstGeom>
          <a:noFill/>
          <a:ln/>
        </p:spPr>
        <p:txBody>
          <a:bodyPr wrap="square" lIns="0" tIns="0" rIns="0" bIns="0" rtlCol="0" anchor="ctr"/>
          <a:lstStyle/>
          <a:p>
            <a:pPr indent="0" marL="0">
              <a:lnSpc>
                <a:spcPts val="1400"/>
              </a:lnSpc>
              <a:buNone/>
            </a:pPr>
            <a:r>
              <a:rPr lang="en-US" sz="1150" dirty="0">
                <a:solidFill>
                  <a:srgbClr val="CFDCE6"/>
                </a:solidFill>
                <a:latin typeface="Calibri" pitchFamily="34" charset="0"/>
                <a:ea typeface="Calibri" pitchFamily="34" charset="-122"/>
                <a:cs typeface="Calibri" pitchFamily="34" charset="-120"/>
              </a:rPr>
              <a:t>person-days total, conventional versus AI-assisted — roughly one quarter saved</a:t>
            </a:r>
            <a:endParaRPr lang="en-US" sz="1150" dirty="0"/>
          </a:p>
        </p:txBody>
      </p:sp>
      <p:sp>
        <p:nvSpPr>
          <p:cNvPr id="8" name="Shape 5"/>
          <p:cNvSpPr/>
          <p:nvPr/>
        </p:nvSpPr>
        <p:spPr>
          <a:xfrm>
            <a:off x="7726680" y="3154680"/>
            <a:ext cx="3822192" cy="2423160"/>
          </a:xfrm>
          <a:prstGeom prst="roundRect">
            <a:avLst>
              <a:gd name="adj" fmla="val 3396"/>
            </a:avLst>
          </a:prstGeom>
          <a:solidFill>
            <a:srgbClr val="F1F5F7"/>
          </a:solidFill>
          <a:ln w="9525">
            <a:solidFill>
              <a:srgbClr val="DDE5EA"/>
            </a:solidFill>
            <a:prstDash val="solid"/>
          </a:ln>
        </p:spPr>
      </p:sp>
      <p:sp>
        <p:nvSpPr>
          <p:cNvPr id="9" name="Text 6"/>
          <p:cNvSpPr/>
          <p:nvPr/>
        </p:nvSpPr>
        <p:spPr>
          <a:xfrm>
            <a:off x="8001000" y="3310128"/>
            <a:ext cx="3291840" cy="27432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Plus cross-cutting work</a:t>
            </a:r>
            <a:endParaRPr lang="en-US" sz="1300" dirty="0"/>
          </a:p>
        </p:txBody>
      </p:sp>
      <p:sp>
        <p:nvSpPr>
          <p:cNvPr id="10" name="Text 7"/>
          <p:cNvSpPr/>
          <p:nvPr/>
        </p:nvSpPr>
        <p:spPr>
          <a:xfrm>
            <a:off x="8001000" y="3675888"/>
            <a:ext cx="2651760" cy="274320"/>
          </a:xfrm>
          <a:prstGeom prst="rect">
            <a:avLst/>
          </a:prstGeom>
          <a:noFill/>
          <a:ln/>
        </p:spPr>
        <p:txBody>
          <a:bodyPr wrap="square" lIns="0" tIns="0" rIns="0" bIns="0" rtlCol="0" anchor="ctr"/>
          <a:lstStyle/>
          <a:p>
            <a:pPr indent="0" marL="0">
              <a:buNone/>
            </a:pPr>
            <a:r>
              <a:rPr lang="en-US" sz="1050" dirty="0">
                <a:solidFill>
                  <a:srgbClr val="12233A"/>
                </a:solidFill>
                <a:latin typeface="Calibri" pitchFamily="34" charset="0"/>
                <a:ea typeface="Calibri" pitchFamily="34" charset="-122"/>
                <a:cs typeface="Calibri" pitchFamily="34" charset="-120"/>
              </a:rPr>
              <a:t>Test data design &amp; teardown</a:t>
            </a:r>
            <a:endParaRPr lang="en-US" sz="1050" dirty="0"/>
          </a:p>
        </p:txBody>
      </p:sp>
      <p:sp>
        <p:nvSpPr>
          <p:cNvPr id="11" name="Text 8"/>
          <p:cNvSpPr/>
          <p:nvPr/>
        </p:nvSpPr>
        <p:spPr>
          <a:xfrm>
            <a:off x="10698480" y="3675888"/>
            <a:ext cx="594360" cy="274320"/>
          </a:xfrm>
          <a:prstGeom prst="rect">
            <a:avLst/>
          </a:prstGeom>
          <a:noFill/>
          <a:ln/>
        </p:spPr>
        <p:txBody>
          <a:bodyPr wrap="square" lIns="0" tIns="0" rIns="0" bIns="0" rtlCol="0" anchor="ctr"/>
          <a:lstStyle/>
          <a:p>
            <a:pPr algn="r" indent="0" marL="0">
              <a:buNone/>
            </a:pPr>
            <a:r>
              <a:rPr lang="en-US" sz="1050" b="1" dirty="0">
                <a:solidFill>
                  <a:srgbClr val="007F80"/>
                </a:solidFill>
                <a:latin typeface="Arial" pitchFamily="34" charset="0"/>
                <a:ea typeface="Arial" pitchFamily="34" charset="-122"/>
                <a:cs typeface="Arial" pitchFamily="34" charset="-120"/>
              </a:rPr>
              <a:t>5 d</a:t>
            </a:r>
            <a:endParaRPr lang="en-US" sz="1050" dirty="0"/>
          </a:p>
        </p:txBody>
      </p:sp>
      <p:sp>
        <p:nvSpPr>
          <p:cNvPr id="12" name="Text 9"/>
          <p:cNvSpPr/>
          <p:nvPr/>
        </p:nvSpPr>
        <p:spPr>
          <a:xfrm>
            <a:off x="8001000" y="4096512"/>
            <a:ext cx="2651760" cy="274320"/>
          </a:xfrm>
          <a:prstGeom prst="rect">
            <a:avLst/>
          </a:prstGeom>
          <a:noFill/>
          <a:ln/>
        </p:spPr>
        <p:txBody>
          <a:bodyPr wrap="square" lIns="0" tIns="0" rIns="0" bIns="0" rtlCol="0" anchor="ctr"/>
          <a:lstStyle/>
          <a:p>
            <a:pPr indent="0" marL="0">
              <a:buNone/>
            </a:pPr>
            <a:r>
              <a:rPr lang="en-US" sz="1050" dirty="0">
                <a:solidFill>
                  <a:srgbClr val="12233A"/>
                </a:solidFill>
                <a:latin typeface="Calibri" pitchFamily="34" charset="0"/>
                <a:ea typeface="Calibri" pitchFamily="34" charset="-122"/>
                <a:cs typeface="Calibri" pitchFamily="34" charset="-120"/>
              </a:rPr>
              <a:t>Newman stage, reporting, CI wiring</a:t>
            </a:r>
            <a:endParaRPr lang="en-US" sz="1050" dirty="0"/>
          </a:p>
        </p:txBody>
      </p:sp>
      <p:sp>
        <p:nvSpPr>
          <p:cNvPr id="13" name="Text 10"/>
          <p:cNvSpPr/>
          <p:nvPr/>
        </p:nvSpPr>
        <p:spPr>
          <a:xfrm>
            <a:off x="10698480" y="4096512"/>
            <a:ext cx="594360" cy="274320"/>
          </a:xfrm>
          <a:prstGeom prst="rect">
            <a:avLst/>
          </a:prstGeom>
          <a:noFill/>
          <a:ln/>
        </p:spPr>
        <p:txBody>
          <a:bodyPr wrap="square" lIns="0" tIns="0" rIns="0" bIns="0" rtlCol="0" anchor="ctr"/>
          <a:lstStyle/>
          <a:p>
            <a:pPr algn="r" indent="0" marL="0">
              <a:buNone/>
            </a:pPr>
            <a:r>
              <a:rPr lang="en-US" sz="1050" b="1" dirty="0">
                <a:solidFill>
                  <a:srgbClr val="007F80"/>
                </a:solidFill>
                <a:latin typeface="Arial" pitchFamily="34" charset="0"/>
                <a:ea typeface="Arial" pitchFamily="34" charset="-122"/>
                <a:cs typeface="Arial" pitchFamily="34" charset="-120"/>
              </a:rPr>
              <a:t>5 d</a:t>
            </a:r>
            <a:endParaRPr lang="en-US" sz="1050" dirty="0"/>
          </a:p>
        </p:txBody>
      </p:sp>
      <p:sp>
        <p:nvSpPr>
          <p:cNvPr id="14" name="Text 11"/>
          <p:cNvSpPr/>
          <p:nvPr/>
        </p:nvSpPr>
        <p:spPr>
          <a:xfrm>
            <a:off x="8001000" y="4517136"/>
            <a:ext cx="2651760" cy="274320"/>
          </a:xfrm>
          <a:prstGeom prst="rect">
            <a:avLst/>
          </a:prstGeom>
          <a:noFill/>
          <a:ln/>
        </p:spPr>
        <p:txBody>
          <a:bodyPr wrap="square" lIns="0" tIns="0" rIns="0" bIns="0" rtlCol="0" anchor="ctr"/>
          <a:lstStyle/>
          <a:p>
            <a:pPr indent="0" marL="0">
              <a:buNone/>
            </a:pPr>
            <a:r>
              <a:rPr lang="en-US" sz="1050" dirty="0">
                <a:solidFill>
                  <a:srgbClr val="12233A"/>
                </a:solidFill>
                <a:latin typeface="Calibri" pitchFamily="34" charset="0"/>
                <a:ea typeface="Calibri" pitchFamily="34" charset="-122"/>
                <a:cs typeface="Calibri" pitchFamily="34" charset="-120"/>
              </a:rPr>
              <a:t>Stabilisation against a live instance</a:t>
            </a:r>
            <a:endParaRPr lang="en-US" sz="1050" dirty="0"/>
          </a:p>
        </p:txBody>
      </p:sp>
      <p:sp>
        <p:nvSpPr>
          <p:cNvPr id="15" name="Text 12"/>
          <p:cNvSpPr/>
          <p:nvPr/>
        </p:nvSpPr>
        <p:spPr>
          <a:xfrm>
            <a:off x="10698480" y="4517136"/>
            <a:ext cx="594360" cy="274320"/>
          </a:xfrm>
          <a:prstGeom prst="rect">
            <a:avLst/>
          </a:prstGeom>
          <a:noFill/>
          <a:ln/>
        </p:spPr>
        <p:txBody>
          <a:bodyPr wrap="square" lIns="0" tIns="0" rIns="0" bIns="0" rtlCol="0" anchor="ctr"/>
          <a:lstStyle/>
          <a:p>
            <a:pPr algn="r" indent="0" marL="0">
              <a:buNone/>
            </a:pPr>
            <a:r>
              <a:rPr lang="en-US" sz="1050" b="1" dirty="0">
                <a:solidFill>
                  <a:srgbClr val="007F80"/>
                </a:solidFill>
                <a:latin typeface="Arial" pitchFamily="34" charset="0"/>
                <a:ea typeface="Arial" pitchFamily="34" charset="-122"/>
                <a:cs typeface="Arial" pitchFamily="34" charset="-120"/>
              </a:rPr>
              <a:t>5 d</a:t>
            </a:r>
            <a:endParaRPr lang="en-US" sz="1050" dirty="0"/>
          </a:p>
        </p:txBody>
      </p:sp>
      <p:sp>
        <p:nvSpPr>
          <p:cNvPr id="16" name="Text 13"/>
          <p:cNvSpPr/>
          <p:nvPr/>
        </p:nvSpPr>
        <p:spPr>
          <a:xfrm>
            <a:off x="8001000" y="4937760"/>
            <a:ext cx="2651760" cy="274320"/>
          </a:xfrm>
          <a:prstGeom prst="rect">
            <a:avLst/>
          </a:prstGeom>
          <a:noFill/>
          <a:ln/>
        </p:spPr>
        <p:txBody>
          <a:bodyPr wrap="square" lIns="0" tIns="0" rIns="0" bIns="0" rtlCol="0" anchor="ctr"/>
          <a:lstStyle/>
          <a:p>
            <a:pPr indent="0" marL="0">
              <a:buNone/>
            </a:pPr>
            <a:r>
              <a:rPr lang="en-US" sz="1050" dirty="0">
                <a:solidFill>
                  <a:srgbClr val="12233A"/>
                </a:solidFill>
                <a:latin typeface="Calibri" pitchFamily="34" charset="0"/>
                <a:ea typeface="Calibri" pitchFamily="34" charset="-122"/>
                <a:cs typeface="Calibri" pitchFamily="34" charset="-120"/>
              </a:rPr>
              <a:t>Documentation &amp; handover</a:t>
            </a:r>
            <a:endParaRPr lang="en-US" sz="1050" dirty="0"/>
          </a:p>
        </p:txBody>
      </p:sp>
      <p:sp>
        <p:nvSpPr>
          <p:cNvPr id="17" name="Text 14"/>
          <p:cNvSpPr/>
          <p:nvPr/>
        </p:nvSpPr>
        <p:spPr>
          <a:xfrm>
            <a:off x="10698480" y="4937760"/>
            <a:ext cx="594360" cy="274320"/>
          </a:xfrm>
          <a:prstGeom prst="rect">
            <a:avLst/>
          </a:prstGeom>
          <a:noFill/>
          <a:ln/>
        </p:spPr>
        <p:txBody>
          <a:bodyPr wrap="square" lIns="0" tIns="0" rIns="0" bIns="0" rtlCol="0" anchor="ctr"/>
          <a:lstStyle/>
          <a:p>
            <a:pPr algn="r" indent="0" marL="0">
              <a:buNone/>
            </a:pPr>
            <a:r>
              <a:rPr lang="en-US" sz="1050" b="1" dirty="0">
                <a:solidFill>
                  <a:srgbClr val="007F80"/>
                </a:solidFill>
                <a:latin typeface="Arial" pitchFamily="34" charset="0"/>
                <a:ea typeface="Arial" pitchFamily="34" charset="-122"/>
                <a:cs typeface="Arial" pitchFamily="34" charset="-120"/>
              </a:rPr>
              <a:t>3 d</a:t>
            </a:r>
            <a:endParaRPr lang="en-US" sz="1050" dirty="0"/>
          </a:p>
        </p:txBody>
      </p:sp>
      <p:sp>
        <p:nvSpPr>
          <p:cNvPr id="18" name="Text 15"/>
          <p:cNvSpPr/>
          <p:nvPr/>
        </p:nvSpPr>
        <p:spPr>
          <a:xfrm>
            <a:off x="8001000" y="5285232"/>
            <a:ext cx="329184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18 d cross-cutting, included in the totals above</a:t>
            </a:r>
            <a:endParaRPr lang="en-US" sz="950" dirty="0"/>
          </a:p>
        </p:txBody>
      </p:sp>
      <p:sp>
        <p:nvSpPr>
          <p:cNvPr id="19" name="Text 16"/>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Planning estimate for one experienced engineer, assuming the existing frameworks are reused and a stable test environment is available. Excludes environment provisioning and customer-side approvals.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AI ACCELERATION</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Where AI fits in the toolchain</a:t>
            </a:r>
            <a:endParaRPr lang="en-US" sz="2900" dirty="0"/>
          </a:p>
        </p:txBody>
      </p:sp>
      <p:sp>
        <p:nvSpPr>
          <p:cNvPr id="4" name="Text 2"/>
          <p:cNvSpPr/>
          <p:nvPr/>
        </p:nvSpPr>
        <p:spPr>
          <a:xfrm>
            <a:off x="640080" y="1316736"/>
            <a:ext cx="10881360" cy="365760"/>
          </a:xfrm>
          <a:prstGeom prst="rect">
            <a:avLst/>
          </a:prstGeom>
          <a:noFill/>
          <a:ln/>
        </p:spPr>
        <p:txBody>
          <a:bodyPr wrap="square" lIns="0" tIns="0" rIns="0" bIns="0" rtlCol="0" anchor="ctr"/>
          <a:lstStyle/>
          <a:p>
            <a:pPr indent="0" marL="0">
              <a:buNone/>
            </a:pPr>
            <a:r>
              <a:rPr lang="en-US" sz="1300" dirty="0">
                <a:solidFill>
                  <a:srgbClr val="5A6672"/>
                </a:solidFill>
                <a:latin typeface="Calibri" pitchFamily="34" charset="0"/>
                <a:ea typeface="Calibri" pitchFamily="34" charset="-122"/>
                <a:cs typeface="Calibri" pitchFamily="34" charset="-120"/>
              </a:rPr>
              <a:t>The goal is not AI writing tests unsupervised. It is removing the typing, the boilerplate and the selector archaeology, so the engineer spends time on what the test should prove.</a:t>
            </a:r>
            <a:endParaRPr lang="en-US" sz="1300" dirty="0"/>
          </a:p>
        </p:txBody>
      </p:sp>
      <p:sp>
        <p:nvSpPr>
          <p:cNvPr id="5" name="Shape 3"/>
          <p:cNvSpPr/>
          <p:nvPr/>
        </p:nvSpPr>
        <p:spPr>
          <a:xfrm>
            <a:off x="640080" y="1783080"/>
            <a:ext cx="5257800" cy="1810512"/>
          </a:xfrm>
          <a:prstGeom prst="roundRect">
            <a:avLst>
              <a:gd name="adj" fmla="val 454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77824" y="2039112"/>
            <a:ext cx="548640" cy="548640"/>
          </a:xfrm>
          <a:prstGeom prst="ellipse">
            <a:avLst/>
          </a:prstGeom>
          <a:solidFill>
            <a:srgbClr val="001034"/>
          </a:solidFill>
          <a:ln w="12700">
            <a:solidFill>
              <a:srgbClr val="001034"/>
            </a:solidFill>
            <a:prstDash val="solid"/>
          </a:ln>
        </p:spPr>
      </p:sp>
      <p:pic>
        <p:nvPicPr>
          <p:cNvPr id="7" name="Image 0" descr="preencoded.png">    </p:cNvPr>
          <p:cNvPicPr>
            <a:picLocks noChangeAspect="1"/>
          </p:cNvPicPr>
          <p:nvPr/>
        </p:nvPicPr>
        <p:blipFill>
          <a:blip r:embed="rId1"/>
          <a:stretch>
            <a:fillRect/>
          </a:stretch>
        </p:blipFill>
        <p:spPr>
          <a:xfrm>
            <a:off x="1009498" y="2170786"/>
            <a:ext cx="285293" cy="285293"/>
          </a:xfrm>
          <a:prstGeom prst="rect">
            <a:avLst/>
          </a:prstGeom>
        </p:spPr>
      </p:pic>
      <p:sp>
        <p:nvSpPr>
          <p:cNvPr id="8" name="Text 5"/>
          <p:cNvSpPr/>
          <p:nvPr/>
        </p:nvSpPr>
        <p:spPr>
          <a:xfrm>
            <a:off x="1554480" y="2002536"/>
            <a:ext cx="4114800" cy="274320"/>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Agentic coding assistant</a:t>
            </a:r>
            <a:endParaRPr lang="en-US" sz="1350" dirty="0"/>
          </a:p>
        </p:txBody>
      </p:sp>
      <p:sp>
        <p:nvSpPr>
          <p:cNvPr id="9" name="Text 6"/>
          <p:cNvSpPr/>
          <p:nvPr/>
        </p:nvSpPr>
        <p:spPr>
          <a:xfrm>
            <a:off x="1554480" y="2276856"/>
            <a:ext cx="4114800" cy="256032"/>
          </a:xfrm>
          <a:prstGeom prst="rect">
            <a:avLst/>
          </a:prstGeom>
          <a:noFill/>
          <a:ln/>
        </p:spPr>
        <p:txBody>
          <a:bodyPr wrap="square" lIns="0" tIns="0" rIns="0" bIns="0" rtlCol="0" anchor="ctr"/>
          <a:lstStyle/>
          <a:p>
            <a:pPr indent="0" marL="0">
              <a:buNone/>
            </a:pPr>
            <a:r>
              <a:rPr lang="en-US" sz="1000" i="1" dirty="0">
                <a:solidFill>
                  <a:srgbClr val="007F80"/>
                </a:solidFill>
                <a:latin typeface="Calibri" pitchFamily="34" charset="0"/>
                <a:ea typeface="Calibri" pitchFamily="34" charset="-122"/>
                <a:cs typeface="Calibri" pitchFamily="34" charset="-120"/>
              </a:rPr>
              <a:t>In the IDE and on the command line</a:t>
            </a:r>
            <a:endParaRPr lang="en-US" sz="1000" dirty="0"/>
          </a:p>
        </p:txBody>
      </p:sp>
      <p:sp>
        <p:nvSpPr>
          <p:cNvPr id="10" name="Text 7"/>
          <p:cNvSpPr/>
          <p:nvPr/>
        </p:nvSpPr>
        <p:spPr>
          <a:xfrm>
            <a:off x="877824" y="2642616"/>
            <a:ext cx="4800600" cy="86868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Reads the repo, writes page objects and step implementations in the existing style, runs the Gradle task, reads the failure and fixes it. The iteration loop is the value, not the first draft.</a:t>
            </a:r>
            <a:endParaRPr lang="en-US" sz="1050" dirty="0"/>
          </a:p>
        </p:txBody>
      </p:sp>
      <p:sp>
        <p:nvSpPr>
          <p:cNvPr id="11" name="Shape 8"/>
          <p:cNvSpPr/>
          <p:nvPr/>
        </p:nvSpPr>
        <p:spPr>
          <a:xfrm>
            <a:off x="6172200" y="1783080"/>
            <a:ext cx="5257800" cy="1810512"/>
          </a:xfrm>
          <a:prstGeom prst="roundRect">
            <a:avLst>
              <a:gd name="adj" fmla="val 454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2" name="Shape 9"/>
          <p:cNvSpPr/>
          <p:nvPr/>
        </p:nvSpPr>
        <p:spPr>
          <a:xfrm>
            <a:off x="6409944" y="2039112"/>
            <a:ext cx="548640" cy="548640"/>
          </a:xfrm>
          <a:prstGeom prst="ellipse">
            <a:avLst/>
          </a:prstGeom>
          <a:solidFill>
            <a:srgbClr val="001034"/>
          </a:solidFill>
          <a:ln w="12700">
            <a:solidFill>
              <a:srgbClr val="001034"/>
            </a:solidFill>
            <a:prstDash val="solid"/>
          </a:ln>
        </p:spPr>
      </p:sp>
      <p:pic>
        <p:nvPicPr>
          <p:cNvPr id="13" name="Image 1" descr="preencoded.png">    </p:cNvPr>
          <p:cNvPicPr>
            <a:picLocks noChangeAspect="1"/>
          </p:cNvPicPr>
          <p:nvPr/>
        </p:nvPicPr>
        <p:blipFill>
          <a:blip r:embed="rId2"/>
          <a:stretch>
            <a:fillRect/>
          </a:stretch>
        </p:blipFill>
        <p:spPr>
          <a:xfrm>
            <a:off x="6541618" y="2170786"/>
            <a:ext cx="285293" cy="285293"/>
          </a:xfrm>
          <a:prstGeom prst="rect">
            <a:avLst/>
          </a:prstGeom>
        </p:spPr>
      </p:pic>
      <p:sp>
        <p:nvSpPr>
          <p:cNvPr id="14" name="Text 10"/>
          <p:cNvSpPr/>
          <p:nvPr/>
        </p:nvSpPr>
        <p:spPr>
          <a:xfrm>
            <a:off x="7086600" y="2002536"/>
            <a:ext cx="4114800" cy="274320"/>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IDE with a Gauge plugin</a:t>
            </a:r>
            <a:endParaRPr lang="en-US" sz="1350" dirty="0"/>
          </a:p>
        </p:txBody>
      </p:sp>
      <p:sp>
        <p:nvSpPr>
          <p:cNvPr id="15" name="Text 11"/>
          <p:cNvSpPr/>
          <p:nvPr/>
        </p:nvSpPr>
        <p:spPr>
          <a:xfrm>
            <a:off x="7086600" y="2276856"/>
            <a:ext cx="4114800" cy="256032"/>
          </a:xfrm>
          <a:prstGeom prst="rect">
            <a:avLst/>
          </a:prstGeom>
          <a:noFill/>
          <a:ln/>
        </p:spPr>
        <p:txBody>
          <a:bodyPr wrap="square" lIns="0" tIns="0" rIns="0" bIns="0" rtlCol="0" anchor="ctr"/>
          <a:lstStyle/>
          <a:p>
            <a:pPr indent="0" marL="0">
              <a:buNone/>
            </a:pPr>
            <a:r>
              <a:rPr lang="en-US" sz="1000" i="1" dirty="0">
                <a:solidFill>
                  <a:srgbClr val="007F80"/>
                </a:solidFill>
                <a:latin typeface="Calibri" pitchFamily="34" charset="0"/>
                <a:ea typeface="Calibri" pitchFamily="34" charset="-122"/>
                <a:cs typeface="Calibri" pitchFamily="34" charset="-120"/>
              </a:rPr>
              <a:t>IntelliJ IDEA for this Groovy/Gradle stack</a:t>
            </a:r>
            <a:endParaRPr lang="en-US" sz="1000" dirty="0"/>
          </a:p>
        </p:txBody>
      </p:sp>
      <p:sp>
        <p:nvSpPr>
          <p:cNvPr id="16" name="Text 12"/>
          <p:cNvSpPr/>
          <p:nvPr/>
        </p:nvSpPr>
        <p:spPr>
          <a:xfrm>
            <a:off x="6409944" y="2642616"/>
            <a:ext cx="4800600" cy="86868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Step navigation, refactoring and spec-to-implementation jumps. Keeps AI-generated code inside the same conventions the team already reviews.</a:t>
            </a:r>
            <a:endParaRPr lang="en-US" sz="1050" dirty="0"/>
          </a:p>
        </p:txBody>
      </p:sp>
      <p:sp>
        <p:nvSpPr>
          <p:cNvPr id="17" name="Shape 13"/>
          <p:cNvSpPr/>
          <p:nvPr/>
        </p:nvSpPr>
        <p:spPr>
          <a:xfrm>
            <a:off x="640080" y="3794760"/>
            <a:ext cx="5257800" cy="1810512"/>
          </a:xfrm>
          <a:prstGeom prst="roundRect">
            <a:avLst>
              <a:gd name="adj" fmla="val 454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8" name="Shape 14"/>
          <p:cNvSpPr/>
          <p:nvPr/>
        </p:nvSpPr>
        <p:spPr>
          <a:xfrm>
            <a:off x="877824" y="4050792"/>
            <a:ext cx="548640" cy="548640"/>
          </a:xfrm>
          <a:prstGeom prst="ellipse">
            <a:avLst/>
          </a:prstGeom>
          <a:solidFill>
            <a:srgbClr val="001034"/>
          </a:solidFill>
          <a:ln w="12700">
            <a:solidFill>
              <a:srgbClr val="001034"/>
            </a:solidFill>
            <a:prstDash val="solid"/>
          </a:ln>
        </p:spPr>
      </p:sp>
      <p:pic>
        <p:nvPicPr>
          <p:cNvPr id="19" name="Image 2" descr="preencoded.png">    </p:cNvPr>
          <p:cNvPicPr>
            <a:picLocks noChangeAspect="1"/>
          </p:cNvPicPr>
          <p:nvPr/>
        </p:nvPicPr>
        <p:blipFill>
          <a:blip r:embed="rId3"/>
          <a:stretch>
            <a:fillRect/>
          </a:stretch>
        </p:blipFill>
        <p:spPr>
          <a:xfrm>
            <a:off x="1009498" y="4182466"/>
            <a:ext cx="285293" cy="285293"/>
          </a:xfrm>
          <a:prstGeom prst="rect">
            <a:avLst/>
          </a:prstGeom>
        </p:spPr>
      </p:pic>
      <p:sp>
        <p:nvSpPr>
          <p:cNvPr id="20" name="Text 15"/>
          <p:cNvSpPr/>
          <p:nvPr/>
        </p:nvSpPr>
        <p:spPr>
          <a:xfrm>
            <a:off x="1554480" y="4014216"/>
            <a:ext cx="4114800" cy="274320"/>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Browser-control MCP server</a:t>
            </a:r>
            <a:endParaRPr lang="en-US" sz="1350" dirty="0"/>
          </a:p>
        </p:txBody>
      </p:sp>
      <p:sp>
        <p:nvSpPr>
          <p:cNvPr id="21" name="Text 16"/>
          <p:cNvSpPr/>
          <p:nvPr/>
        </p:nvSpPr>
        <p:spPr>
          <a:xfrm>
            <a:off x="1554480" y="4288536"/>
            <a:ext cx="4114800" cy="256032"/>
          </a:xfrm>
          <a:prstGeom prst="rect">
            <a:avLst/>
          </a:prstGeom>
          <a:noFill/>
          <a:ln/>
        </p:spPr>
        <p:txBody>
          <a:bodyPr wrap="square" lIns="0" tIns="0" rIns="0" bIns="0" rtlCol="0" anchor="ctr"/>
          <a:lstStyle/>
          <a:p>
            <a:pPr indent="0" marL="0">
              <a:buNone/>
            </a:pPr>
            <a:r>
              <a:rPr lang="en-US" sz="1000" i="1" dirty="0">
                <a:solidFill>
                  <a:srgbClr val="007F80"/>
                </a:solidFill>
                <a:latin typeface="Calibri" pitchFamily="34" charset="0"/>
                <a:ea typeface="Calibri" pitchFamily="34" charset="-122"/>
                <a:cs typeface="Calibri" pitchFamily="34" charset="-120"/>
              </a:rPr>
              <a:t>Playwright or Chrome DevTools MCP</a:t>
            </a:r>
            <a:endParaRPr lang="en-US" sz="1000" dirty="0"/>
          </a:p>
        </p:txBody>
      </p:sp>
      <p:sp>
        <p:nvSpPr>
          <p:cNvPr id="22" name="Text 17"/>
          <p:cNvSpPr/>
          <p:nvPr/>
        </p:nvSpPr>
        <p:spPr>
          <a:xfrm>
            <a:off x="877824" y="4654296"/>
            <a:ext cx="4800600" cy="86868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Lets the assistant open the real Active Workspace screen and read the live DOM and accessibility tree — so selectors come from the running client, never from a guess.</a:t>
            </a:r>
            <a:endParaRPr lang="en-US" sz="1050" dirty="0"/>
          </a:p>
        </p:txBody>
      </p:sp>
      <p:sp>
        <p:nvSpPr>
          <p:cNvPr id="23" name="Shape 18"/>
          <p:cNvSpPr/>
          <p:nvPr/>
        </p:nvSpPr>
        <p:spPr>
          <a:xfrm>
            <a:off x="6172200" y="3794760"/>
            <a:ext cx="5257800" cy="1810512"/>
          </a:xfrm>
          <a:prstGeom prst="roundRect">
            <a:avLst>
              <a:gd name="adj" fmla="val 454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4" name="Shape 19"/>
          <p:cNvSpPr/>
          <p:nvPr/>
        </p:nvSpPr>
        <p:spPr>
          <a:xfrm>
            <a:off x="6409944" y="4050792"/>
            <a:ext cx="548640" cy="548640"/>
          </a:xfrm>
          <a:prstGeom prst="ellipse">
            <a:avLst/>
          </a:prstGeom>
          <a:solidFill>
            <a:srgbClr val="001034"/>
          </a:solidFill>
          <a:ln w="12700">
            <a:solidFill>
              <a:srgbClr val="001034"/>
            </a:solidFill>
            <a:prstDash val="solid"/>
          </a:ln>
        </p:spPr>
      </p:sp>
      <p:pic>
        <p:nvPicPr>
          <p:cNvPr id="25" name="Image 3" descr="preencoded.png">    </p:cNvPr>
          <p:cNvPicPr>
            <a:picLocks noChangeAspect="1"/>
          </p:cNvPicPr>
          <p:nvPr/>
        </p:nvPicPr>
        <p:blipFill>
          <a:blip r:embed="rId4"/>
          <a:stretch>
            <a:fillRect/>
          </a:stretch>
        </p:blipFill>
        <p:spPr>
          <a:xfrm>
            <a:off x="6541618" y="4182466"/>
            <a:ext cx="285293" cy="285293"/>
          </a:xfrm>
          <a:prstGeom prst="rect">
            <a:avLst/>
          </a:prstGeom>
        </p:spPr>
      </p:pic>
      <p:sp>
        <p:nvSpPr>
          <p:cNvPr id="26" name="Text 20"/>
          <p:cNvSpPr/>
          <p:nvPr/>
        </p:nvSpPr>
        <p:spPr>
          <a:xfrm>
            <a:off x="7086600" y="4014216"/>
            <a:ext cx="4114800" cy="274320"/>
          </a:xfrm>
          <a:prstGeom prst="rect">
            <a:avLst/>
          </a:prstGeom>
          <a:noFill/>
          <a:ln/>
        </p:spPr>
        <p:txBody>
          <a:bodyPr wrap="square" lIns="0" tIns="0" rIns="0" bIns="0" rtlCol="0" anchor="ctr"/>
          <a:lstStyle/>
          <a:p>
            <a:pPr indent="0" marL="0">
              <a:buNone/>
            </a:pPr>
            <a:r>
              <a:rPr lang="en-US" sz="1350" b="1" dirty="0">
                <a:solidFill>
                  <a:srgbClr val="001034"/>
                </a:solidFill>
                <a:latin typeface="Arial" pitchFamily="34" charset="0"/>
                <a:ea typeface="Arial" pitchFamily="34" charset="-122"/>
                <a:cs typeface="Arial" pitchFamily="34" charset="-120"/>
              </a:rPr>
              <a:t>Assertion generation</a:t>
            </a:r>
            <a:endParaRPr lang="en-US" sz="1350" dirty="0"/>
          </a:p>
        </p:txBody>
      </p:sp>
      <p:sp>
        <p:nvSpPr>
          <p:cNvPr id="27" name="Text 21"/>
          <p:cNvSpPr/>
          <p:nvPr/>
        </p:nvSpPr>
        <p:spPr>
          <a:xfrm>
            <a:off x="7086600" y="4288536"/>
            <a:ext cx="4114800" cy="256032"/>
          </a:xfrm>
          <a:prstGeom prst="rect">
            <a:avLst/>
          </a:prstGeom>
          <a:noFill/>
          <a:ln/>
        </p:spPr>
        <p:txBody>
          <a:bodyPr wrap="square" lIns="0" tIns="0" rIns="0" bIns="0" rtlCol="0" anchor="ctr"/>
          <a:lstStyle/>
          <a:p>
            <a:pPr indent="0" marL="0">
              <a:buNone/>
            </a:pPr>
            <a:r>
              <a:rPr lang="en-US" sz="1000" i="1" dirty="0">
                <a:solidFill>
                  <a:srgbClr val="007F80"/>
                </a:solidFill>
                <a:latin typeface="Calibri" pitchFamily="34" charset="0"/>
                <a:ea typeface="Calibri" pitchFamily="34" charset="-122"/>
                <a:cs typeface="Calibri" pitchFamily="34" charset="-120"/>
              </a:rPr>
              <a:t>From captured API responses</a:t>
            </a:r>
            <a:endParaRPr lang="en-US" sz="1000" dirty="0"/>
          </a:p>
        </p:txBody>
      </p:sp>
      <p:sp>
        <p:nvSpPr>
          <p:cNvPr id="28" name="Text 22"/>
          <p:cNvSpPr/>
          <p:nvPr/>
        </p:nvSpPr>
        <p:spPr>
          <a:xfrm>
            <a:off x="6409944" y="4654296"/>
            <a:ext cx="4800600" cy="86868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Turns the existing collections' recorded responses into concrete assertions — the fastest fix for the requests that currently assert nothing.</a:t>
            </a:r>
            <a:endParaRPr lang="en-US" sz="1050" dirty="0"/>
          </a:p>
        </p:txBody>
      </p:sp>
      <p:sp>
        <p:nvSpPr>
          <p:cNvPr id="29" name="Text 23"/>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Guardrail: nothing AI writes is merged without a human review of its selectors and a green run against a live instance. The existing pull-request pipeline already enforces the second half.</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AI ACCELERATION · ACTIVE WORKSPACE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How to tell AI where to click</a:t>
            </a:r>
            <a:endParaRPr lang="en-US" sz="2900" dirty="0"/>
          </a:p>
        </p:txBody>
      </p:sp>
      <p:sp>
        <p:nvSpPr>
          <p:cNvPr id="4" name="Text 2"/>
          <p:cNvSpPr/>
          <p:nvPr/>
        </p:nvSpPr>
        <p:spPr>
          <a:xfrm>
            <a:off x="640080" y="1316736"/>
            <a:ext cx="10881360" cy="365760"/>
          </a:xfrm>
          <a:prstGeom prst="rect">
            <a:avLst/>
          </a:prstGeom>
          <a:noFill/>
          <a:ln/>
        </p:spPr>
        <p:txBody>
          <a:bodyPr wrap="square" lIns="0" tIns="0" rIns="0" bIns="0" rtlCol="0" anchor="ctr"/>
          <a:lstStyle/>
          <a:p>
            <a:pPr indent="0" marL="0">
              <a:buNone/>
            </a:pPr>
            <a:r>
              <a:rPr lang="en-US" sz="1300" dirty="0">
                <a:solidFill>
                  <a:srgbClr val="5A6672"/>
                </a:solidFill>
                <a:latin typeface="Calibri" pitchFamily="34" charset="0"/>
                <a:ea typeface="Calibri" pitchFamily="34" charset="-122"/>
                <a:cs typeface="Calibri" pitchFamily="34" charset="-120"/>
              </a:rPr>
              <a:t>You do not describe clicks in prose. You give the assistant a locator contract — a map from business concept to a stable anchor in the Active Workspace DOM.</a:t>
            </a:r>
            <a:endParaRPr lang="en-US" sz="1300" dirty="0"/>
          </a:p>
        </p:txBody>
      </p:sp>
      <p:sp>
        <p:nvSpPr>
          <p:cNvPr id="5" name="Shape 3"/>
          <p:cNvSpPr/>
          <p:nvPr/>
        </p:nvSpPr>
        <p:spPr>
          <a:xfrm>
            <a:off x="640080" y="1810512"/>
            <a:ext cx="5349240" cy="3063240"/>
          </a:xfrm>
          <a:prstGeom prst="roundRect">
            <a:avLst>
              <a:gd name="adj" fmla="val 2687"/>
            </a:avLst>
          </a:prstGeom>
          <a:solidFill>
            <a:srgbClr val="F0FBF7"/>
          </a:solidFill>
          <a:ln w="13970">
            <a:solidFill>
              <a:srgbClr val="00E1A0"/>
            </a:solidFill>
            <a:prstDash val="solid"/>
          </a:ln>
        </p:spPr>
      </p:sp>
      <p:sp>
        <p:nvSpPr>
          <p:cNvPr id="6" name="Text 4"/>
          <p:cNvSpPr/>
          <p:nvPr/>
        </p:nvSpPr>
        <p:spPr>
          <a:xfrm>
            <a:off x="914400" y="1975104"/>
            <a:ext cx="4754880" cy="292608"/>
          </a:xfrm>
          <a:prstGeom prst="rect">
            <a:avLst/>
          </a:prstGeom>
          <a:noFill/>
          <a:ln/>
        </p:spPr>
        <p:txBody>
          <a:bodyPr wrap="square" lIns="0" tIns="0" rIns="0" bIns="0" rtlCol="0" anchor="ctr"/>
          <a:lstStyle/>
          <a:p>
            <a:pPr indent="0" marL="0">
              <a:buNone/>
            </a:pPr>
            <a:r>
              <a:rPr lang="en-US" sz="1400" b="1" dirty="0">
                <a:solidFill>
                  <a:srgbClr val="007F80"/>
                </a:solidFill>
                <a:latin typeface="Arial" pitchFamily="34" charset="0"/>
                <a:ea typeface="Arial" pitchFamily="34" charset="-122"/>
                <a:cs typeface="Arial" pitchFamily="34" charset="-120"/>
              </a:rPr>
              <a:t>Anchor on Teamcenter semantics</a:t>
            </a:r>
            <a:endParaRPr lang="en-US" sz="1400" dirty="0"/>
          </a:p>
        </p:txBody>
      </p:sp>
      <p:sp>
        <p:nvSpPr>
          <p:cNvPr id="7" name="Text 5"/>
          <p:cNvSpPr/>
          <p:nvPr/>
        </p:nvSpPr>
        <p:spPr>
          <a:xfrm>
            <a:off x="914400" y="2377440"/>
            <a:ext cx="4800600" cy="2377440"/>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The command id carried by a command button — the same id BMIDE and the view model use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The Teamcenter property name on a property widget, not its displayed label</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The column id in a structure or search table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ARIA role plus accessible name, from the accessibility tree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The AW module or panel container class that scopes the search</a:t>
            </a:r>
            <a:endParaRPr lang="en-US" sz="1100" dirty="0"/>
          </a:p>
        </p:txBody>
      </p:sp>
      <p:sp>
        <p:nvSpPr>
          <p:cNvPr id="8" name="Shape 6"/>
          <p:cNvSpPr/>
          <p:nvPr/>
        </p:nvSpPr>
        <p:spPr>
          <a:xfrm>
            <a:off x="6199632" y="1810512"/>
            <a:ext cx="5349240" cy="3063240"/>
          </a:xfrm>
          <a:prstGeom prst="roundRect">
            <a:avLst>
              <a:gd name="adj" fmla="val 2687"/>
            </a:avLst>
          </a:prstGeom>
          <a:solidFill>
            <a:srgbClr val="FBF2F3"/>
          </a:solidFill>
          <a:ln w="12700">
            <a:solidFill>
              <a:srgbClr val="F0DADD"/>
            </a:solidFill>
            <a:prstDash val="solid"/>
          </a:ln>
        </p:spPr>
      </p:sp>
      <p:sp>
        <p:nvSpPr>
          <p:cNvPr id="9" name="Text 7"/>
          <p:cNvSpPr/>
          <p:nvPr/>
        </p:nvSpPr>
        <p:spPr>
          <a:xfrm>
            <a:off x="6473952" y="1975104"/>
            <a:ext cx="4754880" cy="292608"/>
          </a:xfrm>
          <a:prstGeom prst="rect">
            <a:avLst/>
          </a:prstGeom>
          <a:noFill/>
          <a:ln/>
        </p:spPr>
        <p:txBody>
          <a:bodyPr wrap="square" lIns="0" tIns="0" rIns="0" bIns="0" rtlCol="0" anchor="ctr"/>
          <a:lstStyle/>
          <a:p>
            <a:pPr indent="0" marL="0">
              <a:buNone/>
            </a:pPr>
            <a:r>
              <a:rPr lang="en-US" sz="1400" b="1" dirty="0">
                <a:solidFill>
                  <a:srgbClr val="B23A48"/>
                </a:solidFill>
                <a:latin typeface="Arial" pitchFamily="34" charset="0"/>
                <a:ea typeface="Arial" pitchFamily="34" charset="-122"/>
                <a:cs typeface="Arial" pitchFamily="34" charset="-120"/>
              </a:rPr>
              <a:t>Never on presentation detail</a:t>
            </a:r>
            <a:endParaRPr lang="en-US" sz="1400" dirty="0"/>
          </a:p>
        </p:txBody>
      </p:sp>
      <p:sp>
        <p:nvSpPr>
          <p:cNvPr id="10" name="Text 8"/>
          <p:cNvSpPr/>
          <p:nvPr/>
        </p:nvSpPr>
        <p:spPr>
          <a:xfrm>
            <a:off x="6473952" y="2377440"/>
            <a:ext cx="4800600" cy="2377440"/>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00" dirty="0">
                <a:solidFill>
                  <a:srgbClr val="6B3038"/>
                </a:solidFill>
                <a:latin typeface="Calibri" pitchFamily="34" charset="0"/>
                <a:ea typeface="Calibri" pitchFamily="34" charset="-122"/>
                <a:cs typeface="Calibri" pitchFamily="34" charset="-120"/>
              </a:rPr>
              <a:t>Generated element ids and hashed class names</a:t>
            </a:r>
            <a:endParaRPr lang="en-US" sz="1100" dirty="0"/>
          </a:p>
          <a:p>
            <a:pPr marL="342900" indent="-342900">
              <a:lnSpc>
                <a:spcPts val="1350"/>
              </a:lnSpc>
              <a:spcAft>
                <a:spcPts val="900"/>
              </a:spcAft>
              <a:buSzPct val="100000"/>
              <a:buChar char="•"/>
            </a:pPr>
            <a:r>
              <a:rPr lang="en-US" sz="1100" dirty="0">
                <a:solidFill>
                  <a:srgbClr val="6B3038"/>
                </a:solidFill>
                <a:latin typeface="Calibri" pitchFamily="34" charset="0"/>
                <a:ea typeface="Calibri" pitchFamily="34" charset="-122"/>
                <a:cs typeface="Calibri" pitchFamily="34" charset="-120"/>
              </a:rPr>
              <a:t>Index paths — nth-child, "the third button", absolute XPath</a:t>
            </a:r>
            <a:endParaRPr lang="en-US" sz="1100" dirty="0"/>
          </a:p>
          <a:p>
            <a:pPr marL="342900" indent="-342900">
              <a:lnSpc>
                <a:spcPts val="1350"/>
              </a:lnSpc>
              <a:spcAft>
                <a:spcPts val="900"/>
              </a:spcAft>
              <a:buSzPct val="100000"/>
              <a:buChar char="•"/>
            </a:pPr>
            <a:r>
              <a:rPr lang="en-US" sz="1100" dirty="0">
                <a:solidFill>
                  <a:srgbClr val="6B3038"/>
                </a:solidFill>
                <a:latin typeface="Calibri" pitchFamily="34" charset="0"/>
                <a:ea typeface="Calibri" pitchFamily="34" charset="-122"/>
                <a:cs typeface="Calibri" pitchFamily="34" charset="-120"/>
              </a:rPr>
              <a:t>Visible label text, which changes with the display language</a:t>
            </a:r>
            <a:endParaRPr lang="en-US" sz="1100" dirty="0"/>
          </a:p>
          <a:p>
            <a:pPr marL="342900" indent="-342900">
              <a:lnSpc>
                <a:spcPts val="1350"/>
              </a:lnSpc>
              <a:spcAft>
                <a:spcPts val="900"/>
              </a:spcAft>
              <a:buSzPct val="100000"/>
              <a:buChar char="•"/>
            </a:pPr>
            <a:r>
              <a:rPr lang="en-US" sz="1100" dirty="0">
                <a:solidFill>
                  <a:srgbClr val="6B3038"/>
                </a:solidFill>
                <a:latin typeface="Calibri" pitchFamily="34" charset="0"/>
                <a:ea typeface="Calibri" pitchFamily="34" charset="-122"/>
                <a:cs typeface="Calibri" pitchFamily="34" charset="-120"/>
              </a:rPr>
              <a:t>Anything produced by the browser's "copy selector" command</a:t>
            </a:r>
            <a:endParaRPr lang="en-US" sz="1100" dirty="0"/>
          </a:p>
          <a:p>
            <a:pPr marL="342900" indent="-342900">
              <a:lnSpc>
                <a:spcPts val="1350"/>
              </a:lnSpc>
              <a:spcAft>
                <a:spcPts val="900"/>
              </a:spcAft>
              <a:buSzPct val="100000"/>
              <a:buChar char="•"/>
            </a:pPr>
            <a:r>
              <a:rPr lang="en-US" sz="1100" dirty="0">
                <a:solidFill>
                  <a:srgbClr val="6B3038"/>
                </a:solidFill>
                <a:latin typeface="Calibri" pitchFamily="34" charset="0"/>
                <a:ea typeface="Calibri" pitchFamily="34" charset="-122"/>
                <a:cs typeface="Calibri" pitchFamily="34" charset="-120"/>
              </a:rPr>
              <a:t>Pixel position or screenshot matching</a:t>
            </a:r>
            <a:endParaRPr lang="en-US" sz="1100" dirty="0"/>
          </a:p>
        </p:txBody>
      </p:sp>
      <p:sp>
        <p:nvSpPr>
          <p:cNvPr id="11" name="Shape 9"/>
          <p:cNvSpPr/>
          <p:nvPr/>
        </p:nvSpPr>
        <p:spPr>
          <a:xfrm>
            <a:off x="640080" y="5029200"/>
            <a:ext cx="10908792" cy="960120"/>
          </a:xfrm>
          <a:prstGeom prst="roundRect">
            <a:avLst>
              <a:gd name="adj" fmla="val 9524"/>
            </a:avLst>
          </a:prstGeom>
          <a:solidFill>
            <a:srgbClr val="001034"/>
          </a:solidFill>
          <a:ln/>
        </p:spPr>
      </p:sp>
      <p:sp>
        <p:nvSpPr>
          <p:cNvPr id="12" name="Text 10"/>
          <p:cNvSpPr/>
          <p:nvPr/>
        </p:nvSpPr>
        <p:spPr>
          <a:xfrm>
            <a:off x="1005840" y="5138928"/>
            <a:ext cx="3840480" cy="274320"/>
          </a:xfrm>
          <a:prstGeom prst="rect">
            <a:avLst/>
          </a:prstGeom>
          <a:noFill/>
          <a:ln/>
        </p:spPr>
        <p:txBody>
          <a:bodyPr wrap="square" lIns="0" tIns="0" rIns="0" bIns="0" rtlCol="0" anchor="ctr"/>
          <a:lstStyle/>
          <a:p>
            <a:pPr indent="0" marL="0">
              <a:buNone/>
            </a:pPr>
            <a:r>
              <a:rPr lang="en-US" sz="1250" b="1" dirty="0">
                <a:solidFill>
                  <a:srgbClr val="00E1A0"/>
                </a:solidFill>
                <a:latin typeface="Arial" pitchFamily="34" charset="0"/>
                <a:ea typeface="Arial" pitchFamily="34" charset="-122"/>
                <a:cs typeface="Arial" pitchFamily="34" charset="-120"/>
              </a:rPr>
              <a:t>The rule that keeps the suite alive:</a:t>
            </a:r>
            <a:endParaRPr lang="en-US" sz="1250" dirty="0"/>
          </a:p>
        </p:txBody>
      </p:sp>
      <p:sp>
        <p:nvSpPr>
          <p:cNvPr id="13" name="Text 11"/>
          <p:cNvSpPr/>
          <p:nvPr/>
        </p:nvSpPr>
        <p:spPr>
          <a:xfrm>
            <a:off x="4937760" y="5138928"/>
            <a:ext cx="6400800" cy="731520"/>
          </a:xfrm>
          <a:prstGeom prst="rect">
            <a:avLst/>
          </a:prstGeom>
          <a:noFill/>
          <a:ln/>
        </p:spPr>
        <p:txBody>
          <a:bodyPr wrap="square" lIns="0" tIns="0" rIns="0" bIns="0" rtlCol="0" anchor="ctr"/>
          <a:lstStyle/>
          <a:p>
            <a:pPr indent="0" marL="0">
              <a:lnSpc>
                <a:spcPts val="1400"/>
              </a:lnSpc>
              <a:buNone/>
            </a:pPr>
            <a:r>
              <a:rPr lang="en-US" sz="1150" dirty="0">
                <a:solidFill>
                  <a:srgbClr val="C7D3DE"/>
                </a:solidFill>
                <a:latin typeface="Calibri" pitchFamily="34" charset="0"/>
                <a:ea typeface="Calibri" pitchFamily="34" charset="-122"/>
                <a:cs typeface="Calibri" pitchFamily="34" charset="-120"/>
              </a:rPr>
              <a:t>if a locator needs an index to be unique, treat it as a defect — and ask the Active Workspace customisation team to add a stable test attribute to that custom module instead. On your own AW modules this is the cheapest long-term win available.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AI ACCELERATION · WORKING METHOD</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The generation loop — and what to enter</a:t>
            </a:r>
            <a:endParaRPr lang="en-US" sz="2900" dirty="0"/>
          </a:p>
        </p:txBody>
      </p:sp>
      <p:sp>
        <p:nvSpPr>
          <p:cNvPr id="4" name="Shape 2"/>
          <p:cNvSpPr/>
          <p:nvPr/>
        </p:nvSpPr>
        <p:spPr>
          <a:xfrm>
            <a:off x="640080" y="2103120"/>
            <a:ext cx="2057400" cy="292608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1353312" y="1783080"/>
            <a:ext cx="640080" cy="640080"/>
          </a:xfrm>
          <a:prstGeom prst="ellipse">
            <a:avLst/>
          </a:prstGeom>
          <a:solidFill>
            <a:srgbClr val="001034"/>
          </a:solidFill>
          <a:ln/>
        </p:spPr>
      </p:sp>
      <p:sp>
        <p:nvSpPr>
          <p:cNvPr id="6" name="Text 4"/>
          <p:cNvSpPr/>
          <p:nvPr/>
        </p:nvSpPr>
        <p:spPr>
          <a:xfrm>
            <a:off x="1353312"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786384" y="2542032"/>
            <a:ext cx="1764792" cy="548640"/>
          </a:xfrm>
          <a:prstGeom prst="rect">
            <a:avLst/>
          </a:prstGeom>
          <a:noFill/>
          <a:ln/>
        </p:spPr>
        <p:txBody>
          <a:bodyPr wrap="square" lIns="0" tIns="0" rIns="0" bIns="0" rtlCol="0" anchor="ctr"/>
          <a:lstStyle/>
          <a:p>
            <a:pPr algn="ctr" indent="0" marL="0">
              <a:lnSpc>
                <a:spcPts val="1400"/>
              </a:lnSpc>
              <a:buNone/>
            </a:pPr>
            <a:r>
              <a:rPr lang="en-US" sz="1200" b="1" dirty="0">
                <a:solidFill>
                  <a:srgbClr val="001034"/>
                </a:solidFill>
                <a:latin typeface="Arial" pitchFamily="34" charset="0"/>
                <a:ea typeface="Arial" pitchFamily="34" charset="-122"/>
                <a:cs typeface="Arial" pitchFamily="34" charset="-120"/>
              </a:rPr>
              <a:t>Write the spec first</a:t>
            </a:r>
            <a:endParaRPr lang="en-US" sz="1200" dirty="0"/>
          </a:p>
        </p:txBody>
      </p:sp>
      <p:sp>
        <p:nvSpPr>
          <p:cNvPr id="8" name="Text 6"/>
          <p:cNvSpPr/>
          <p:nvPr/>
        </p:nvSpPr>
        <p:spPr>
          <a:xfrm>
            <a:off x="786384" y="3154680"/>
            <a:ext cx="1764792" cy="1783080"/>
          </a:xfrm>
          <a:prstGeom prst="rect">
            <a:avLst/>
          </a:prstGeom>
          <a:noFill/>
          <a:ln/>
        </p:spPr>
        <p:txBody>
          <a:bodyPr wrap="square" lIns="0" tIns="0" rIns="0" bIns="0" rtlCol="0" anchor="ctr"/>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A human writes the scenario in business language, with the input values in a data table. What to enter is spec content, never hardcoded in code.</a:t>
            </a:r>
            <a:endParaRPr lang="en-US" sz="950" dirty="0"/>
          </a:p>
        </p:txBody>
      </p:sp>
      <p:sp>
        <p:nvSpPr>
          <p:cNvPr id="9" name="Shape 7"/>
          <p:cNvSpPr/>
          <p:nvPr/>
        </p:nvSpPr>
        <p:spPr>
          <a:xfrm>
            <a:off x="2862072" y="2103120"/>
            <a:ext cx="2057400" cy="292608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Shape 8"/>
          <p:cNvSpPr/>
          <p:nvPr/>
        </p:nvSpPr>
        <p:spPr>
          <a:xfrm>
            <a:off x="3575304" y="1783080"/>
            <a:ext cx="640080" cy="640080"/>
          </a:xfrm>
          <a:prstGeom prst="ellipse">
            <a:avLst/>
          </a:prstGeom>
          <a:solidFill>
            <a:srgbClr val="001034"/>
          </a:solidFill>
          <a:ln/>
        </p:spPr>
      </p:sp>
      <p:sp>
        <p:nvSpPr>
          <p:cNvPr id="11" name="Text 9"/>
          <p:cNvSpPr/>
          <p:nvPr/>
        </p:nvSpPr>
        <p:spPr>
          <a:xfrm>
            <a:off x="3575304"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3008376" y="2542032"/>
            <a:ext cx="1764792" cy="548640"/>
          </a:xfrm>
          <a:prstGeom prst="rect">
            <a:avLst/>
          </a:prstGeom>
          <a:noFill/>
          <a:ln/>
        </p:spPr>
        <p:txBody>
          <a:bodyPr wrap="square" lIns="0" tIns="0" rIns="0" bIns="0" rtlCol="0" anchor="ctr"/>
          <a:lstStyle/>
          <a:p>
            <a:pPr algn="ctr" indent="0" marL="0">
              <a:lnSpc>
                <a:spcPts val="1400"/>
              </a:lnSpc>
              <a:buNone/>
            </a:pPr>
            <a:r>
              <a:rPr lang="en-US" sz="1200" b="1" dirty="0">
                <a:solidFill>
                  <a:srgbClr val="001034"/>
                </a:solidFill>
                <a:latin typeface="Arial" pitchFamily="34" charset="0"/>
                <a:ea typeface="Arial" pitchFamily="34" charset="-122"/>
                <a:cs typeface="Arial" pitchFamily="34" charset="-120"/>
              </a:rPr>
              <a:t>Capture ground truth</a:t>
            </a:r>
            <a:endParaRPr lang="en-US" sz="1200" dirty="0"/>
          </a:p>
        </p:txBody>
      </p:sp>
      <p:sp>
        <p:nvSpPr>
          <p:cNvPr id="13" name="Text 11"/>
          <p:cNvSpPr/>
          <p:nvPr/>
        </p:nvSpPr>
        <p:spPr>
          <a:xfrm>
            <a:off x="3008376" y="3154680"/>
            <a:ext cx="1764792" cy="1783080"/>
          </a:xfrm>
          <a:prstGeom prst="rect">
            <a:avLst/>
          </a:prstGeom>
          <a:noFill/>
          <a:ln/>
        </p:spPr>
        <p:txBody>
          <a:bodyPr wrap="square" lIns="0" tIns="0" rIns="0" bIns="0" rtlCol="0" anchor="ctr"/>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The assistant drives the real AW screen through a browser MCP server and exports the DOM and accessibility snapshot for that state.</a:t>
            </a:r>
            <a:endParaRPr lang="en-US" sz="950" dirty="0"/>
          </a:p>
        </p:txBody>
      </p:sp>
      <p:sp>
        <p:nvSpPr>
          <p:cNvPr id="14" name="Shape 12"/>
          <p:cNvSpPr/>
          <p:nvPr/>
        </p:nvSpPr>
        <p:spPr>
          <a:xfrm>
            <a:off x="5084064" y="2103120"/>
            <a:ext cx="2057400" cy="292608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5" name="Shape 13"/>
          <p:cNvSpPr/>
          <p:nvPr/>
        </p:nvSpPr>
        <p:spPr>
          <a:xfrm>
            <a:off x="5797296" y="1783080"/>
            <a:ext cx="640080" cy="640080"/>
          </a:xfrm>
          <a:prstGeom prst="ellipse">
            <a:avLst/>
          </a:prstGeom>
          <a:solidFill>
            <a:srgbClr val="001034"/>
          </a:solidFill>
          <a:ln/>
        </p:spPr>
      </p:sp>
      <p:sp>
        <p:nvSpPr>
          <p:cNvPr id="16" name="Text 14"/>
          <p:cNvSpPr/>
          <p:nvPr/>
        </p:nvSpPr>
        <p:spPr>
          <a:xfrm>
            <a:off x="5797296"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5230368" y="2542032"/>
            <a:ext cx="1764792" cy="548640"/>
          </a:xfrm>
          <a:prstGeom prst="rect">
            <a:avLst/>
          </a:prstGeom>
          <a:noFill/>
          <a:ln/>
        </p:spPr>
        <p:txBody>
          <a:bodyPr wrap="square" lIns="0" tIns="0" rIns="0" bIns="0" rtlCol="0" anchor="ctr"/>
          <a:lstStyle/>
          <a:p>
            <a:pPr algn="ctr" indent="0" marL="0">
              <a:lnSpc>
                <a:spcPts val="1400"/>
              </a:lnSpc>
              <a:buNone/>
            </a:pPr>
            <a:r>
              <a:rPr lang="en-US" sz="1200" b="1" dirty="0">
                <a:solidFill>
                  <a:srgbClr val="001034"/>
                </a:solidFill>
                <a:latin typeface="Arial" pitchFamily="34" charset="0"/>
                <a:ea typeface="Arial" pitchFamily="34" charset="-122"/>
                <a:cs typeface="Arial" pitchFamily="34" charset="-120"/>
              </a:rPr>
              <a:t>Generate against exemplars</a:t>
            </a:r>
            <a:endParaRPr lang="en-US" sz="1200" dirty="0"/>
          </a:p>
        </p:txBody>
      </p:sp>
      <p:sp>
        <p:nvSpPr>
          <p:cNvPr id="18" name="Text 16"/>
          <p:cNvSpPr/>
          <p:nvPr/>
        </p:nvSpPr>
        <p:spPr>
          <a:xfrm>
            <a:off x="5230368" y="3154680"/>
            <a:ext cx="1764792" cy="1783080"/>
          </a:xfrm>
          <a:prstGeom prst="rect">
            <a:avLst/>
          </a:prstGeom>
          <a:noFill/>
          <a:ln/>
        </p:spPr>
        <p:txBody>
          <a:bodyPr wrap="square" lIns="0" tIns="0" rIns="0" bIns="0" rtlCol="0" anchor="ctr"/>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It writes the page object and steps, given the existing page object as the style exemplar, the locator contract, the snapshot and the spec.</a:t>
            </a:r>
            <a:endParaRPr lang="en-US" sz="950" dirty="0"/>
          </a:p>
        </p:txBody>
      </p:sp>
      <p:sp>
        <p:nvSpPr>
          <p:cNvPr id="19" name="Shape 17"/>
          <p:cNvSpPr/>
          <p:nvPr/>
        </p:nvSpPr>
        <p:spPr>
          <a:xfrm>
            <a:off x="7306056" y="2103120"/>
            <a:ext cx="2057400" cy="292608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0" name="Shape 18"/>
          <p:cNvSpPr/>
          <p:nvPr/>
        </p:nvSpPr>
        <p:spPr>
          <a:xfrm>
            <a:off x="8019288" y="1783080"/>
            <a:ext cx="640080" cy="640080"/>
          </a:xfrm>
          <a:prstGeom prst="ellipse">
            <a:avLst/>
          </a:prstGeom>
          <a:solidFill>
            <a:srgbClr val="001034"/>
          </a:solidFill>
          <a:ln/>
        </p:spPr>
      </p:sp>
      <p:sp>
        <p:nvSpPr>
          <p:cNvPr id="21" name="Text 19"/>
          <p:cNvSpPr/>
          <p:nvPr/>
        </p:nvSpPr>
        <p:spPr>
          <a:xfrm>
            <a:off x="8019288"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7452360" y="2542032"/>
            <a:ext cx="1764792" cy="548640"/>
          </a:xfrm>
          <a:prstGeom prst="rect">
            <a:avLst/>
          </a:prstGeom>
          <a:noFill/>
          <a:ln/>
        </p:spPr>
        <p:txBody>
          <a:bodyPr wrap="square" lIns="0" tIns="0" rIns="0" bIns="0" rtlCol="0" anchor="ctr"/>
          <a:lstStyle/>
          <a:p>
            <a:pPr algn="ctr" indent="0" marL="0">
              <a:lnSpc>
                <a:spcPts val="1400"/>
              </a:lnSpc>
              <a:buNone/>
            </a:pPr>
            <a:r>
              <a:rPr lang="en-US" sz="1200" b="1" dirty="0">
                <a:solidFill>
                  <a:srgbClr val="001034"/>
                </a:solidFill>
                <a:latin typeface="Arial" pitchFamily="34" charset="0"/>
                <a:ea typeface="Arial" pitchFamily="34" charset="-122"/>
                <a:cs typeface="Arial" pitchFamily="34" charset="-120"/>
              </a:rPr>
              <a:t>Run and iterate</a:t>
            </a:r>
            <a:endParaRPr lang="en-US" sz="1200" dirty="0"/>
          </a:p>
        </p:txBody>
      </p:sp>
      <p:sp>
        <p:nvSpPr>
          <p:cNvPr id="23" name="Text 21"/>
          <p:cNvSpPr/>
          <p:nvPr/>
        </p:nvSpPr>
        <p:spPr>
          <a:xfrm>
            <a:off x="7452360" y="3154680"/>
            <a:ext cx="1764792" cy="1783080"/>
          </a:xfrm>
          <a:prstGeom prst="rect">
            <a:avLst/>
          </a:prstGeom>
          <a:noFill/>
          <a:ln/>
        </p:spPr>
        <p:txBody>
          <a:bodyPr wrap="square" lIns="0" tIns="0" rIns="0" bIns="0" rtlCol="0" anchor="ctr"/>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It executes the suite, reads the actual failure and corrects the locator. This loop is where the time saving is, not the first draft.</a:t>
            </a:r>
            <a:endParaRPr lang="en-US" sz="950" dirty="0"/>
          </a:p>
        </p:txBody>
      </p:sp>
      <p:sp>
        <p:nvSpPr>
          <p:cNvPr id="24" name="Shape 22"/>
          <p:cNvSpPr/>
          <p:nvPr/>
        </p:nvSpPr>
        <p:spPr>
          <a:xfrm>
            <a:off x="9528048" y="2103120"/>
            <a:ext cx="2057400" cy="292608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5" name="Shape 23"/>
          <p:cNvSpPr/>
          <p:nvPr/>
        </p:nvSpPr>
        <p:spPr>
          <a:xfrm>
            <a:off x="10241280" y="1783080"/>
            <a:ext cx="640080" cy="640080"/>
          </a:xfrm>
          <a:prstGeom prst="ellipse">
            <a:avLst/>
          </a:prstGeom>
          <a:solidFill>
            <a:srgbClr val="001034"/>
          </a:solidFill>
          <a:ln/>
        </p:spPr>
      </p:sp>
      <p:sp>
        <p:nvSpPr>
          <p:cNvPr id="26" name="Text 24"/>
          <p:cNvSpPr/>
          <p:nvPr/>
        </p:nvSpPr>
        <p:spPr>
          <a:xfrm>
            <a:off x="10241280"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05</a:t>
            </a:r>
            <a:endParaRPr lang="en-US" sz="1500" dirty="0"/>
          </a:p>
        </p:txBody>
      </p:sp>
      <p:sp>
        <p:nvSpPr>
          <p:cNvPr id="27" name="Text 25"/>
          <p:cNvSpPr/>
          <p:nvPr/>
        </p:nvSpPr>
        <p:spPr>
          <a:xfrm>
            <a:off x="9674352" y="2542032"/>
            <a:ext cx="1764792" cy="548640"/>
          </a:xfrm>
          <a:prstGeom prst="rect">
            <a:avLst/>
          </a:prstGeom>
          <a:noFill/>
          <a:ln/>
        </p:spPr>
        <p:txBody>
          <a:bodyPr wrap="square" lIns="0" tIns="0" rIns="0" bIns="0" rtlCol="0" anchor="ctr"/>
          <a:lstStyle/>
          <a:p>
            <a:pPr algn="ctr" indent="0" marL="0">
              <a:lnSpc>
                <a:spcPts val="1400"/>
              </a:lnSpc>
              <a:buNone/>
            </a:pPr>
            <a:r>
              <a:rPr lang="en-US" sz="1200" b="1" dirty="0">
                <a:solidFill>
                  <a:srgbClr val="001034"/>
                </a:solidFill>
                <a:latin typeface="Arial" pitchFamily="34" charset="0"/>
                <a:ea typeface="Arial" pitchFamily="34" charset="-122"/>
                <a:cs typeface="Arial" pitchFamily="34" charset="-120"/>
              </a:rPr>
              <a:t>Review and merge</a:t>
            </a:r>
            <a:endParaRPr lang="en-US" sz="1200" dirty="0"/>
          </a:p>
        </p:txBody>
      </p:sp>
      <p:sp>
        <p:nvSpPr>
          <p:cNvPr id="28" name="Text 26"/>
          <p:cNvSpPr/>
          <p:nvPr/>
        </p:nvSpPr>
        <p:spPr>
          <a:xfrm>
            <a:off x="9674352" y="3154680"/>
            <a:ext cx="1764792" cy="1783080"/>
          </a:xfrm>
          <a:prstGeom prst="rect">
            <a:avLst/>
          </a:prstGeom>
          <a:noFill/>
          <a:ln/>
        </p:spPr>
        <p:txBody>
          <a:bodyPr wrap="square" lIns="0" tIns="0" rIns="0" bIns="0" rtlCol="0" anchor="ctr"/>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A human checks every locator against the contract. The pull-request pipeline lints and runs before merge.</a:t>
            </a:r>
            <a:endParaRPr lang="en-US" sz="950" dirty="0"/>
          </a:p>
        </p:txBody>
      </p:sp>
      <p:sp>
        <p:nvSpPr>
          <p:cNvPr id="29" name="Shape 27"/>
          <p:cNvSpPr/>
          <p:nvPr/>
        </p:nvSpPr>
        <p:spPr>
          <a:xfrm>
            <a:off x="640080" y="5230368"/>
            <a:ext cx="10908792" cy="868680"/>
          </a:xfrm>
          <a:prstGeom prst="roundRect">
            <a:avLst>
              <a:gd name="adj" fmla="val 10526"/>
            </a:avLst>
          </a:prstGeom>
          <a:solidFill>
            <a:srgbClr val="F0FBF7"/>
          </a:solidFill>
          <a:ln w="12700">
            <a:solidFill>
              <a:srgbClr val="00E1A0"/>
            </a:solidFill>
            <a:prstDash val="solid"/>
          </a:ln>
        </p:spPr>
      </p:sp>
      <p:sp>
        <p:nvSpPr>
          <p:cNvPr id="30" name="Text 28"/>
          <p:cNvSpPr/>
          <p:nvPr/>
        </p:nvSpPr>
        <p:spPr>
          <a:xfrm>
            <a:off x="1005840" y="5230368"/>
            <a:ext cx="10149840" cy="868680"/>
          </a:xfrm>
          <a:prstGeom prst="rect">
            <a:avLst/>
          </a:prstGeom>
          <a:noFill/>
          <a:ln/>
        </p:spPr>
        <p:txBody>
          <a:bodyPr wrap="square" lIns="0" tIns="0" rIns="0" bIns="0" rtlCol="0" anchor="ctr"/>
          <a:lstStyle/>
          <a:p>
            <a:pPr indent="0" marL="0">
              <a:buNone/>
            </a:pPr>
            <a:r>
              <a:rPr lang="en-US" sz="1200" dirty="0">
                <a:solidFill>
                  <a:srgbClr val="12233A"/>
                </a:solidFill>
                <a:latin typeface="Calibri" pitchFamily="34" charset="0"/>
                <a:ea typeface="Calibri" pitchFamily="34" charset="-122"/>
                <a:cs typeface="Calibri" pitchFamily="34" charset="-120"/>
              </a:rPr>
              <a:t>Every generation prompt carries the same four attachments: the spec, the live DOM snapshot, the locator contract, and one existing page object as the style to imitate. Missing any one of them and the assistant starts guessing.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AI ACCELERATION · REALISTIC UPLIFT</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Where the time actually goes</a:t>
            </a:r>
            <a:endParaRPr lang="en-US" sz="2900" dirty="0"/>
          </a:p>
        </p:txBody>
      </p:sp>
      <p:sp>
        <p:nvSpPr>
          <p:cNvPr id="4" name="Shape 2"/>
          <p:cNvSpPr/>
          <p:nvPr/>
        </p:nvSpPr>
        <p:spPr>
          <a:xfrm>
            <a:off x="640080" y="1737360"/>
            <a:ext cx="10908792" cy="621792"/>
          </a:xfrm>
          <a:prstGeom prst="roundRect">
            <a:avLst>
              <a:gd name="adj" fmla="val 10294"/>
            </a:avLst>
          </a:prstGeom>
          <a:solidFill>
            <a:srgbClr val="F1F5F7"/>
          </a:solidFill>
          <a:ln w="9525">
            <a:solidFill>
              <a:srgbClr val="E4EAEE"/>
            </a:solidFill>
            <a:prstDash val="solid"/>
          </a:ln>
        </p:spPr>
      </p:sp>
      <p:sp>
        <p:nvSpPr>
          <p:cNvPr id="5" name="Text 3"/>
          <p:cNvSpPr/>
          <p:nvPr/>
        </p:nvSpPr>
        <p:spPr>
          <a:xfrm>
            <a:off x="896112" y="1737360"/>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Page objects and step scaffolding</a:t>
            </a:r>
            <a:endParaRPr lang="en-US" sz="1250" dirty="0"/>
          </a:p>
        </p:txBody>
      </p:sp>
      <p:sp>
        <p:nvSpPr>
          <p:cNvPr id="6" name="Shape 4"/>
          <p:cNvSpPr/>
          <p:nvPr/>
        </p:nvSpPr>
        <p:spPr>
          <a:xfrm>
            <a:off x="5212080" y="1892808"/>
            <a:ext cx="1143000" cy="310896"/>
          </a:xfrm>
          <a:prstGeom prst="roundRect">
            <a:avLst>
              <a:gd name="adj" fmla="val 50000"/>
            </a:avLst>
          </a:prstGeom>
          <a:solidFill>
            <a:srgbClr val="007F80"/>
          </a:solidFill>
          <a:ln/>
        </p:spPr>
      </p:sp>
      <p:sp>
        <p:nvSpPr>
          <p:cNvPr id="7" name="Text 5"/>
          <p:cNvSpPr/>
          <p:nvPr/>
        </p:nvSpPr>
        <p:spPr>
          <a:xfrm>
            <a:off x="5212080" y="1892808"/>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Large</a:t>
            </a:r>
            <a:endParaRPr lang="en-US" sz="950" dirty="0"/>
          </a:p>
        </p:txBody>
      </p:sp>
      <p:sp>
        <p:nvSpPr>
          <p:cNvPr id="8" name="Text 6"/>
          <p:cNvSpPr/>
          <p:nvPr/>
        </p:nvSpPr>
        <p:spPr>
          <a:xfrm>
            <a:off x="6583680" y="1737360"/>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Highly patterned code with an exemplar to imitate</a:t>
            </a:r>
            <a:endParaRPr lang="en-US" sz="1100" dirty="0"/>
          </a:p>
        </p:txBody>
      </p:sp>
      <p:sp>
        <p:nvSpPr>
          <p:cNvPr id="9" name="Shape 7"/>
          <p:cNvSpPr/>
          <p:nvPr/>
        </p:nvSpPr>
        <p:spPr>
          <a:xfrm>
            <a:off x="640080" y="2450592"/>
            <a:ext cx="10908792" cy="621792"/>
          </a:xfrm>
          <a:prstGeom prst="roundRect">
            <a:avLst>
              <a:gd name="adj" fmla="val 10294"/>
            </a:avLst>
          </a:prstGeom>
          <a:solidFill>
            <a:srgbClr val="FFFFFF"/>
          </a:solidFill>
          <a:ln w="9525">
            <a:solidFill>
              <a:srgbClr val="E4EAEE"/>
            </a:solidFill>
            <a:prstDash val="solid"/>
          </a:ln>
        </p:spPr>
      </p:sp>
      <p:sp>
        <p:nvSpPr>
          <p:cNvPr id="10" name="Text 8"/>
          <p:cNvSpPr/>
          <p:nvPr/>
        </p:nvSpPr>
        <p:spPr>
          <a:xfrm>
            <a:off x="896112" y="2450592"/>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Assertions from captured responses</a:t>
            </a:r>
            <a:endParaRPr lang="en-US" sz="1250" dirty="0"/>
          </a:p>
        </p:txBody>
      </p:sp>
      <p:sp>
        <p:nvSpPr>
          <p:cNvPr id="11" name="Shape 9"/>
          <p:cNvSpPr/>
          <p:nvPr/>
        </p:nvSpPr>
        <p:spPr>
          <a:xfrm>
            <a:off x="5212080" y="2606040"/>
            <a:ext cx="1143000" cy="310896"/>
          </a:xfrm>
          <a:prstGeom prst="roundRect">
            <a:avLst>
              <a:gd name="adj" fmla="val 50000"/>
            </a:avLst>
          </a:prstGeom>
          <a:solidFill>
            <a:srgbClr val="007F80"/>
          </a:solidFill>
          <a:ln/>
        </p:spPr>
      </p:sp>
      <p:sp>
        <p:nvSpPr>
          <p:cNvPr id="12" name="Text 10"/>
          <p:cNvSpPr/>
          <p:nvPr/>
        </p:nvSpPr>
        <p:spPr>
          <a:xfrm>
            <a:off x="5212080" y="2606040"/>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Large</a:t>
            </a:r>
            <a:endParaRPr lang="en-US" sz="950" dirty="0"/>
          </a:p>
        </p:txBody>
      </p:sp>
      <p:sp>
        <p:nvSpPr>
          <p:cNvPr id="13" name="Text 11"/>
          <p:cNvSpPr/>
          <p:nvPr/>
        </p:nvSpPr>
        <p:spPr>
          <a:xfrm>
            <a:off x="6583680" y="2450592"/>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Mechanical transformation of data the collections already hold</a:t>
            </a:r>
            <a:endParaRPr lang="en-US" sz="1100" dirty="0"/>
          </a:p>
        </p:txBody>
      </p:sp>
      <p:sp>
        <p:nvSpPr>
          <p:cNvPr id="14" name="Shape 12"/>
          <p:cNvSpPr/>
          <p:nvPr/>
        </p:nvSpPr>
        <p:spPr>
          <a:xfrm>
            <a:off x="640080" y="3163824"/>
            <a:ext cx="10908792" cy="621792"/>
          </a:xfrm>
          <a:prstGeom prst="roundRect">
            <a:avLst>
              <a:gd name="adj" fmla="val 10294"/>
            </a:avLst>
          </a:prstGeom>
          <a:solidFill>
            <a:srgbClr val="F1F5F7"/>
          </a:solidFill>
          <a:ln w="9525">
            <a:solidFill>
              <a:srgbClr val="E4EAEE"/>
            </a:solidFill>
            <a:prstDash val="solid"/>
          </a:ln>
        </p:spPr>
      </p:sp>
      <p:sp>
        <p:nvSpPr>
          <p:cNvPr id="15" name="Text 13"/>
          <p:cNvSpPr/>
          <p:nvPr/>
        </p:nvSpPr>
        <p:spPr>
          <a:xfrm>
            <a:off x="896112" y="3163824"/>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Locator discovery from a live snapshot</a:t>
            </a:r>
            <a:endParaRPr lang="en-US" sz="1250" dirty="0"/>
          </a:p>
        </p:txBody>
      </p:sp>
      <p:sp>
        <p:nvSpPr>
          <p:cNvPr id="16" name="Shape 14"/>
          <p:cNvSpPr/>
          <p:nvPr/>
        </p:nvSpPr>
        <p:spPr>
          <a:xfrm>
            <a:off x="5212080" y="3319272"/>
            <a:ext cx="1143000" cy="310896"/>
          </a:xfrm>
          <a:prstGeom prst="roundRect">
            <a:avLst>
              <a:gd name="adj" fmla="val 50000"/>
            </a:avLst>
          </a:prstGeom>
          <a:solidFill>
            <a:srgbClr val="00A5A6"/>
          </a:solidFill>
          <a:ln/>
        </p:spPr>
      </p:sp>
      <p:sp>
        <p:nvSpPr>
          <p:cNvPr id="17" name="Text 15"/>
          <p:cNvSpPr/>
          <p:nvPr/>
        </p:nvSpPr>
        <p:spPr>
          <a:xfrm>
            <a:off x="5212080" y="3319272"/>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Moderate</a:t>
            </a:r>
            <a:endParaRPr lang="en-US" sz="950" dirty="0"/>
          </a:p>
        </p:txBody>
      </p:sp>
      <p:sp>
        <p:nvSpPr>
          <p:cNvPr id="18" name="Text 16"/>
          <p:cNvSpPr/>
          <p:nvPr/>
        </p:nvSpPr>
        <p:spPr>
          <a:xfrm>
            <a:off x="6583680" y="3163824"/>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Fast, but every locator still needs human review</a:t>
            </a:r>
            <a:endParaRPr lang="en-US" sz="1100" dirty="0"/>
          </a:p>
        </p:txBody>
      </p:sp>
      <p:sp>
        <p:nvSpPr>
          <p:cNvPr id="19" name="Shape 17"/>
          <p:cNvSpPr/>
          <p:nvPr/>
        </p:nvSpPr>
        <p:spPr>
          <a:xfrm>
            <a:off x="640080" y="3877056"/>
            <a:ext cx="10908792" cy="621792"/>
          </a:xfrm>
          <a:prstGeom prst="roundRect">
            <a:avLst>
              <a:gd name="adj" fmla="val 10294"/>
            </a:avLst>
          </a:prstGeom>
          <a:solidFill>
            <a:srgbClr val="FFFFFF"/>
          </a:solidFill>
          <a:ln w="9525">
            <a:solidFill>
              <a:srgbClr val="E4EAEE"/>
            </a:solidFill>
            <a:prstDash val="solid"/>
          </a:ln>
        </p:spPr>
      </p:sp>
      <p:sp>
        <p:nvSpPr>
          <p:cNvPr id="20" name="Text 18"/>
          <p:cNvSpPr/>
          <p:nvPr/>
        </p:nvSpPr>
        <p:spPr>
          <a:xfrm>
            <a:off x="896112" y="3877056"/>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Test data design and teardown</a:t>
            </a:r>
            <a:endParaRPr lang="en-US" sz="1250" dirty="0"/>
          </a:p>
        </p:txBody>
      </p:sp>
      <p:sp>
        <p:nvSpPr>
          <p:cNvPr id="21" name="Shape 19"/>
          <p:cNvSpPr/>
          <p:nvPr/>
        </p:nvSpPr>
        <p:spPr>
          <a:xfrm>
            <a:off x="5212080" y="4032504"/>
            <a:ext cx="1143000" cy="310896"/>
          </a:xfrm>
          <a:prstGeom prst="roundRect">
            <a:avLst>
              <a:gd name="adj" fmla="val 50000"/>
            </a:avLst>
          </a:prstGeom>
          <a:solidFill>
            <a:srgbClr val="00A5A6"/>
          </a:solidFill>
          <a:ln/>
        </p:spPr>
      </p:sp>
      <p:sp>
        <p:nvSpPr>
          <p:cNvPr id="22" name="Text 20"/>
          <p:cNvSpPr/>
          <p:nvPr/>
        </p:nvSpPr>
        <p:spPr>
          <a:xfrm>
            <a:off x="5212080" y="4032504"/>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Moderate</a:t>
            </a:r>
            <a:endParaRPr lang="en-US" sz="950" dirty="0"/>
          </a:p>
        </p:txBody>
      </p:sp>
      <p:sp>
        <p:nvSpPr>
          <p:cNvPr id="23" name="Text 21"/>
          <p:cNvSpPr/>
          <p:nvPr/>
        </p:nvSpPr>
        <p:spPr>
          <a:xfrm>
            <a:off x="6583680" y="3877056"/>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Structure is generated; the business rules are not</a:t>
            </a:r>
            <a:endParaRPr lang="en-US" sz="1100" dirty="0"/>
          </a:p>
        </p:txBody>
      </p:sp>
      <p:sp>
        <p:nvSpPr>
          <p:cNvPr id="24" name="Shape 22"/>
          <p:cNvSpPr/>
          <p:nvPr/>
        </p:nvSpPr>
        <p:spPr>
          <a:xfrm>
            <a:off x="640080" y="4590288"/>
            <a:ext cx="10908792" cy="621792"/>
          </a:xfrm>
          <a:prstGeom prst="roundRect">
            <a:avLst>
              <a:gd name="adj" fmla="val 10294"/>
            </a:avLst>
          </a:prstGeom>
          <a:solidFill>
            <a:srgbClr val="F1F5F7"/>
          </a:solidFill>
          <a:ln w="9525">
            <a:solidFill>
              <a:srgbClr val="E4EAEE"/>
            </a:solidFill>
            <a:prstDash val="solid"/>
          </a:ln>
        </p:spPr>
      </p:sp>
      <p:sp>
        <p:nvSpPr>
          <p:cNvPr id="25" name="Text 23"/>
          <p:cNvSpPr/>
          <p:nvPr/>
        </p:nvSpPr>
        <p:spPr>
          <a:xfrm>
            <a:off x="896112" y="4590288"/>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Stabilising a flaky run</a:t>
            </a:r>
            <a:endParaRPr lang="en-US" sz="1250" dirty="0"/>
          </a:p>
        </p:txBody>
      </p:sp>
      <p:sp>
        <p:nvSpPr>
          <p:cNvPr id="26" name="Shape 24"/>
          <p:cNvSpPr/>
          <p:nvPr/>
        </p:nvSpPr>
        <p:spPr>
          <a:xfrm>
            <a:off x="5212080" y="4745736"/>
            <a:ext cx="1143000" cy="310896"/>
          </a:xfrm>
          <a:prstGeom prst="roundRect">
            <a:avLst>
              <a:gd name="adj" fmla="val 50000"/>
            </a:avLst>
          </a:prstGeom>
          <a:solidFill>
            <a:srgbClr val="C77700"/>
          </a:solidFill>
          <a:ln/>
        </p:spPr>
      </p:sp>
      <p:sp>
        <p:nvSpPr>
          <p:cNvPr id="27" name="Text 25"/>
          <p:cNvSpPr/>
          <p:nvPr/>
        </p:nvSpPr>
        <p:spPr>
          <a:xfrm>
            <a:off x="5212080" y="4745736"/>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Small</a:t>
            </a:r>
            <a:endParaRPr lang="en-US" sz="950" dirty="0"/>
          </a:p>
        </p:txBody>
      </p:sp>
      <p:sp>
        <p:nvSpPr>
          <p:cNvPr id="28" name="Text 26"/>
          <p:cNvSpPr/>
          <p:nvPr/>
        </p:nvSpPr>
        <p:spPr>
          <a:xfrm>
            <a:off x="6583680" y="4590288"/>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Waits and timing depend on the real environment, not on code</a:t>
            </a:r>
            <a:endParaRPr lang="en-US" sz="1100" dirty="0"/>
          </a:p>
        </p:txBody>
      </p:sp>
      <p:sp>
        <p:nvSpPr>
          <p:cNvPr id="29" name="Shape 27"/>
          <p:cNvSpPr/>
          <p:nvPr/>
        </p:nvSpPr>
        <p:spPr>
          <a:xfrm>
            <a:off x="640080" y="5303520"/>
            <a:ext cx="10908792" cy="621792"/>
          </a:xfrm>
          <a:prstGeom prst="roundRect">
            <a:avLst>
              <a:gd name="adj" fmla="val 10294"/>
            </a:avLst>
          </a:prstGeom>
          <a:solidFill>
            <a:srgbClr val="FFFFFF"/>
          </a:solidFill>
          <a:ln w="9525">
            <a:solidFill>
              <a:srgbClr val="E4EAEE"/>
            </a:solidFill>
            <a:prstDash val="solid"/>
          </a:ln>
        </p:spPr>
      </p:sp>
      <p:sp>
        <p:nvSpPr>
          <p:cNvPr id="30" name="Text 28"/>
          <p:cNvSpPr/>
          <p:nvPr/>
        </p:nvSpPr>
        <p:spPr>
          <a:xfrm>
            <a:off x="896112" y="5303520"/>
            <a:ext cx="4114800" cy="621792"/>
          </a:xfrm>
          <a:prstGeom prst="rect">
            <a:avLst/>
          </a:prstGeom>
          <a:noFill/>
          <a:ln/>
        </p:spPr>
        <p:txBody>
          <a:bodyPr wrap="square" lIns="0" tIns="0" rIns="0" bIns="0" rtlCol="0" anchor="ctr"/>
          <a:lstStyle/>
          <a:p>
            <a:pPr indent="0" marL="0">
              <a:buNone/>
            </a:pPr>
            <a:r>
              <a:rPr lang="en-US" sz="1250" b="1" dirty="0">
                <a:solidFill>
                  <a:srgbClr val="001034"/>
                </a:solidFill>
                <a:latin typeface="Arial" pitchFamily="34" charset="0"/>
                <a:ea typeface="Arial" pitchFamily="34" charset="-122"/>
                <a:cs typeface="Arial" pitchFamily="34" charset="-120"/>
              </a:rPr>
              <a:t>Deciding the expected result</a:t>
            </a:r>
            <a:endParaRPr lang="en-US" sz="1250" dirty="0"/>
          </a:p>
        </p:txBody>
      </p:sp>
      <p:sp>
        <p:nvSpPr>
          <p:cNvPr id="31" name="Shape 29"/>
          <p:cNvSpPr/>
          <p:nvPr/>
        </p:nvSpPr>
        <p:spPr>
          <a:xfrm>
            <a:off x="5212080" y="5458968"/>
            <a:ext cx="1143000" cy="310896"/>
          </a:xfrm>
          <a:prstGeom prst="roundRect">
            <a:avLst>
              <a:gd name="adj" fmla="val 50000"/>
            </a:avLst>
          </a:prstGeom>
          <a:solidFill>
            <a:srgbClr val="B23A48"/>
          </a:solidFill>
          <a:ln/>
        </p:spPr>
      </p:sp>
      <p:sp>
        <p:nvSpPr>
          <p:cNvPr id="32" name="Text 30"/>
          <p:cNvSpPr/>
          <p:nvPr/>
        </p:nvSpPr>
        <p:spPr>
          <a:xfrm>
            <a:off x="5212080" y="5458968"/>
            <a:ext cx="11430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None</a:t>
            </a:r>
            <a:endParaRPr lang="en-US" sz="950" dirty="0"/>
          </a:p>
        </p:txBody>
      </p:sp>
      <p:sp>
        <p:nvSpPr>
          <p:cNvPr id="33" name="Text 31"/>
          <p:cNvSpPr/>
          <p:nvPr/>
        </p:nvSpPr>
        <p:spPr>
          <a:xfrm>
            <a:off x="6583680" y="5303520"/>
            <a:ext cx="4937760" cy="62179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Requires PLM domain judgement and customer agreement</a:t>
            </a:r>
            <a:endParaRPr lang="en-US" sz="1100" dirty="0"/>
          </a:p>
        </p:txBody>
      </p:sp>
      <p:sp>
        <p:nvSpPr>
          <p:cNvPr id="34" name="Text 32"/>
          <p:cNvSpPr/>
          <p:nvPr/>
        </p:nvSpPr>
        <p:spPr>
          <a:xfrm>
            <a:off x="640080" y="6035040"/>
            <a:ext cx="10881360" cy="320040"/>
          </a:xfrm>
          <a:prstGeom prst="rect">
            <a:avLst/>
          </a:prstGeom>
          <a:noFill/>
          <a:ln/>
        </p:spPr>
        <p:txBody>
          <a:bodyPr wrap="square" lIns="0" tIns="0" rIns="0" bIns="0" rtlCol="0" anchor="ctr"/>
          <a:lstStyle/>
          <a:p>
            <a:pPr indent="0" marL="0">
              <a:buNone/>
            </a:pPr>
            <a:r>
              <a:rPr lang="en-US" sz="1250" i="1" dirty="0">
                <a:solidFill>
                  <a:srgbClr val="007F80"/>
                </a:solidFill>
                <a:latin typeface="Calibri" pitchFamily="34" charset="0"/>
                <a:ea typeface="Calibri" pitchFamily="34" charset="-122"/>
                <a:cs typeface="Calibri" pitchFamily="34" charset="-120"/>
              </a:rPr>
              <a:t>The saving is concentrated in the first half of the work. Plan for it there, and do not promise it in stabilisation.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TEST STRATEGY · OUTPUT</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Evidence, reporting and the quality gate</a:t>
            </a:r>
            <a:endParaRPr lang="en-US" sz="2900" dirty="0"/>
          </a:p>
        </p:txBody>
      </p:sp>
      <p:sp>
        <p:nvSpPr>
          <p:cNvPr id="4" name="Shape 2"/>
          <p:cNvSpPr/>
          <p:nvPr/>
        </p:nvSpPr>
        <p:spPr>
          <a:xfrm>
            <a:off x="640080" y="1737360"/>
            <a:ext cx="6675120" cy="896112"/>
          </a:xfrm>
          <a:prstGeom prst="roundRect">
            <a:avLst>
              <a:gd name="adj" fmla="val 8163"/>
            </a:avLst>
          </a:prstGeom>
          <a:solidFill>
            <a:srgbClr val="F1F5F7"/>
          </a:solidFill>
          <a:ln w="9525">
            <a:solidFill>
              <a:srgbClr val="DDE5EA"/>
            </a:solidFill>
            <a:prstDash val="solid"/>
          </a:ln>
        </p:spPr>
      </p:sp>
      <p:sp>
        <p:nvSpPr>
          <p:cNvPr id="5" name="Shape 3"/>
          <p:cNvSpPr/>
          <p:nvPr/>
        </p:nvSpPr>
        <p:spPr>
          <a:xfrm>
            <a:off x="822960" y="1920240"/>
            <a:ext cx="530352" cy="530352"/>
          </a:xfrm>
          <a:prstGeom prst="ellipse">
            <a:avLst/>
          </a:prstGeom>
          <a:solidFill>
            <a:srgbClr val="001034"/>
          </a:solidFill>
          <a:ln w="12700">
            <a:solidFill>
              <a:srgbClr val="001034"/>
            </a:solidFill>
            <a:prstDash val="solid"/>
          </a:ln>
        </p:spPr>
      </p:sp>
      <p:pic>
        <p:nvPicPr>
          <p:cNvPr id="6" name="Image 0" descr="preencoded.png">    </p:cNvPr>
          <p:cNvPicPr>
            <a:picLocks noChangeAspect="1"/>
          </p:cNvPicPr>
          <p:nvPr/>
        </p:nvPicPr>
        <p:blipFill>
          <a:blip r:embed="rId1"/>
          <a:stretch>
            <a:fillRect/>
          </a:stretch>
        </p:blipFill>
        <p:spPr>
          <a:xfrm>
            <a:off x="950244" y="2047524"/>
            <a:ext cx="275783" cy="275783"/>
          </a:xfrm>
          <a:prstGeom prst="rect">
            <a:avLst/>
          </a:prstGeom>
        </p:spPr>
      </p:pic>
      <p:sp>
        <p:nvSpPr>
          <p:cNvPr id="7" name="Text 4"/>
          <p:cNvSpPr/>
          <p:nvPr/>
        </p:nvSpPr>
        <p:spPr>
          <a:xfrm>
            <a:off x="1481328" y="1883664"/>
            <a:ext cx="5577840" cy="27432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Human-readable report</a:t>
            </a:r>
            <a:endParaRPr lang="en-US" sz="1300" dirty="0"/>
          </a:p>
        </p:txBody>
      </p:sp>
      <p:sp>
        <p:nvSpPr>
          <p:cNvPr id="8" name="Text 5"/>
          <p:cNvSpPr/>
          <p:nvPr/>
        </p:nvSpPr>
        <p:spPr>
          <a:xfrm>
            <a:off x="1481328" y="2176272"/>
            <a:ext cx="5669280" cy="384048"/>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HTML output per suite and per environment, readable by QA and the business</a:t>
            </a:r>
            <a:endParaRPr lang="en-US" sz="1050" dirty="0"/>
          </a:p>
        </p:txBody>
      </p:sp>
      <p:sp>
        <p:nvSpPr>
          <p:cNvPr id="9" name="Shape 6"/>
          <p:cNvSpPr/>
          <p:nvPr/>
        </p:nvSpPr>
        <p:spPr>
          <a:xfrm>
            <a:off x="640080" y="2743200"/>
            <a:ext cx="6675120" cy="896112"/>
          </a:xfrm>
          <a:prstGeom prst="roundRect">
            <a:avLst>
              <a:gd name="adj" fmla="val 8163"/>
            </a:avLst>
          </a:prstGeom>
          <a:solidFill>
            <a:srgbClr val="FFFFFF"/>
          </a:solidFill>
          <a:ln w="9525">
            <a:solidFill>
              <a:srgbClr val="DDE5EA"/>
            </a:solidFill>
            <a:prstDash val="solid"/>
          </a:ln>
        </p:spPr>
      </p:sp>
      <p:sp>
        <p:nvSpPr>
          <p:cNvPr id="10" name="Shape 7"/>
          <p:cNvSpPr/>
          <p:nvPr/>
        </p:nvSpPr>
        <p:spPr>
          <a:xfrm>
            <a:off x="822960" y="2926080"/>
            <a:ext cx="530352" cy="530352"/>
          </a:xfrm>
          <a:prstGeom prst="ellipse">
            <a:avLst/>
          </a:prstGeom>
          <a:solidFill>
            <a:srgbClr val="001034"/>
          </a:solidFill>
          <a:ln w="12700">
            <a:solidFill>
              <a:srgbClr val="001034"/>
            </a:solidFill>
            <a:prstDash val="solid"/>
          </a:ln>
        </p:spPr>
      </p:sp>
      <p:pic>
        <p:nvPicPr>
          <p:cNvPr id="11" name="Image 1" descr="preencoded.png">    </p:cNvPr>
          <p:cNvPicPr>
            <a:picLocks noChangeAspect="1"/>
          </p:cNvPicPr>
          <p:nvPr/>
        </p:nvPicPr>
        <p:blipFill>
          <a:blip r:embed="rId2"/>
          <a:stretch>
            <a:fillRect/>
          </a:stretch>
        </p:blipFill>
        <p:spPr>
          <a:xfrm>
            <a:off x="950244" y="3053364"/>
            <a:ext cx="275783" cy="275783"/>
          </a:xfrm>
          <a:prstGeom prst="rect">
            <a:avLst/>
          </a:prstGeom>
        </p:spPr>
      </p:pic>
      <p:sp>
        <p:nvSpPr>
          <p:cNvPr id="12" name="Text 8"/>
          <p:cNvSpPr/>
          <p:nvPr/>
        </p:nvSpPr>
        <p:spPr>
          <a:xfrm>
            <a:off x="1481328" y="2889504"/>
            <a:ext cx="5577840" cy="27432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Machine-readable results</a:t>
            </a:r>
            <a:endParaRPr lang="en-US" sz="1300" dirty="0"/>
          </a:p>
        </p:txBody>
      </p:sp>
      <p:sp>
        <p:nvSpPr>
          <p:cNvPr id="13" name="Text 9"/>
          <p:cNvSpPr/>
          <p:nvPr/>
        </p:nvSpPr>
        <p:spPr>
          <a:xfrm>
            <a:off x="1481328" y="3182112"/>
            <a:ext cx="5669280" cy="384048"/>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JUnit XML consumed by Jenkins for trend graphs and automatic failure attribution</a:t>
            </a:r>
            <a:endParaRPr lang="en-US" sz="1050" dirty="0"/>
          </a:p>
        </p:txBody>
      </p:sp>
      <p:sp>
        <p:nvSpPr>
          <p:cNvPr id="14" name="Shape 10"/>
          <p:cNvSpPr/>
          <p:nvPr/>
        </p:nvSpPr>
        <p:spPr>
          <a:xfrm>
            <a:off x="640080" y="3749040"/>
            <a:ext cx="6675120" cy="896112"/>
          </a:xfrm>
          <a:prstGeom prst="roundRect">
            <a:avLst>
              <a:gd name="adj" fmla="val 8163"/>
            </a:avLst>
          </a:prstGeom>
          <a:solidFill>
            <a:srgbClr val="F1F5F7"/>
          </a:solidFill>
          <a:ln w="9525">
            <a:solidFill>
              <a:srgbClr val="DDE5EA"/>
            </a:solidFill>
            <a:prstDash val="solid"/>
          </a:ln>
        </p:spPr>
      </p:sp>
      <p:sp>
        <p:nvSpPr>
          <p:cNvPr id="15" name="Shape 11"/>
          <p:cNvSpPr/>
          <p:nvPr/>
        </p:nvSpPr>
        <p:spPr>
          <a:xfrm>
            <a:off x="822960" y="3931920"/>
            <a:ext cx="530352" cy="530352"/>
          </a:xfrm>
          <a:prstGeom prst="ellipse">
            <a:avLst/>
          </a:prstGeom>
          <a:solidFill>
            <a:srgbClr val="001034"/>
          </a:solidFill>
          <a:ln w="12700">
            <a:solidFill>
              <a:srgbClr val="001034"/>
            </a:solidFill>
            <a:prstDash val="solid"/>
          </a:ln>
        </p:spPr>
      </p:sp>
      <p:pic>
        <p:nvPicPr>
          <p:cNvPr id="16" name="Image 2" descr="preencoded.png">    </p:cNvPr>
          <p:cNvPicPr>
            <a:picLocks noChangeAspect="1"/>
          </p:cNvPicPr>
          <p:nvPr/>
        </p:nvPicPr>
        <p:blipFill>
          <a:blip r:embed="rId3"/>
          <a:stretch>
            <a:fillRect/>
          </a:stretch>
        </p:blipFill>
        <p:spPr>
          <a:xfrm>
            <a:off x="950244" y="4059204"/>
            <a:ext cx="275783" cy="275783"/>
          </a:xfrm>
          <a:prstGeom prst="rect">
            <a:avLst/>
          </a:prstGeom>
        </p:spPr>
      </p:pic>
      <p:sp>
        <p:nvSpPr>
          <p:cNvPr id="17" name="Text 12"/>
          <p:cNvSpPr/>
          <p:nvPr/>
        </p:nvSpPr>
        <p:spPr>
          <a:xfrm>
            <a:off x="1481328" y="3895344"/>
            <a:ext cx="5577840" cy="27432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Archived per run</a:t>
            </a:r>
            <a:endParaRPr lang="en-US" sz="1300" dirty="0"/>
          </a:p>
        </p:txBody>
      </p:sp>
      <p:sp>
        <p:nvSpPr>
          <p:cNvPr id="18" name="Text 13"/>
          <p:cNvSpPr/>
          <p:nvPr/>
        </p:nvSpPr>
        <p:spPr>
          <a:xfrm>
            <a:off x="1481328" y="4187952"/>
            <a:ext cx="5669280" cy="384048"/>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Reports, screenshots and the deployed artefact kept together, per environment, per build</a:t>
            </a:r>
            <a:endParaRPr lang="en-US" sz="1050" dirty="0"/>
          </a:p>
        </p:txBody>
      </p:sp>
      <p:sp>
        <p:nvSpPr>
          <p:cNvPr id="19" name="Shape 14"/>
          <p:cNvSpPr/>
          <p:nvPr/>
        </p:nvSpPr>
        <p:spPr>
          <a:xfrm>
            <a:off x="640080" y="4754880"/>
            <a:ext cx="6675120" cy="896112"/>
          </a:xfrm>
          <a:prstGeom prst="roundRect">
            <a:avLst>
              <a:gd name="adj" fmla="val 8163"/>
            </a:avLst>
          </a:prstGeom>
          <a:solidFill>
            <a:srgbClr val="FFFFFF"/>
          </a:solidFill>
          <a:ln w="9525">
            <a:solidFill>
              <a:srgbClr val="DDE5EA"/>
            </a:solidFill>
            <a:prstDash val="solid"/>
          </a:ln>
        </p:spPr>
      </p:sp>
      <p:sp>
        <p:nvSpPr>
          <p:cNvPr id="20" name="Shape 15"/>
          <p:cNvSpPr/>
          <p:nvPr/>
        </p:nvSpPr>
        <p:spPr>
          <a:xfrm>
            <a:off x="822960" y="4937760"/>
            <a:ext cx="530352" cy="530352"/>
          </a:xfrm>
          <a:prstGeom prst="ellipse">
            <a:avLst/>
          </a:prstGeom>
          <a:solidFill>
            <a:srgbClr val="001034"/>
          </a:solidFill>
          <a:ln w="12700">
            <a:solidFill>
              <a:srgbClr val="001034"/>
            </a:solidFill>
            <a:prstDash val="solid"/>
          </a:ln>
        </p:spPr>
      </p:sp>
      <p:pic>
        <p:nvPicPr>
          <p:cNvPr id="21" name="Image 3" descr="preencoded.png">    </p:cNvPr>
          <p:cNvPicPr>
            <a:picLocks noChangeAspect="1"/>
          </p:cNvPicPr>
          <p:nvPr/>
        </p:nvPicPr>
        <p:blipFill>
          <a:blip r:embed="rId4"/>
          <a:stretch>
            <a:fillRect/>
          </a:stretch>
        </p:blipFill>
        <p:spPr>
          <a:xfrm>
            <a:off x="950244" y="5065044"/>
            <a:ext cx="275783" cy="275783"/>
          </a:xfrm>
          <a:prstGeom prst="rect">
            <a:avLst/>
          </a:prstGeom>
        </p:spPr>
      </p:pic>
      <p:sp>
        <p:nvSpPr>
          <p:cNvPr id="22" name="Text 16"/>
          <p:cNvSpPr/>
          <p:nvPr/>
        </p:nvSpPr>
        <p:spPr>
          <a:xfrm>
            <a:off x="1481328" y="4901184"/>
            <a:ext cx="5577840" cy="274320"/>
          </a:xfrm>
          <a:prstGeom prst="rect">
            <a:avLst/>
          </a:prstGeom>
          <a:noFill/>
          <a:ln/>
        </p:spPr>
        <p:txBody>
          <a:bodyPr wrap="square" lIns="0" tIns="0" rIns="0" bIns="0" rtlCol="0" anchor="ctr"/>
          <a:lstStyle/>
          <a:p>
            <a:pPr indent="0" marL="0">
              <a:buNone/>
            </a:pPr>
            <a:r>
              <a:rPr lang="en-US" sz="1300" b="1" dirty="0">
                <a:solidFill>
                  <a:srgbClr val="001034"/>
                </a:solidFill>
                <a:latin typeface="Arial" pitchFamily="34" charset="0"/>
                <a:ea typeface="Arial" pitchFamily="34" charset="-122"/>
                <a:cs typeface="Arial" pitchFamily="34" charset="-120"/>
              </a:rPr>
              <a:t>Notification</a:t>
            </a:r>
            <a:endParaRPr lang="en-US" sz="1300" dirty="0"/>
          </a:p>
        </p:txBody>
      </p:sp>
      <p:sp>
        <p:nvSpPr>
          <p:cNvPr id="23" name="Text 17"/>
          <p:cNvSpPr/>
          <p:nvPr/>
        </p:nvSpPr>
        <p:spPr>
          <a:xfrm>
            <a:off x="1481328" y="5193792"/>
            <a:ext cx="5669280" cy="384048"/>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Build outcome pushed to the team channel with package and version context</a:t>
            </a:r>
            <a:endParaRPr lang="en-US" sz="1050" dirty="0"/>
          </a:p>
        </p:txBody>
      </p:sp>
      <p:sp>
        <p:nvSpPr>
          <p:cNvPr id="24" name="Shape 18"/>
          <p:cNvSpPr/>
          <p:nvPr/>
        </p:nvSpPr>
        <p:spPr>
          <a:xfrm>
            <a:off x="7680960" y="1737360"/>
            <a:ext cx="3867912" cy="4023360"/>
          </a:xfrm>
          <a:prstGeom prst="roundRect">
            <a:avLst>
              <a:gd name="adj" fmla="val 2128"/>
            </a:avLst>
          </a:prstGeom>
          <a:solidFill>
            <a:srgbClr val="001034"/>
          </a:solidFill>
          <a:ln/>
        </p:spPr>
      </p:sp>
      <p:sp>
        <p:nvSpPr>
          <p:cNvPr id="25" name="Text 19"/>
          <p:cNvSpPr/>
          <p:nvPr/>
        </p:nvSpPr>
        <p:spPr>
          <a:xfrm>
            <a:off x="7973568" y="1938528"/>
            <a:ext cx="3291840" cy="292608"/>
          </a:xfrm>
          <a:prstGeom prst="rect">
            <a:avLst/>
          </a:prstGeom>
          <a:noFill/>
          <a:ln/>
        </p:spPr>
        <p:txBody>
          <a:bodyPr wrap="square" lIns="0" tIns="0" rIns="0" bIns="0" rtlCol="0" anchor="ctr"/>
          <a:lstStyle/>
          <a:p>
            <a:pPr indent="0" marL="0">
              <a:buNone/>
            </a:pPr>
            <a:r>
              <a:rPr lang="en-US" sz="1600" b="1" dirty="0">
                <a:solidFill>
                  <a:srgbClr val="00E1A0"/>
                </a:solidFill>
                <a:latin typeface="Arial" pitchFamily="34" charset="0"/>
                <a:ea typeface="Arial" pitchFamily="34" charset="-122"/>
                <a:cs typeface="Arial" pitchFamily="34" charset="-120"/>
              </a:rPr>
              <a:t>The gate</a:t>
            </a:r>
            <a:endParaRPr lang="en-US" sz="1600" dirty="0"/>
          </a:p>
        </p:txBody>
      </p:sp>
      <p:sp>
        <p:nvSpPr>
          <p:cNvPr id="26" name="Text 20"/>
          <p:cNvSpPr/>
          <p:nvPr/>
        </p:nvSpPr>
        <p:spPr>
          <a:xfrm>
            <a:off x="7973568" y="2359152"/>
            <a:ext cx="3291840" cy="1371600"/>
          </a:xfrm>
          <a:prstGeom prst="rect">
            <a:avLst/>
          </a:prstGeom>
          <a:noFill/>
          <a:ln/>
        </p:spPr>
        <p:txBody>
          <a:bodyPr wrap="square" lIns="0" tIns="0" rIns="0" bIns="0" rtlCol="0" anchor="ctr"/>
          <a:lstStyle/>
          <a:p>
            <a:pPr indent="0" marL="0">
              <a:lnSpc>
                <a:spcPts val="1500"/>
              </a:lnSpc>
              <a:buNone/>
            </a:pPr>
            <a:r>
              <a:rPr lang="en-US" sz="1200" dirty="0">
                <a:solidFill>
                  <a:srgbClr val="D6E2EC"/>
                </a:solidFill>
                <a:latin typeface="Calibri" pitchFamily="34" charset="0"/>
                <a:ea typeface="Calibri" pitchFamily="34" charset="-122"/>
                <a:cs typeface="Calibri" pitchFamily="34" charset="-120"/>
              </a:rPr>
              <a:t>Promotion to the next environment is blocked unless the suites for the current one passed. Nothing reaches production that has not been deployed and tested the same way at least twice.</a:t>
            </a:r>
            <a:endParaRPr lang="en-US" sz="1200" dirty="0"/>
          </a:p>
        </p:txBody>
      </p:sp>
      <p:sp>
        <p:nvSpPr>
          <p:cNvPr id="27" name="Text 21"/>
          <p:cNvSpPr/>
          <p:nvPr/>
        </p:nvSpPr>
        <p:spPr>
          <a:xfrm>
            <a:off x="7973568" y="3840480"/>
            <a:ext cx="3291840" cy="914400"/>
          </a:xfrm>
          <a:prstGeom prst="rect">
            <a:avLst/>
          </a:prstGeom>
          <a:noFill/>
          <a:ln/>
        </p:spPr>
        <p:txBody>
          <a:bodyPr wrap="square" lIns="0" tIns="0" rIns="0" bIns="0" rtlCol="0" anchor="ctr"/>
          <a:lstStyle/>
          <a:p>
            <a:pPr indent="0" marL="0">
              <a:lnSpc>
                <a:spcPts val="1500"/>
              </a:lnSpc>
              <a:buNone/>
            </a:pPr>
            <a:r>
              <a:rPr lang="en-US" sz="1200" b="1" i="1" dirty="0">
                <a:solidFill>
                  <a:srgbClr val="00E1A0"/>
                </a:solidFill>
                <a:latin typeface="Calibri" pitchFamily="34" charset="0"/>
                <a:ea typeface="Calibri" pitchFamily="34" charset="-122"/>
                <a:cs typeface="Calibri" pitchFamily="34" charset="-120"/>
              </a:rPr>
              <a:t>Go / no-go becomes a build status rather than a meeting outcome.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CURRENT STATE</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Where we stand today</a:t>
            </a:r>
            <a:endParaRPr lang="en-US" sz="2900" dirty="0"/>
          </a:p>
        </p:txBody>
      </p:sp>
      <p:sp>
        <p:nvSpPr>
          <p:cNvPr id="4" name="Text 2"/>
          <p:cNvSpPr/>
          <p:nvPr/>
        </p:nvSpPr>
        <p:spPr>
          <a:xfrm>
            <a:off x="640080" y="1335024"/>
            <a:ext cx="10881360" cy="320040"/>
          </a:xfrm>
          <a:prstGeom prst="rect">
            <a:avLst/>
          </a:prstGeom>
          <a:noFill/>
          <a:ln/>
        </p:spPr>
        <p:txBody>
          <a:bodyPr wrap="square" lIns="0" tIns="0" rIns="0" bIns="0" rtlCol="0" anchor="ctr"/>
          <a:lstStyle/>
          <a:p>
            <a:pPr indent="0" marL="0">
              <a:buNone/>
            </a:pPr>
            <a:r>
              <a:rPr lang="en-US" sz="1350" dirty="0">
                <a:solidFill>
                  <a:srgbClr val="5A6672"/>
                </a:solidFill>
                <a:latin typeface="Calibri" pitchFamily="34" charset="0"/>
                <a:ea typeface="Calibri" pitchFamily="34" charset="-122"/>
                <a:cs typeface="Calibri" pitchFamily="34" charset="-120"/>
              </a:rPr>
              <a:t>An honest read of the three repositories — what is production-shaped, what is a working start, and what is still open.</a:t>
            </a:r>
            <a:endParaRPr lang="en-US" sz="1350" dirty="0"/>
          </a:p>
        </p:txBody>
      </p:sp>
      <p:sp>
        <p:nvSpPr>
          <p:cNvPr id="5" name="Shape 3"/>
          <p:cNvSpPr/>
          <p:nvPr/>
        </p:nvSpPr>
        <p:spPr>
          <a:xfrm>
            <a:off x="640080" y="1783080"/>
            <a:ext cx="3429000" cy="4069080"/>
          </a:xfrm>
          <a:prstGeom prst="roundRect">
            <a:avLst>
              <a:gd name="adj" fmla="val 2400"/>
            </a:avLst>
          </a:prstGeom>
          <a:solidFill>
            <a:srgbClr val="E6F7F2"/>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Shape 4"/>
          <p:cNvSpPr/>
          <p:nvPr/>
        </p:nvSpPr>
        <p:spPr>
          <a:xfrm>
            <a:off x="896112" y="1993392"/>
            <a:ext cx="1508760" cy="365760"/>
          </a:xfrm>
          <a:prstGeom prst="roundRect">
            <a:avLst>
              <a:gd name="adj" fmla="val 50000"/>
            </a:avLst>
          </a:prstGeom>
          <a:solidFill>
            <a:srgbClr val="007F80"/>
          </a:solidFill>
          <a:ln/>
        </p:spPr>
      </p:sp>
      <p:sp>
        <p:nvSpPr>
          <p:cNvPr id="7" name="Text 5"/>
          <p:cNvSpPr/>
          <p:nvPr/>
        </p:nvSpPr>
        <p:spPr>
          <a:xfrm>
            <a:off x="896112" y="1993392"/>
            <a:ext cx="1508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Solid</a:t>
            </a:r>
            <a:endParaRPr lang="en-US" sz="1200" dirty="0"/>
          </a:p>
        </p:txBody>
      </p:sp>
      <p:sp>
        <p:nvSpPr>
          <p:cNvPr id="8" name="Text 6"/>
          <p:cNvSpPr/>
          <p:nvPr/>
        </p:nvSpPr>
        <p:spPr>
          <a:xfrm>
            <a:off x="896112" y="2514600"/>
            <a:ext cx="2926080" cy="3200400"/>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Build, package and deploy pipelines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18-operation deploy engine, phase-ordered</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Credential handling and injection guards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Deploy-engine unit tests in CI</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Jenkinsfile linting on pull requests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Gateway WAR build, deploy and smoke test</a:t>
            </a:r>
            <a:endParaRPr lang="en-US" sz="1100" dirty="0"/>
          </a:p>
        </p:txBody>
      </p:sp>
      <p:sp>
        <p:nvSpPr>
          <p:cNvPr id="9" name="Shape 7"/>
          <p:cNvSpPr/>
          <p:nvPr/>
        </p:nvSpPr>
        <p:spPr>
          <a:xfrm>
            <a:off x="4343400" y="1783080"/>
            <a:ext cx="3429000" cy="4069080"/>
          </a:xfrm>
          <a:prstGeom prst="roundRect">
            <a:avLst>
              <a:gd name="adj" fmla="val 2400"/>
            </a:avLst>
          </a:prstGeom>
          <a:solidFill>
            <a:srgbClr val="FDF4E7"/>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Shape 8"/>
          <p:cNvSpPr/>
          <p:nvPr/>
        </p:nvSpPr>
        <p:spPr>
          <a:xfrm>
            <a:off x="4599432" y="1993392"/>
            <a:ext cx="1508760" cy="365760"/>
          </a:xfrm>
          <a:prstGeom prst="roundRect">
            <a:avLst>
              <a:gd name="adj" fmla="val 50000"/>
            </a:avLst>
          </a:prstGeom>
          <a:solidFill>
            <a:srgbClr val="C77700"/>
          </a:solidFill>
          <a:ln/>
        </p:spPr>
      </p:sp>
      <p:sp>
        <p:nvSpPr>
          <p:cNvPr id="11" name="Text 9"/>
          <p:cNvSpPr/>
          <p:nvPr/>
        </p:nvSpPr>
        <p:spPr>
          <a:xfrm>
            <a:off x="4599432" y="1993392"/>
            <a:ext cx="1508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Working start</a:t>
            </a:r>
            <a:endParaRPr lang="en-US" sz="1200" dirty="0"/>
          </a:p>
        </p:txBody>
      </p:sp>
      <p:sp>
        <p:nvSpPr>
          <p:cNvPr id="12" name="Text 10"/>
          <p:cNvSpPr/>
          <p:nvPr/>
        </p:nvSpPr>
        <p:spPr>
          <a:xfrm>
            <a:off x="4599432" y="2514600"/>
            <a:ext cx="2926080" cy="3200400"/>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Postman collections for OOTB and gateway APIs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AW UI framework: env layering, credentials, screenshots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Per-environment property files (dev, qa)</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PowerShell REST client for exploration</a:t>
            </a:r>
            <a:endParaRPr lang="en-US" sz="1100" dirty="0"/>
          </a:p>
        </p:txBody>
      </p:sp>
      <p:sp>
        <p:nvSpPr>
          <p:cNvPr id="13" name="Shape 11"/>
          <p:cNvSpPr/>
          <p:nvPr/>
        </p:nvSpPr>
        <p:spPr>
          <a:xfrm>
            <a:off x="8046720" y="1783080"/>
            <a:ext cx="3429000" cy="4069080"/>
          </a:xfrm>
          <a:prstGeom prst="roundRect">
            <a:avLst>
              <a:gd name="adj" fmla="val 2400"/>
            </a:avLst>
          </a:prstGeom>
          <a:solidFill>
            <a:srgbClr val="FBF2F3"/>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4" name="Shape 12"/>
          <p:cNvSpPr/>
          <p:nvPr/>
        </p:nvSpPr>
        <p:spPr>
          <a:xfrm>
            <a:off x="8302752" y="1993392"/>
            <a:ext cx="1508760" cy="365760"/>
          </a:xfrm>
          <a:prstGeom prst="roundRect">
            <a:avLst>
              <a:gd name="adj" fmla="val 50000"/>
            </a:avLst>
          </a:prstGeom>
          <a:solidFill>
            <a:srgbClr val="B23A48"/>
          </a:solidFill>
          <a:ln/>
        </p:spPr>
      </p:sp>
      <p:sp>
        <p:nvSpPr>
          <p:cNvPr id="15" name="Text 13"/>
          <p:cNvSpPr/>
          <p:nvPr/>
        </p:nvSpPr>
        <p:spPr>
          <a:xfrm>
            <a:off x="8302752" y="1993392"/>
            <a:ext cx="1508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Open</a:t>
            </a:r>
            <a:endParaRPr lang="en-US" sz="1200" dirty="0"/>
          </a:p>
        </p:txBody>
      </p:sp>
      <p:sp>
        <p:nvSpPr>
          <p:cNvPr id="16" name="Text 14"/>
          <p:cNvSpPr/>
          <p:nvPr/>
        </p:nvSpPr>
        <p:spPr>
          <a:xfrm>
            <a:off x="8302752" y="2514600"/>
            <a:ext cx="2926080" cy="3200400"/>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Assertions missing on many API requests</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Collections need de-duplication and variable clean-up</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AW suite covers one journey, not yet run live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No Newman stage wired into a Jenkins pipeline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Gateway deploy writes secrets to a startup file</a:t>
            </a:r>
            <a:endParaRPr lang="en-US" sz="1100" dirty="0"/>
          </a:p>
          <a:p>
            <a:pPr marL="342900" indent="-342900">
              <a:lnSpc>
                <a:spcPts val="1350"/>
              </a:lnSpc>
              <a:spcAft>
                <a:spcPts val="900"/>
              </a:spcAft>
              <a:buSzPct val="100000"/>
              <a:buChar char="•"/>
            </a:pPr>
            <a:r>
              <a:rPr lang="en-US" sz="1100" dirty="0">
                <a:solidFill>
                  <a:srgbClr val="12233A"/>
                </a:solidFill>
                <a:latin typeface="Calibri" pitchFamily="34" charset="0"/>
                <a:ea typeface="Calibri" pitchFamily="34" charset="-122"/>
                <a:cs typeface="Calibri" pitchFamily="34" charset="-120"/>
              </a:rPr>
              <a:t>No data-migration or integrity test layer yet</a:t>
            </a:r>
            <a:endParaRPr lang="en-US" sz="1100" dirty="0"/>
          </a:p>
        </p:txBody>
      </p:sp>
      <p:sp>
        <p:nvSpPr>
          <p:cNvPr id="17" name="Text 15"/>
          <p:cNvSpPr/>
          <p:nvPr/>
        </p:nvSpPr>
        <p:spPr>
          <a:xfrm>
            <a:off x="640080" y="6364224"/>
            <a:ext cx="10881360" cy="274320"/>
          </a:xfrm>
          <a:prstGeom prst="rect">
            <a:avLst/>
          </a:prstGeom>
          <a:noFill/>
          <a:ln/>
        </p:spPr>
        <p:txBody>
          <a:bodyPr wrap="square" lIns="0" tIns="0" rIns="0" bIns="0" rtlCol="0" anchor="ctr"/>
          <a:lstStyle/>
          <a:p>
            <a:pPr indent="0" marL="0">
              <a:buNone/>
            </a:pPr>
            <a:r>
              <a:rPr lang="en-US" sz="950" i="1" dirty="0">
                <a:solidFill>
                  <a:srgbClr val="5A6672"/>
                </a:solidFill>
                <a:latin typeface="Calibri" pitchFamily="34" charset="0"/>
                <a:ea typeface="Calibri" pitchFamily="34" charset="-122"/>
                <a:cs typeface="Calibri" pitchFamily="34" charset="-120"/>
              </a:rPr>
              <a:t>Internal slide. For the customer version, reframe the third column as the pilot scope rather than as a gap list.</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ROADMAP</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Closing the gaps</a:t>
            </a:r>
            <a:endParaRPr lang="en-US" sz="2900" dirty="0"/>
          </a:p>
        </p:txBody>
      </p:sp>
      <p:sp>
        <p:nvSpPr>
          <p:cNvPr id="4" name="Shape 2"/>
          <p:cNvSpPr/>
          <p:nvPr/>
        </p:nvSpPr>
        <p:spPr>
          <a:xfrm>
            <a:off x="640080" y="1737360"/>
            <a:ext cx="3429000" cy="411480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896112" y="1965960"/>
            <a:ext cx="1371600" cy="347472"/>
          </a:xfrm>
          <a:prstGeom prst="roundRect">
            <a:avLst>
              <a:gd name="adj" fmla="val 50000"/>
            </a:avLst>
          </a:prstGeom>
          <a:solidFill>
            <a:srgbClr val="00A5A6"/>
          </a:solidFill>
          <a:ln/>
        </p:spPr>
      </p:sp>
      <p:sp>
        <p:nvSpPr>
          <p:cNvPr id="6" name="Text 4"/>
          <p:cNvSpPr/>
          <p:nvPr/>
        </p:nvSpPr>
        <p:spPr>
          <a:xfrm>
            <a:off x="896112" y="196596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Horizon 1</a:t>
            </a:r>
            <a:endParaRPr lang="en-US" sz="1100" dirty="0"/>
          </a:p>
        </p:txBody>
      </p:sp>
      <p:sp>
        <p:nvSpPr>
          <p:cNvPr id="7" name="Text 5"/>
          <p:cNvSpPr/>
          <p:nvPr/>
        </p:nvSpPr>
        <p:spPr>
          <a:xfrm>
            <a:off x="896112" y="2423160"/>
            <a:ext cx="2926080" cy="365760"/>
          </a:xfrm>
          <a:prstGeom prst="rect">
            <a:avLst/>
          </a:prstGeom>
          <a:noFill/>
          <a:ln/>
        </p:spPr>
        <p:txBody>
          <a:bodyPr wrap="square" lIns="0" tIns="0" rIns="0" bIns="0" rtlCol="0" anchor="ctr"/>
          <a:lstStyle/>
          <a:p>
            <a:pPr indent="0" marL="0">
              <a:buNone/>
            </a:pPr>
            <a:r>
              <a:rPr lang="en-US" sz="2000" b="1" dirty="0">
                <a:solidFill>
                  <a:srgbClr val="001034"/>
                </a:solidFill>
                <a:latin typeface="Arial" pitchFamily="34" charset="0"/>
                <a:ea typeface="Arial" pitchFamily="34" charset="-122"/>
                <a:cs typeface="Arial" pitchFamily="34" charset="-120"/>
              </a:rPr>
              <a:t>Harden</a:t>
            </a:r>
            <a:endParaRPr lang="en-US" sz="2000" dirty="0"/>
          </a:p>
        </p:txBody>
      </p:sp>
      <p:sp>
        <p:nvSpPr>
          <p:cNvPr id="8" name="Text 6"/>
          <p:cNvSpPr/>
          <p:nvPr/>
        </p:nvSpPr>
        <p:spPr>
          <a:xfrm>
            <a:off x="896112" y="2907792"/>
            <a:ext cx="2926080" cy="2834640"/>
          </a:xfrm>
          <a:prstGeom prst="rect">
            <a:avLst/>
          </a:prstGeom>
          <a:noFill/>
          <a:ln/>
        </p:spPr>
        <p:txBody>
          <a:bodyPr wrap="square" lIns="0" tIns="0" rIns="0" bIns="0" rtlCol="0" anchor="t"/>
          <a:lstStyle/>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Assertions on every API request, smoke and regression folders separated</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Collections de-duplicated, all hosts moved to environment variables</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Newman wired into Jenkins with HTML and JUnit publishing</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Secrets moved out of startup files into the credential store</a:t>
            </a:r>
            <a:endParaRPr lang="en-US" sz="1100" dirty="0"/>
          </a:p>
        </p:txBody>
      </p:sp>
      <p:sp>
        <p:nvSpPr>
          <p:cNvPr id="9" name="Shape 7"/>
          <p:cNvSpPr/>
          <p:nvPr/>
        </p:nvSpPr>
        <p:spPr>
          <a:xfrm>
            <a:off x="4343400" y="1737360"/>
            <a:ext cx="3429000" cy="411480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Shape 8"/>
          <p:cNvSpPr/>
          <p:nvPr/>
        </p:nvSpPr>
        <p:spPr>
          <a:xfrm>
            <a:off x="4599432" y="1965960"/>
            <a:ext cx="1371600" cy="347472"/>
          </a:xfrm>
          <a:prstGeom prst="roundRect">
            <a:avLst>
              <a:gd name="adj" fmla="val 50000"/>
            </a:avLst>
          </a:prstGeom>
          <a:solidFill>
            <a:srgbClr val="007F80"/>
          </a:solidFill>
          <a:ln/>
        </p:spPr>
      </p:sp>
      <p:sp>
        <p:nvSpPr>
          <p:cNvPr id="11" name="Text 9"/>
          <p:cNvSpPr/>
          <p:nvPr/>
        </p:nvSpPr>
        <p:spPr>
          <a:xfrm>
            <a:off x="4599432" y="196596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Horizon 2</a:t>
            </a:r>
            <a:endParaRPr lang="en-US" sz="1100" dirty="0"/>
          </a:p>
        </p:txBody>
      </p:sp>
      <p:sp>
        <p:nvSpPr>
          <p:cNvPr id="12" name="Text 10"/>
          <p:cNvSpPr/>
          <p:nvPr/>
        </p:nvSpPr>
        <p:spPr>
          <a:xfrm>
            <a:off x="4599432" y="2423160"/>
            <a:ext cx="2926080" cy="365760"/>
          </a:xfrm>
          <a:prstGeom prst="rect">
            <a:avLst/>
          </a:prstGeom>
          <a:noFill/>
          <a:ln/>
        </p:spPr>
        <p:txBody>
          <a:bodyPr wrap="square" lIns="0" tIns="0" rIns="0" bIns="0" rtlCol="0" anchor="ctr"/>
          <a:lstStyle/>
          <a:p>
            <a:pPr indent="0" marL="0">
              <a:buNone/>
            </a:pPr>
            <a:r>
              <a:rPr lang="en-US" sz="2000" b="1" dirty="0">
                <a:solidFill>
                  <a:srgbClr val="001034"/>
                </a:solidFill>
                <a:latin typeface="Arial" pitchFamily="34" charset="0"/>
                <a:ea typeface="Arial" pitchFamily="34" charset="-122"/>
                <a:cs typeface="Arial" pitchFamily="34" charset="-120"/>
              </a:rPr>
              <a:t>Broaden</a:t>
            </a:r>
            <a:endParaRPr lang="en-US" sz="2000" dirty="0"/>
          </a:p>
        </p:txBody>
      </p:sp>
      <p:sp>
        <p:nvSpPr>
          <p:cNvPr id="13" name="Text 11"/>
          <p:cNvSpPr/>
          <p:nvPr/>
        </p:nvSpPr>
        <p:spPr>
          <a:xfrm>
            <a:off x="4599432" y="2907792"/>
            <a:ext cx="2926080" cy="2834640"/>
          </a:xfrm>
          <a:prstGeom prst="rect">
            <a:avLst/>
          </a:prstGeom>
          <a:noFill/>
          <a:ln/>
        </p:spPr>
        <p:txBody>
          <a:bodyPr wrap="square" lIns="0" tIns="0" rIns="0" bIns="0" rtlCol="0" anchor="t"/>
          <a:lstStyle/>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AW suite extended to search, create, revise and workflow journeys</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Suite executed against a live instance and stabilised</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Data and configuration integrity checks added as a layer</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Quality gates enforced between environments</a:t>
            </a:r>
            <a:endParaRPr lang="en-US" sz="1100" dirty="0"/>
          </a:p>
        </p:txBody>
      </p:sp>
      <p:sp>
        <p:nvSpPr>
          <p:cNvPr id="14" name="Shape 12"/>
          <p:cNvSpPr/>
          <p:nvPr/>
        </p:nvSpPr>
        <p:spPr>
          <a:xfrm>
            <a:off x="8046720" y="1737360"/>
            <a:ext cx="3429000" cy="4114800"/>
          </a:xfrm>
          <a:prstGeom prst="roundRect">
            <a:avLst>
              <a:gd name="adj" fmla="val 24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5" name="Shape 13"/>
          <p:cNvSpPr/>
          <p:nvPr/>
        </p:nvSpPr>
        <p:spPr>
          <a:xfrm>
            <a:off x="8302752" y="1965960"/>
            <a:ext cx="1371600" cy="347472"/>
          </a:xfrm>
          <a:prstGeom prst="roundRect">
            <a:avLst>
              <a:gd name="adj" fmla="val 50000"/>
            </a:avLst>
          </a:prstGeom>
          <a:solidFill>
            <a:srgbClr val="001034"/>
          </a:solidFill>
          <a:ln/>
        </p:spPr>
      </p:sp>
      <p:sp>
        <p:nvSpPr>
          <p:cNvPr id="16" name="Text 14"/>
          <p:cNvSpPr/>
          <p:nvPr/>
        </p:nvSpPr>
        <p:spPr>
          <a:xfrm>
            <a:off x="8302752" y="196596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Horizon 3</a:t>
            </a:r>
            <a:endParaRPr lang="en-US" sz="1100" dirty="0"/>
          </a:p>
        </p:txBody>
      </p:sp>
      <p:sp>
        <p:nvSpPr>
          <p:cNvPr id="17" name="Text 15"/>
          <p:cNvSpPr/>
          <p:nvPr/>
        </p:nvSpPr>
        <p:spPr>
          <a:xfrm>
            <a:off x="8302752" y="2423160"/>
            <a:ext cx="2926080" cy="365760"/>
          </a:xfrm>
          <a:prstGeom prst="rect">
            <a:avLst/>
          </a:prstGeom>
          <a:noFill/>
          <a:ln/>
        </p:spPr>
        <p:txBody>
          <a:bodyPr wrap="square" lIns="0" tIns="0" rIns="0" bIns="0" rtlCol="0" anchor="ctr"/>
          <a:lstStyle/>
          <a:p>
            <a:pPr indent="0" marL="0">
              <a:buNone/>
            </a:pPr>
            <a:r>
              <a:rPr lang="en-US" sz="2000" b="1" dirty="0">
                <a:solidFill>
                  <a:srgbClr val="001034"/>
                </a:solidFill>
                <a:latin typeface="Arial" pitchFamily="34" charset="0"/>
                <a:ea typeface="Arial" pitchFamily="34" charset="-122"/>
                <a:cs typeface="Arial" pitchFamily="34" charset="-120"/>
              </a:rPr>
              <a:t>Scale</a:t>
            </a:r>
            <a:endParaRPr lang="en-US" sz="2000" dirty="0"/>
          </a:p>
        </p:txBody>
      </p:sp>
      <p:sp>
        <p:nvSpPr>
          <p:cNvPr id="18" name="Text 16"/>
          <p:cNvSpPr/>
          <p:nvPr/>
        </p:nvSpPr>
        <p:spPr>
          <a:xfrm>
            <a:off x="8302752" y="2907792"/>
            <a:ext cx="2926080" cy="2834640"/>
          </a:xfrm>
          <a:prstGeom prst="rect">
            <a:avLst/>
          </a:prstGeom>
          <a:noFill/>
          <a:ln/>
        </p:spPr>
        <p:txBody>
          <a:bodyPr wrap="square" lIns="0" tIns="0" rIns="0" bIns="0" rtlCol="0" anchor="t"/>
          <a:lstStyle/>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Parallel execution across DEV, QA and UAT in one pipeline run</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Migration dry runs executed on demand</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Performance signals tracked across releases</a:t>
            </a:r>
            <a:endParaRPr lang="en-US" sz="1100" dirty="0"/>
          </a:p>
          <a:p>
            <a:pPr marL="342900" indent="-342900">
              <a:lnSpc>
                <a:spcPts val="1350"/>
              </a:lnSpc>
              <a:spcAft>
                <a:spcPts val="1100"/>
              </a:spcAft>
              <a:buSzPct val="100000"/>
              <a:buChar char="•"/>
            </a:pPr>
            <a:r>
              <a:rPr lang="en-US" sz="1100" dirty="0">
                <a:solidFill>
                  <a:srgbClr val="12233A"/>
                </a:solidFill>
                <a:latin typeface="Calibri" pitchFamily="34" charset="0"/>
                <a:ea typeface="Calibri" pitchFamily="34" charset="-122"/>
                <a:cs typeface="Calibri" pitchFamily="34" charset="-120"/>
              </a:rPr>
              <a:t>Handover and enablement for the customer's own team</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APPLICATION</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Where this pays off in a migration or upgrade</a:t>
            </a:r>
            <a:endParaRPr lang="en-US" sz="2900" dirty="0"/>
          </a:p>
        </p:txBody>
      </p:sp>
      <p:sp>
        <p:nvSpPr>
          <p:cNvPr id="4" name="Shape 2"/>
          <p:cNvSpPr/>
          <p:nvPr/>
        </p:nvSpPr>
        <p:spPr>
          <a:xfrm>
            <a:off x="640080" y="2103120"/>
            <a:ext cx="2057400" cy="324612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5" name="Shape 3"/>
          <p:cNvSpPr/>
          <p:nvPr/>
        </p:nvSpPr>
        <p:spPr>
          <a:xfrm>
            <a:off x="1353312" y="1783080"/>
            <a:ext cx="640080" cy="640080"/>
          </a:xfrm>
          <a:prstGeom prst="ellipse">
            <a:avLst/>
          </a:prstGeom>
          <a:solidFill>
            <a:srgbClr val="001034"/>
          </a:solidFill>
          <a:ln/>
        </p:spPr>
      </p:sp>
      <p:sp>
        <p:nvSpPr>
          <p:cNvPr id="6" name="Text 4"/>
          <p:cNvSpPr/>
          <p:nvPr/>
        </p:nvSpPr>
        <p:spPr>
          <a:xfrm>
            <a:off x="1353312"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804672" y="2560320"/>
            <a:ext cx="1737360" cy="310896"/>
          </a:xfrm>
          <a:prstGeom prst="rect">
            <a:avLst/>
          </a:prstGeom>
          <a:noFill/>
          <a:ln/>
        </p:spPr>
        <p:txBody>
          <a:bodyPr wrap="square" lIns="0" tIns="0" rIns="0" bIns="0" rtlCol="0" anchor="ctr"/>
          <a:lstStyle/>
          <a:p>
            <a:pPr algn="ctr" indent="0" marL="0">
              <a:buNone/>
            </a:pPr>
            <a:r>
              <a:rPr lang="en-US" sz="1500" b="1" dirty="0">
                <a:solidFill>
                  <a:srgbClr val="001034"/>
                </a:solidFill>
                <a:latin typeface="Arial" pitchFamily="34" charset="0"/>
                <a:ea typeface="Arial" pitchFamily="34" charset="-122"/>
                <a:cs typeface="Arial" pitchFamily="34" charset="-120"/>
              </a:rPr>
              <a:t>Assess</a:t>
            </a:r>
            <a:endParaRPr lang="en-US" sz="1500" dirty="0"/>
          </a:p>
        </p:txBody>
      </p:sp>
      <p:sp>
        <p:nvSpPr>
          <p:cNvPr id="8" name="Text 6"/>
          <p:cNvSpPr/>
          <p:nvPr/>
        </p:nvSpPr>
        <p:spPr>
          <a:xfrm>
            <a:off x="804672" y="2926080"/>
            <a:ext cx="1737360" cy="2286000"/>
          </a:xfrm>
          <a:prstGeom prst="rect">
            <a:avLst/>
          </a:prstGeom>
          <a:noFill/>
          <a:ln/>
        </p:spPr>
        <p:txBody>
          <a:bodyPr wrap="square" lIns="0" tIns="0" rIns="0" bIns="0" rtlCol="0" anchor="ctr"/>
          <a:lstStyle/>
          <a:p>
            <a:pPr indent="0" marL="0">
              <a:lnSpc>
                <a:spcPts val="1350"/>
              </a:lnSpc>
              <a:buNone/>
            </a:pPr>
            <a:r>
              <a:rPr lang="en-US" sz="1050" dirty="0">
                <a:solidFill>
                  <a:srgbClr val="5A6672"/>
                </a:solidFill>
                <a:latin typeface="Calibri" pitchFamily="34" charset="0"/>
                <a:ea typeface="Calibri" pitchFamily="34" charset="-122"/>
                <a:cs typeface="Calibri" pitchFamily="34" charset="-120"/>
              </a:rPr>
              <a:t>Baseline the current release with the automated suites. The result set becomes the reference for everything that follows.</a:t>
            </a:r>
            <a:endParaRPr lang="en-US" sz="1050" dirty="0"/>
          </a:p>
        </p:txBody>
      </p:sp>
      <p:sp>
        <p:nvSpPr>
          <p:cNvPr id="9" name="Shape 7"/>
          <p:cNvSpPr/>
          <p:nvPr/>
        </p:nvSpPr>
        <p:spPr>
          <a:xfrm>
            <a:off x="2862072" y="2103120"/>
            <a:ext cx="2057400" cy="324612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0" name="Shape 8"/>
          <p:cNvSpPr/>
          <p:nvPr/>
        </p:nvSpPr>
        <p:spPr>
          <a:xfrm>
            <a:off x="3575304" y="1783080"/>
            <a:ext cx="640080" cy="640080"/>
          </a:xfrm>
          <a:prstGeom prst="ellipse">
            <a:avLst/>
          </a:prstGeom>
          <a:solidFill>
            <a:srgbClr val="001034"/>
          </a:solidFill>
          <a:ln/>
        </p:spPr>
      </p:sp>
      <p:sp>
        <p:nvSpPr>
          <p:cNvPr id="11" name="Text 9"/>
          <p:cNvSpPr/>
          <p:nvPr/>
        </p:nvSpPr>
        <p:spPr>
          <a:xfrm>
            <a:off x="3575304"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3026664" y="2560320"/>
            <a:ext cx="1737360" cy="310896"/>
          </a:xfrm>
          <a:prstGeom prst="rect">
            <a:avLst/>
          </a:prstGeom>
          <a:noFill/>
          <a:ln/>
        </p:spPr>
        <p:txBody>
          <a:bodyPr wrap="square" lIns="0" tIns="0" rIns="0" bIns="0" rtlCol="0" anchor="ctr"/>
          <a:lstStyle/>
          <a:p>
            <a:pPr algn="ctr" indent="0" marL="0">
              <a:buNone/>
            </a:pPr>
            <a:r>
              <a:rPr lang="en-US" sz="1500" b="1" dirty="0">
                <a:solidFill>
                  <a:srgbClr val="001034"/>
                </a:solidFill>
                <a:latin typeface="Arial" pitchFamily="34" charset="0"/>
                <a:ea typeface="Arial" pitchFamily="34" charset="-122"/>
                <a:cs typeface="Arial" pitchFamily="34" charset="-120"/>
              </a:rPr>
              <a:t>Prepare</a:t>
            </a:r>
            <a:endParaRPr lang="en-US" sz="1500" dirty="0"/>
          </a:p>
        </p:txBody>
      </p:sp>
      <p:sp>
        <p:nvSpPr>
          <p:cNvPr id="13" name="Text 11"/>
          <p:cNvSpPr/>
          <p:nvPr/>
        </p:nvSpPr>
        <p:spPr>
          <a:xfrm>
            <a:off x="3026664" y="2926080"/>
            <a:ext cx="1737360" cy="2286000"/>
          </a:xfrm>
          <a:prstGeom prst="rect">
            <a:avLst/>
          </a:prstGeom>
          <a:noFill/>
          <a:ln/>
        </p:spPr>
        <p:txBody>
          <a:bodyPr wrap="square" lIns="0" tIns="0" rIns="0" bIns="0" rtlCol="0" anchor="ctr"/>
          <a:lstStyle/>
          <a:p>
            <a:pPr indent="0" marL="0">
              <a:lnSpc>
                <a:spcPts val="1350"/>
              </a:lnSpc>
              <a:buNone/>
            </a:pPr>
            <a:r>
              <a:rPr lang="en-US" sz="1050" dirty="0">
                <a:solidFill>
                  <a:srgbClr val="5A6672"/>
                </a:solidFill>
                <a:latin typeface="Calibri" pitchFamily="34" charset="0"/>
                <a:ea typeface="Calibri" pitchFamily="34" charset="-122"/>
                <a:cs typeface="Calibri" pitchFamily="34" charset="-120"/>
              </a:rPr>
              <a:t>Configuration, data model and custom apps moved into the pipeline and rebuilt against the target release.</a:t>
            </a:r>
            <a:endParaRPr lang="en-US" sz="1050" dirty="0"/>
          </a:p>
        </p:txBody>
      </p:sp>
      <p:sp>
        <p:nvSpPr>
          <p:cNvPr id="14" name="Shape 12"/>
          <p:cNvSpPr/>
          <p:nvPr/>
        </p:nvSpPr>
        <p:spPr>
          <a:xfrm>
            <a:off x="5084064" y="2103120"/>
            <a:ext cx="2057400" cy="324612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5" name="Shape 13"/>
          <p:cNvSpPr/>
          <p:nvPr/>
        </p:nvSpPr>
        <p:spPr>
          <a:xfrm>
            <a:off x="5797296" y="1783080"/>
            <a:ext cx="640080" cy="640080"/>
          </a:xfrm>
          <a:prstGeom prst="ellipse">
            <a:avLst/>
          </a:prstGeom>
          <a:solidFill>
            <a:srgbClr val="001034"/>
          </a:solidFill>
          <a:ln/>
        </p:spPr>
      </p:sp>
      <p:sp>
        <p:nvSpPr>
          <p:cNvPr id="16" name="Text 14"/>
          <p:cNvSpPr/>
          <p:nvPr/>
        </p:nvSpPr>
        <p:spPr>
          <a:xfrm>
            <a:off x="5797296"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5248656" y="2560320"/>
            <a:ext cx="1737360" cy="310896"/>
          </a:xfrm>
          <a:prstGeom prst="rect">
            <a:avLst/>
          </a:prstGeom>
          <a:noFill/>
          <a:ln/>
        </p:spPr>
        <p:txBody>
          <a:bodyPr wrap="square" lIns="0" tIns="0" rIns="0" bIns="0" rtlCol="0" anchor="ctr"/>
          <a:lstStyle/>
          <a:p>
            <a:pPr algn="ctr" indent="0" marL="0">
              <a:buNone/>
            </a:pPr>
            <a:r>
              <a:rPr lang="en-US" sz="1500" b="1" dirty="0">
                <a:solidFill>
                  <a:srgbClr val="001034"/>
                </a:solidFill>
                <a:latin typeface="Arial" pitchFamily="34" charset="0"/>
                <a:ea typeface="Arial" pitchFamily="34" charset="-122"/>
                <a:cs typeface="Arial" pitchFamily="34" charset="-120"/>
              </a:rPr>
              <a:t>Dry run</a:t>
            </a:r>
            <a:endParaRPr lang="en-US" sz="1500" dirty="0"/>
          </a:p>
        </p:txBody>
      </p:sp>
      <p:sp>
        <p:nvSpPr>
          <p:cNvPr id="18" name="Text 16"/>
          <p:cNvSpPr/>
          <p:nvPr/>
        </p:nvSpPr>
        <p:spPr>
          <a:xfrm>
            <a:off x="5248656" y="2926080"/>
            <a:ext cx="1737360" cy="2286000"/>
          </a:xfrm>
          <a:prstGeom prst="rect">
            <a:avLst/>
          </a:prstGeom>
          <a:noFill/>
          <a:ln/>
        </p:spPr>
        <p:txBody>
          <a:bodyPr wrap="square" lIns="0" tIns="0" rIns="0" bIns="0" rtlCol="0" anchor="ctr"/>
          <a:lstStyle/>
          <a:p>
            <a:pPr indent="0" marL="0">
              <a:lnSpc>
                <a:spcPts val="1350"/>
              </a:lnSpc>
              <a:buNone/>
            </a:pPr>
            <a:r>
              <a:rPr lang="en-US" sz="1050" dirty="0">
                <a:solidFill>
                  <a:srgbClr val="5A6672"/>
                </a:solidFill>
                <a:latin typeface="Calibri" pitchFamily="34" charset="0"/>
                <a:ea typeface="Calibri" pitchFamily="34" charset="-122"/>
                <a:cs typeface="Calibri" pitchFamily="34" charset="-120"/>
              </a:rPr>
              <a:t>Each rehearsal is deployed and re-tested automatically instead of by hand — rounds become cheap enough to repeat.</a:t>
            </a:r>
            <a:endParaRPr lang="en-US" sz="1050" dirty="0"/>
          </a:p>
        </p:txBody>
      </p:sp>
      <p:sp>
        <p:nvSpPr>
          <p:cNvPr id="19" name="Shape 17"/>
          <p:cNvSpPr/>
          <p:nvPr/>
        </p:nvSpPr>
        <p:spPr>
          <a:xfrm>
            <a:off x="7306056" y="2103120"/>
            <a:ext cx="2057400" cy="324612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0" name="Shape 18"/>
          <p:cNvSpPr/>
          <p:nvPr/>
        </p:nvSpPr>
        <p:spPr>
          <a:xfrm>
            <a:off x="8019288" y="1783080"/>
            <a:ext cx="640080" cy="640080"/>
          </a:xfrm>
          <a:prstGeom prst="ellipse">
            <a:avLst/>
          </a:prstGeom>
          <a:solidFill>
            <a:srgbClr val="001034"/>
          </a:solidFill>
          <a:ln/>
        </p:spPr>
      </p:sp>
      <p:sp>
        <p:nvSpPr>
          <p:cNvPr id="21" name="Text 19"/>
          <p:cNvSpPr/>
          <p:nvPr/>
        </p:nvSpPr>
        <p:spPr>
          <a:xfrm>
            <a:off x="8019288"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7470648" y="2560320"/>
            <a:ext cx="1737360" cy="310896"/>
          </a:xfrm>
          <a:prstGeom prst="rect">
            <a:avLst/>
          </a:prstGeom>
          <a:noFill/>
          <a:ln/>
        </p:spPr>
        <p:txBody>
          <a:bodyPr wrap="square" lIns="0" tIns="0" rIns="0" bIns="0" rtlCol="0" anchor="ctr"/>
          <a:lstStyle/>
          <a:p>
            <a:pPr algn="ctr" indent="0" marL="0">
              <a:buNone/>
            </a:pPr>
            <a:r>
              <a:rPr lang="en-US" sz="1500" b="1" dirty="0">
                <a:solidFill>
                  <a:srgbClr val="001034"/>
                </a:solidFill>
                <a:latin typeface="Arial" pitchFamily="34" charset="0"/>
                <a:ea typeface="Arial" pitchFamily="34" charset="-122"/>
                <a:cs typeface="Arial" pitchFamily="34" charset="-120"/>
              </a:rPr>
              <a:t>Cutover</a:t>
            </a:r>
            <a:endParaRPr lang="en-US" sz="1500" dirty="0"/>
          </a:p>
        </p:txBody>
      </p:sp>
      <p:sp>
        <p:nvSpPr>
          <p:cNvPr id="23" name="Text 21"/>
          <p:cNvSpPr/>
          <p:nvPr/>
        </p:nvSpPr>
        <p:spPr>
          <a:xfrm>
            <a:off x="7470648" y="2926080"/>
            <a:ext cx="1737360" cy="2286000"/>
          </a:xfrm>
          <a:prstGeom prst="rect">
            <a:avLst/>
          </a:prstGeom>
          <a:noFill/>
          <a:ln/>
        </p:spPr>
        <p:txBody>
          <a:bodyPr wrap="square" lIns="0" tIns="0" rIns="0" bIns="0" rtlCol="0" anchor="ctr"/>
          <a:lstStyle/>
          <a:p>
            <a:pPr indent="0" marL="0">
              <a:lnSpc>
                <a:spcPts val="1350"/>
              </a:lnSpc>
              <a:buNone/>
            </a:pPr>
            <a:r>
              <a:rPr lang="en-US" sz="1050" dirty="0">
                <a:solidFill>
                  <a:srgbClr val="5A6672"/>
                </a:solidFill>
                <a:latin typeface="Calibri" pitchFamily="34" charset="0"/>
                <a:ea typeface="Calibri" pitchFamily="34" charset="-122"/>
                <a:cs typeface="Calibri" pitchFamily="34" charset="-120"/>
              </a:rPr>
              <a:t>Go / no-go rests on a quality gate and generated evidence, not on a status meeting.</a:t>
            </a:r>
            <a:endParaRPr lang="en-US" sz="1050" dirty="0"/>
          </a:p>
        </p:txBody>
      </p:sp>
      <p:sp>
        <p:nvSpPr>
          <p:cNvPr id="24" name="Shape 22"/>
          <p:cNvSpPr/>
          <p:nvPr/>
        </p:nvSpPr>
        <p:spPr>
          <a:xfrm>
            <a:off x="9528048" y="2103120"/>
            <a:ext cx="2057400" cy="3246120"/>
          </a:xfrm>
          <a:prstGeom prst="roundRect">
            <a:avLst>
              <a:gd name="adj" fmla="val 4000"/>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25" name="Shape 23"/>
          <p:cNvSpPr/>
          <p:nvPr/>
        </p:nvSpPr>
        <p:spPr>
          <a:xfrm>
            <a:off x="10241280" y="1783080"/>
            <a:ext cx="640080" cy="640080"/>
          </a:xfrm>
          <a:prstGeom prst="ellipse">
            <a:avLst/>
          </a:prstGeom>
          <a:solidFill>
            <a:srgbClr val="001034"/>
          </a:solidFill>
          <a:ln/>
        </p:spPr>
      </p:sp>
      <p:sp>
        <p:nvSpPr>
          <p:cNvPr id="26" name="Text 24"/>
          <p:cNvSpPr/>
          <p:nvPr/>
        </p:nvSpPr>
        <p:spPr>
          <a:xfrm>
            <a:off x="10241280" y="1783080"/>
            <a:ext cx="640080" cy="640080"/>
          </a:xfrm>
          <a:prstGeom prst="rect">
            <a:avLst/>
          </a:prstGeom>
          <a:noFill/>
          <a:ln/>
        </p:spPr>
        <p:txBody>
          <a:bodyPr wrap="square" lIns="0" tIns="0" rIns="0" bIns="0" rtlCol="0" anchor="ctr"/>
          <a:lstStyle/>
          <a:p>
            <a:pPr algn="ctr" indent="0" marL="0">
              <a:buNone/>
            </a:pPr>
            <a:r>
              <a:rPr lang="en-US" sz="1500" b="1" dirty="0">
                <a:solidFill>
                  <a:srgbClr val="00E1A0"/>
                </a:solidFill>
                <a:latin typeface="Arial" pitchFamily="34" charset="0"/>
                <a:ea typeface="Arial" pitchFamily="34" charset="-122"/>
                <a:cs typeface="Arial" pitchFamily="34" charset="-120"/>
              </a:rPr>
              <a:t>05</a:t>
            </a:r>
            <a:endParaRPr lang="en-US" sz="1500" dirty="0"/>
          </a:p>
        </p:txBody>
      </p:sp>
      <p:sp>
        <p:nvSpPr>
          <p:cNvPr id="27" name="Text 25"/>
          <p:cNvSpPr/>
          <p:nvPr/>
        </p:nvSpPr>
        <p:spPr>
          <a:xfrm>
            <a:off x="9692640" y="2560320"/>
            <a:ext cx="1737360" cy="310896"/>
          </a:xfrm>
          <a:prstGeom prst="rect">
            <a:avLst/>
          </a:prstGeom>
          <a:noFill/>
          <a:ln/>
        </p:spPr>
        <p:txBody>
          <a:bodyPr wrap="square" lIns="0" tIns="0" rIns="0" bIns="0" rtlCol="0" anchor="ctr"/>
          <a:lstStyle/>
          <a:p>
            <a:pPr algn="ctr" indent="0" marL="0">
              <a:buNone/>
            </a:pPr>
            <a:r>
              <a:rPr lang="en-US" sz="1500" b="1" dirty="0">
                <a:solidFill>
                  <a:srgbClr val="001034"/>
                </a:solidFill>
                <a:latin typeface="Arial" pitchFamily="34" charset="0"/>
                <a:ea typeface="Arial" pitchFamily="34" charset="-122"/>
                <a:cs typeface="Arial" pitchFamily="34" charset="-120"/>
              </a:rPr>
              <a:t>Run</a:t>
            </a:r>
            <a:endParaRPr lang="en-US" sz="1500" dirty="0"/>
          </a:p>
        </p:txBody>
      </p:sp>
      <p:sp>
        <p:nvSpPr>
          <p:cNvPr id="28" name="Text 26"/>
          <p:cNvSpPr/>
          <p:nvPr/>
        </p:nvSpPr>
        <p:spPr>
          <a:xfrm>
            <a:off x="9692640" y="2926080"/>
            <a:ext cx="1737360" cy="2286000"/>
          </a:xfrm>
          <a:prstGeom prst="rect">
            <a:avLst/>
          </a:prstGeom>
          <a:noFill/>
          <a:ln/>
        </p:spPr>
        <p:txBody>
          <a:bodyPr wrap="square" lIns="0" tIns="0" rIns="0" bIns="0" rtlCol="0" anchor="ctr"/>
          <a:lstStyle/>
          <a:p>
            <a:pPr indent="0" marL="0">
              <a:lnSpc>
                <a:spcPts val="1350"/>
              </a:lnSpc>
              <a:buNone/>
            </a:pPr>
            <a:r>
              <a:rPr lang="en-US" sz="1050" dirty="0">
                <a:solidFill>
                  <a:srgbClr val="5A6672"/>
                </a:solidFill>
                <a:latin typeface="Calibri" pitchFamily="34" charset="0"/>
                <a:ea typeface="Calibri" pitchFamily="34" charset="-122"/>
                <a:cs typeface="Calibri" pitchFamily="34" charset="-120"/>
              </a:rPr>
              <a:t>The suites stay in place for patches, service packs and the next upgrade — the effort becomes an asset.</a:t>
            </a:r>
            <a:endParaRPr lang="en-US" sz="1050" dirty="0"/>
          </a:p>
        </p:txBody>
      </p:sp>
      <p:sp>
        <p:nvSpPr>
          <p:cNvPr id="29" name="Text 27"/>
          <p:cNvSpPr/>
          <p:nvPr/>
        </p:nvSpPr>
        <p:spPr>
          <a:xfrm>
            <a:off x="640080" y="5532120"/>
            <a:ext cx="10881360" cy="365760"/>
          </a:xfrm>
          <a:prstGeom prst="rect">
            <a:avLst/>
          </a:prstGeom>
          <a:noFill/>
          <a:ln/>
        </p:spPr>
        <p:txBody>
          <a:bodyPr wrap="square" lIns="0" tIns="0" rIns="0" bIns="0" rtlCol="0" anchor="ctr"/>
          <a:lstStyle/>
          <a:p>
            <a:pPr indent="0" marL="0">
              <a:buNone/>
            </a:pPr>
            <a:r>
              <a:rPr lang="en-US" sz="1400" i="1" dirty="0">
                <a:solidFill>
                  <a:srgbClr val="007F80"/>
                </a:solidFill>
                <a:latin typeface="Calibri" pitchFamily="34" charset="0"/>
                <a:ea typeface="Calibri" pitchFamily="34" charset="-122"/>
                <a:cs typeface="Calibri" pitchFamily="34" charset="-120"/>
              </a:rPr>
              <a:t>Built once, reused at every step of the upgrade — and by every upgrade after it.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007F80"/>
                </a:solidFill>
                <a:latin typeface="Arial" pitchFamily="34" charset="0"/>
                <a:ea typeface="Arial" pitchFamily="34" charset="-122"/>
                <a:cs typeface="Arial" pitchFamily="34" charset="-120"/>
              </a:rPr>
              <a:t>THE ASK</a:t>
            </a:r>
            <a:endParaRPr lang="en-US" sz="11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indent="0" marL="0">
              <a:buNone/>
            </a:pPr>
            <a:r>
              <a:rPr lang="en-US" sz="2900" b="1" dirty="0">
                <a:solidFill>
                  <a:srgbClr val="001034"/>
                </a:solidFill>
                <a:latin typeface="Arial" pitchFamily="34" charset="0"/>
                <a:ea typeface="Arial" pitchFamily="34" charset="-122"/>
                <a:cs typeface="Arial" pitchFamily="34" charset="-120"/>
              </a:rPr>
              <a:t>A contained pilot, not a platform programme</a:t>
            </a:r>
            <a:endParaRPr lang="en-US" sz="2900" dirty="0"/>
          </a:p>
        </p:txBody>
      </p:sp>
      <p:sp>
        <p:nvSpPr>
          <p:cNvPr id="4" name="Text 2"/>
          <p:cNvSpPr/>
          <p:nvPr/>
        </p:nvSpPr>
        <p:spPr>
          <a:xfrm>
            <a:off x="640080" y="1335024"/>
            <a:ext cx="10881360" cy="347472"/>
          </a:xfrm>
          <a:prstGeom prst="rect">
            <a:avLst/>
          </a:prstGeom>
          <a:noFill/>
          <a:ln/>
        </p:spPr>
        <p:txBody>
          <a:bodyPr wrap="square" lIns="0" tIns="0" rIns="0" bIns="0" rtlCol="0" anchor="ctr"/>
          <a:lstStyle/>
          <a:p>
            <a:pPr indent="0" marL="0">
              <a:buNone/>
            </a:pPr>
            <a:r>
              <a:rPr lang="en-US" sz="1450" dirty="0">
                <a:solidFill>
                  <a:srgbClr val="5A6672"/>
                </a:solidFill>
                <a:latin typeface="Calibri" pitchFamily="34" charset="0"/>
                <a:ea typeface="Calibri" pitchFamily="34" charset="-122"/>
                <a:cs typeface="Calibri" pitchFamily="34" charset="-120"/>
              </a:rPr>
              <a:t>Six weeks, one Teamcenter environment, one agreed business scope — with a running pipeline as the deliverable.</a:t>
            </a:r>
            <a:endParaRPr lang="en-US" sz="1450" dirty="0"/>
          </a:p>
        </p:txBody>
      </p:sp>
      <p:sp>
        <p:nvSpPr>
          <p:cNvPr id="5" name="Shape 3"/>
          <p:cNvSpPr/>
          <p:nvPr/>
        </p:nvSpPr>
        <p:spPr>
          <a:xfrm>
            <a:off x="640080" y="1828800"/>
            <a:ext cx="3429000" cy="1783080"/>
          </a:xfrm>
          <a:prstGeom prst="roundRect">
            <a:avLst>
              <a:gd name="adj" fmla="val 461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6" name="Text 4"/>
          <p:cNvSpPr/>
          <p:nvPr/>
        </p:nvSpPr>
        <p:spPr>
          <a:xfrm>
            <a:off x="896112" y="2011680"/>
            <a:ext cx="2926080" cy="274320"/>
          </a:xfrm>
          <a:prstGeom prst="rect">
            <a:avLst/>
          </a:prstGeom>
          <a:noFill/>
          <a:ln/>
        </p:spPr>
        <p:txBody>
          <a:bodyPr wrap="square" lIns="0" tIns="0" rIns="0" bIns="0" rtlCol="0" anchor="ctr"/>
          <a:lstStyle/>
          <a:p>
            <a:pPr indent="0" marL="0">
              <a:buNone/>
            </a:pPr>
            <a:r>
              <a:rPr lang="en-US" sz="1200" b="1" dirty="0">
                <a:solidFill>
                  <a:srgbClr val="007F80"/>
                </a:solidFill>
                <a:latin typeface="Arial" pitchFamily="34" charset="0"/>
                <a:ea typeface="Arial" pitchFamily="34" charset="-122"/>
                <a:cs typeface="Arial" pitchFamily="34" charset="-120"/>
              </a:rPr>
              <a:t>Weeks 1–2</a:t>
            </a:r>
            <a:endParaRPr lang="en-US" sz="1200" dirty="0"/>
          </a:p>
        </p:txBody>
      </p:sp>
      <p:sp>
        <p:nvSpPr>
          <p:cNvPr id="7" name="Text 5"/>
          <p:cNvSpPr/>
          <p:nvPr/>
        </p:nvSpPr>
        <p:spPr>
          <a:xfrm>
            <a:off x="896112" y="2313432"/>
            <a:ext cx="2926080" cy="310896"/>
          </a:xfrm>
          <a:prstGeom prst="rect">
            <a:avLst/>
          </a:prstGeom>
          <a:noFill/>
          <a:ln/>
        </p:spPr>
        <p:txBody>
          <a:bodyPr wrap="square" lIns="0" tIns="0" rIns="0" bIns="0" rtlCol="0" anchor="ctr"/>
          <a:lstStyle/>
          <a:p>
            <a:pPr indent="0" marL="0">
              <a:buNone/>
            </a:pPr>
            <a:r>
              <a:rPr lang="en-US" sz="1600" b="1" dirty="0">
                <a:solidFill>
                  <a:srgbClr val="001034"/>
                </a:solidFill>
                <a:latin typeface="Arial" pitchFamily="34" charset="0"/>
                <a:ea typeface="Arial" pitchFamily="34" charset="-122"/>
                <a:cs typeface="Arial" pitchFamily="34" charset="-120"/>
              </a:rPr>
              <a:t>Baseline &amp; setup</a:t>
            </a:r>
            <a:endParaRPr lang="en-US" sz="1600" dirty="0"/>
          </a:p>
        </p:txBody>
      </p:sp>
      <p:sp>
        <p:nvSpPr>
          <p:cNvPr id="8" name="Text 6"/>
          <p:cNvSpPr/>
          <p:nvPr/>
        </p:nvSpPr>
        <p:spPr>
          <a:xfrm>
            <a:off x="896112" y="2679192"/>
            <a:ext cx="2926080" cy="82296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Environment access, current release baselined, pipeline running against your configuration.</a:t>
            </a:r>
            <a:endParaRPr lang="en-US" sz="1050" dirty="0"/>
          </a:p>
        </p:txBody>
      </p:sp>
      <p:sp>
        <p:nvSpPr>
          <p:cNvPr id="9" name="Shape 7"/>
          <p:cNvSpPr/>
          <p:nvPr/>
        </p:nvSpPr>
        <p:spPr>
          <a:xfrm>
            <a:off x="4096512" y="2606040"/>
            <a:ext cx="173736" cy="310896"/>
          </a:xfrm>
          <a:prstGeom prst="chevron">
            <a:avLst/>
          </a:prstGeom>
          <a:solidFill>
            <a:srgbClr val="9FB3C2"/>
          </a:solidFill>
          <a:ln w="12700">
            <a:solidFill>
              <a:srgbClr val="9FB3C2"/>
            </a:solidFill>
            <a:prstDash val="solid"/>
          </a:ln>
        </p:spPr>
      </p:sp>
      <p:sp>
        <p:nvSpPr>
          <p:cNvPr id="10" name="Shape 8"/>
          <p:cNvSpPr/>
          <p:nvPr/>
        </p:nvSpPr>
        <p:spPr>
          <a:xfrm>
            <a:off x="4343400" y="1828800"/>
            <a:ext cx="3429000" cy="1783080"/>
          </a:xfrm>
          <a:prstGeom prst="roundRect">
            <a:avLst>
              <a:gd name="adj" fmla="val 461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1" name="Text 9"/>
          <p:cNvSpPr/>
          <p:nvPr/>
        </p:nvSpPr>
        <p:spPr>
          <a:xfrm>
            <a:off x="4599432" y="2011680"/>
            <a:ext cx="2926080" cy="274320"/>
          </a:xfrm>
          <a:prstGeom prst="rect">
            <a:avLst/>
          </a:prstGeom>
          <a:noFill/>
          <a:ln/>
        </p:spPr>
        <p:txBody>
          <a:bodyPr wrap="square" lIns="0" tIns="0" rIns="0" bIns="0" rtlCol="0" anchor="ctr"/>
          <a:lstStyle/>
          <a:p>
            <a:pPr indent="0" marL="0">
              <a:buNone/>
            </a:pPr>
            <a:r>
              <a:rPr lang="en-US" sz="1200" b="1" dirty="0">
                <a:solidFill>
                  <a:srgbClr val="007F80"/>
                </a:solidFill>
                <a:latin typeface="Arial" pitchFamily="34" charset="0"/>
                <a:ea typeface="Arial" pitchFamily="34" charset="-122"/>
                <a:cs typeface="Arial" pitchFamily="34" charset="-120"/>
              </a:rPr>
              <a:t>Weeks 3–4</a:t>
            </a:r>
            <a:endParaRPr lang="en-US" sz="1200" dirty="0"/>
          </a:p>
        </p:txBody>
      </p:sp>
      <p:sp>
        <p:nvSpPr>
          <p:cNvPr id="12" name="Text 10"/>
          <p:cNvSpPr/>
          <p:nvPr/>
        </p:nvSpPr>
        <p:spPr>
          <a:xfrm>
            <a:off x="4599432" y="2313432"/>
            <a:ext cx="2926080" cy="310896"/>
          </a:xfrm>
          <a:prstGeom prst="rect">
            <a:avLst/>
          </a:prstGeom>
          <a:noFill/>
          <a:ln/>
        </p:spPr>
        <p:txBody>
          <a:bodyPr wrap="square" lIns="0" tIns="0" rIns="0" bIns="0" rtlCol="0" anchor="ctr"/>
          <a:lstStyle/>
          <a:p>
            <a:pPr indent="0" marL="0">
              <a:buNone/>
            </a:pPr>
            <a:r>
              <a:rPr lang="en-US" sz="1600" b="1" dirty="0">
                <a:solidFill>
                  <a:srgbClr val="001034"/>
                </a:solidFill>
                <a:latin typeface="Arial" pitchFamily="34" charset="0"/>
                <a:ea typeface="Arial" pitchFamily="34" charset="-122"/>
                <a:cs typeface="Arial" pitchFamily="34" charset="-120"/>
              </a:rPr>
              <a:t>Build &amp; deploy</a:t>
            </a:r>
            <a:endParaRPr lang="en-US" sz="1600" dirty="0"/>
          </a:p>
        </p:txBody>
      </p:sp>
      <p:sp>
        <p:nvSpPr>
          <p:cNvPr id="13" name="Text 11"/>
          <p:cNvSpPr/>
          <p:nvPr/>
        </p:nvSpPr>
        <p:spPr>
          <a:xfrm>
            <a:off x="4599432" y="2679192"/>
            <a:ext cx="2926080" cy="82296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Automated packaging and deployment of your configuration to the pilot environment.</a:t>
            </a:r>
            <a:endParaRPr lang="en-US" sz="1050" dirty="0"/>
          </a:p>
        </p:txBody>
      </p:sp>
      <p:sp>
        <p:nvSpPr>
          <p:cNvPr id="14" name="Shape 12"/>
          <p:cNvSpPr/>
          <p:nvPr/>
        </p:nvSpPr>
        <p:spPr>
          <a:xfrm>
            <a:off x="7799832" y="2606040"/>
            <a:ext cx="173736" cy="310896"/>
          </a:xfrm>
          <a:prstGeom prst="chevron">
            <a:avLst/>
          </a:prstGeom>
          <a:solidFill>
            <a:srgbClr val="9FB3C2"/>
          </a:solidFill>
          <a:ln w="12700">
            <a:solidFill>
              <a:srgbClr val="9FB3C2"/>
            </a:solidFill>
            <a:prstDash val="solid"/>
          </a:ln>
        </p:spPr>
      </p:sp>
      <p:sp>
        <p:nvSpPr>
          <p:cNvPr id="15" name="Shape 13"/>
          <p:cNvSpPr/>
          <p:nvPr/>
        </p:nvSpPr>
        <p:spPr>
          <a:xfrm>
            <a:off x="8046720" y="1828800"/>
            <a:ext cx="3429000" cy="1783080"/>
          </a:xfrm>
          <a:prstGeom prst="roundRect">
            <a:avLst>
              <a:gd name="adj" fmla="val 4615"/>
            </a:avLst>
          </a:prstGeom>
          <a:solidFill>
            <a:srgbClr val="FFFFFF"/>
          </a:solidFill>
          <a:ln w="9525">
            <a:solidFill>
              <a:srgbClr val="DDE5EA"/>
            </a:solidFill>
            <a:prstDash val="solid"/>
          </a:ln>
          <a:effectLst>
            <a:outerShdw sx="100000" sy="100000" kx="0" ky="0" algn="bl" rotWithShape="0" blurRad="127000" dist="25400" dir="5400000">
              <a:srgbClr val="0A1E4A">
                <a:alpha val="13000"/>
              </a:srgbClr>
            </a:outerShdw>
          </a:effectLst>
        </p:spPr>
      </p:sp>
      <p:sp>
        <p:nvSpPr>
          <p:cNvPr id="16" name="Text 14"/>
          <p:cNvSpPr/>
          <p:nvPr/>
        </p:nvSpPr>
        <p:spPr>
          <a:xfrm>
            <a:off x="8302752" y="2011680"/>
            <a:ext cx="2926080" cy="274320"/>
          </a:xfrm>
          <a:prstGeom prst="rect">
            <a:avLst/>
          </a:prstGeom>
          <a:noFill/>
          <a:ln/>
        </p:spPr>
        <p:txBody>
          <a:bodyPr wrap="square" lIns="0" tIns="0" rIns="0" bIns="0" rtlCol="0" anchor="ctr"/>
          <a:lstStyle/>
          <a:p>
            <a:pPr indent="0" marL="0">
              <a:buNone/>
            </a:pPr>
            <a:r>
              <a:rPr lang="en-US" sz="1200" b="1" dirty="0">
                <a:solidFill>
                  <a:srgbClr val="007F80"/>
                </a:solidFill>
                <a:latin typeface="Arial" pitchFamily="34" charset="0"/>
                <a:ea typeface="Arial" pitchFamily="34" charset="-122"/>
                <a:cs typeface="Arial" pitchFamily="34" charset="-120"/>
              </a:rPr>
              <a:t>Weeks 5–6</a:t>
            </a:r>
            <a:endParaRPr lang="en-US" sz="1200" dirty="0"/>
          </a:p>
        </p:txBody>
      </p:sp>
      <p:sp>
        <p:nvSpPr>
          <p:cNvPr id="17" name="Text 15"/>
          <p:cNvSpPr/>
          <p:nvPr/>
        </p:nvSpPr>
        <p:spPr>
          <a:xfrm>
            <a:off x="8302752" y="2313432"/>
            <a:ext cx="2926080" cy="310896"/>
          </a:xfrm>
          <a:prstGeom prst="rect">
            <a:avLst/>
          </a:prstGeom>
          <a:noFill/>
          <a:ln/>
        </p:spPr>
        <p:txBody>
          <a:bodyPr wrap="square" lIns="0" tIns="0" rIns="0" bIns="0" rtlCol="0" anchor="ctr"/>
          <a:lstStyle/>
          <a:p>
            <a:pPr indent="0" marL="0">
              <a:buNone/>
            </a:pPr>
            <a:r>
              <a:rPr lang="en-US" sz="1600" b="1" dirty="0">
                <a:solidFill>
                  <a:srgbClr val="001034"/>
                </a:solidFill>
                <a:latin typeface="Arial" pitchFamily="34" charset="0"/>
                <a:ea typeface="Arial" pitchFamily="34" charset="-122"/>
                <a:cs typeface="Arial" pitchFamily="34" charset="-120"/>
              </a:rPr>
              <a:t>Test &amp; prove</a:t>
            </a:r>
            <a:endParaRPr lang="en-US" sz="1600" dirty="0"/>
          </a:p>
        </p:txBody>
      </p:sp>
      <p:sp>
        <p:nvSpPr>
          <p:cNvPr id="18" name="Text 16"/>
          <p:cNvSpPr/>
          <p:nvPr/>
        </p:nvSpPr>
        <p:spPr>
          <a:xfrm>
            <a:off x="8302752" y="2679192"/>
            <a:ext cx="2926080" cy="822960"/>
          </a:xfrm>
          <a:prstGeom prst="rect">
            <a:avLst/>
          </a:prstGeom>
          <a:noFill/>
          <a:ln/>
        </p:spPr>
        <p:txBody>
          <a:bodyPr wrap="square" lIns="0" tIns="0" rIns="0" bIns="0" rtlCol="0" anchor="ctr"/>
          <a:lstStyle/>
          <a:p>
            <a:pPr indent="0" marL="0">
              <a:lnSpc>
                <a:spcPts val="1300"/>
              </a:lnSpc>
              <a:buNone/>
            </a:pPr>
            <a:r>
              <a:rPr lang="en-US" sz="1050" dirty="0">
                <a:solidFill>
                  <a:srgbClr val="5A6672"/>
                </a:solidFill>
                <a:latin typeface="Calibri" pitchFamily="34" charset="0"/>
                <a:ea typeface="Calibri" pitchFamily="34" charset="-122"/>
                <a:cs typeface="Calibri" pitchFamily="34" charset="-120"/>
              </a:rPr>
              <a:t>API smoke and regression suites plus a first Active Workspace journey, with published reports.</a:t>
            </a:r>
            <a:endParaRPr lang="en-US" sz="1050" dirty="0"/>
          </a:p>
        </p:txBody>
      </p:sp>
      <p:sp>
        <p:nvSpPr>
          <p:cNvPr id="19" name="Shape 17"/>
          <p:cNvSpPr/>
          <p:nvPr/>
        </p:nvSpPr>
        <p:spPr>
          <a:xfrm>
            <a:off x="640080" y="3840480"/>
            <a:ext cx="5349240" cy="2011680"/>
          </a:xfrm>
          <a:prstGeom prst="roundRect">
            <a:avLst>
              <a:gd name="adj" fmla="val 4091"/>
            </a:avLst>
          </a:prstGeom>
          <a:solidFill>
            <a:srgbClr val="F1F5F7"/>
          </a:solidFill>
          <a:ln w="9525">
            <a:solidFill>
              <a:srgbClr val="DDE5EA"/>
            </a:solidFill>
            <a:prstDash val="solid"/>
          </a:ln>
        </p:spPr>
      </p:sp>
      <p:sp>
        <p:nvSpPr>
          <p:cNvPr id="20" name="Text 18"/>
          <p:cNvSpPr/>
          <p:nvPr/>
        </p:nvSpPr>
        <p:spPr>
          <a:xfrm>
            <a:off x="914400" y="4023360"/>
            <a:ext cx="4754880" cy="292608"/>
          </a:xfrm>
          <a:prstGeom prst="rect">
            <a:avLst/>
          </a:prstGeom>
          <a:noFill/>
          <a:ln/>
        </p:spPr>
        <p:txBody>
          <a:bodyPr wrap="square" lIns="0" tIns="0" rIns="0" bIns="0" rtlCol="0" anchor="ctr"/>
          <a:lstStyle/>
          <a:p>
            <a:pPr indent="0" marL="0">
              <a:buNone/>
            </a:pPr>
            <a:r>
              <a:rPr lang="en-US" sz="1500" b="1" dirty="0">
                <a:solidFill>
                  <a:srgbClr val="001034"/>
                </a:solidFill>
                <a:latin typeface="Arial" pitchFamily="34" charset="0"/>
                <a:ea typeface="Arial" pitchFamily="34" charset="-122"/>
                <a:cs typeface="Arial" pitchFamily="34" charset="-120"/>
              </a:rPr>
              <a:t>What we need from you</a:t>
            </a:r>
            <a:endParaRPr lang="en-US" sz="1500" dirty="0"/>
          </a:p>
        </p:txBody>
      </p:sp>
      <p:sp>
        <p:nvSpPr>
          <p:cNvPr id="21" name="Text 19"/>
          <p:cNvSpPr/>
          <p:nvPr/>
        </p:nvSpPr>
        <p:spPr>
          <a:xfrm>
            <a:off x="914400" y="4407408"/>
            <a:ext cx="4754880" cy="13716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33A"/>
                </a:solidFill>
                <a:latin typeface="Calibri" pitchFamily="34" charset="0"/>
                <a:ea typeface="Calibri" pitchFamily="34" charset="-122"/>
                <a:cs typeface="Calibri" pitchFamily="34" charset="-120"/>
              </a:rPr>
              <a:t>A non-production Teamcenter environment</a:t>
            </a:r>
            <a:endParaRPr lang="en-US" sz="1150" dirty="0"/>
          </a:p>
          <a:p>
            <a:pPr marL="342900" indent="-342900">
              <a:spcAft>
                <a:spcPts val="800"/>
              </a:spcAft>
              <a:buSzPct val="100000"/>
              <a:buChar char="•"/>
            </a:pPr>
            <a:r>
              <a:rPr lang="en-US" sz="1150" dirty="0">
                <a:solidFill>
                  <a:srgbClr val="12233A"/>
                </a:solidFill>
                <a:latin typeface="Calibri" pitchFamily="34" charset="0"/>
                <a:ea typeface="Calibri" pitchFamily="34" charset="-122"/>
                <a:cs typeface="Calibri" pitchFamily="34" charset="-120"/>
              </a:rPr>
              <a:t>Access to the configuration source</a:t>
            </a:r>
            <a:endParaRPr lang="en-US" sz="1150" dirty="0"/>
          </a:p>
          <a:p>
            <a:pPr marL="342900" indent="-342900">
              <a:spcAft>
                <a:spcPts val="800"/>
              </a:spcAft>
              <a:buSzPct val="100000"/>
              <a:buChar char="•"/>
            </a:pPr>
            <a:r>
              <a:rPr lang="en-US" sz="1150" dirty="0">
                <a:solidFill>
                  <a:srgbClr val="12233A"/>
                </a:solidFill>
                <a:latin typeface="Calibri" pitchFamily="34" charset="0"/>
                <a:ea typeface="Calibri" pitchFamily="34" charset="-122"/>
                <a:cs typeface="Calibri" pitchFamily="34" charset="-120"/>
              </a:rPr>
              <a:t>A Jenkins agent that can reach the TC install</a:t>
            </a:r>
            <a:endParaRPr lang="en-US" sz="1150" dirty="0"/>
          </a:p>
          <a:p>
            <a:pPr marL="342900" indent="-342900">
              <a:spcAft>
                <a:spcPts val="800"/>
              </a:spcAft>
              <a:buSzPct val="100000"/>
              <a:buChar char="•"/>
            </a:pPr>
            <a:r>
              <a:rPr lang="en-US" sz="1150" dirty="0">
                <a:solidFill>
                  <a:srgbClr val="12233A"/>
                </a:solidFill>
                <a:latin typeface="Calibri" pitchFamily="34" charset="0"/>
                <a:ea typeface="Calibri" pitchFamily="34" charset="-122"/>
                <a:cs typeface="Calibri" pitchFamily="34" charset="-120"/>
              </a:rPr>
              <a:t>One named PLM contact per week</a:t>
            </a:r>
            <a:endParaRPr lang="en-US" sz="1150" dirty="0"/>
          </a:p>
        </p:txBody>
      </p:sp>
      <p:sp>
        <p:nvSpPr>
          <p:cNvPr id="22" name="Shape 20"/>
          <p:cNvSpPr/>
          <p:nvPr/>
        </p:nvSpPr>
        <p:spPr>
          <a:xfrm>
            <a:off x="6199632" y="3840480"/>
            <a:ext cx="5349240" cy="2011680"/>
          </a:xfrm>
          <a:prstGeom prst="roundRect">
            <a:avLst>
              <a:gd name="adj" fmla="val 4091"/>
            </a:avLst>
          </a:prstGeom>
          <a:solidFill>
            <a:srgbClr val="001034"/>
          </a:solidFill>
          <a:ln/>
        </p:spPr>
      </p:sp>
      <p:sp>
        <p:nvSpPr>
          <p:cNvPr id="23" name="Text 21"/>
          <p:cNvSpPr/>
          <p:nvPr/>
        </p:nvSpPr>
        <p:spPr>
          <a:xfrm>
            <a:off x="6473952" y="4023360"/>
            <a:ext cx="4754880" cy="292608"/>
          </a:xfrm>
          <a:prstGeom prst="rect">
            <a:avLst/>
          </a:prstGeom>
          <a:noFill/>
          <a:ln/>
        </p:spPr>
        <p:txBody>
          <a:bodyPr wrap="square" lIns="0" tIns="0" rIns="0" bIns="0" rtlCol="0" anchor="ctr"/>
          <a:lstStyle/>
          <a:p>
            <a:pPr indent="0" marL="0">
              <a:buNone/>
            </a:pPr>
            <a:r>
              <a:rPr lang="en-US" sz="1500" b="1" dirty="0">
                <a:solidFill>
                  <a:srgbClr val="00E1A0"/>
                </a:solidFill>
                <a:latin typeface="Arial" pitchFamily="34" charset="0"/>
                <a:ea typeface="Arial" pitchFamily="34" charset="-122"/>
                <a:cs typeface="Arial" pitchFamily="34" charset="-120"/>
              </a:rPr>
              <a:t>What you get</a:t>
            </a:r>
            <a:endParaRPr lang="en-US" sz="1500" dirty="0"/>
          </a:p>
        </p:txBody>
      </p:sp>
      <p:sp>
        <p:nvSpPr>
          <p:cNvPr id="24" name="Text 22"/>
          <p:cNvSpPr/>
          <p:nvPr/>
        </p:nvSpPr>
        <p:spPr>
          <a:xfrm>
            <a:off x="6473952" y="4407408"/>
            <a:ext cx="4754880" cy="13716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D6E2EC"/>
                </a:solidFill>
                <a:latin typeface="Calibri" pitchFamily="34" charset="0"/>
                <a:ea typeface="Calibri" pitchFamily="34" charset="-122"/>
                <a:cs typeface="Calibri" pitchFamily="34" charset="-120"/>
              </a:rPr>
              <a:t>A running pipeline on your own environment</a:t>
            </a:r>
            <a:endParaRPr lang="en-US" sz="1150" dirty="0"/>
          </a:p>
          <a:p>
            <a:pPr marL="342900" indent="-342900">
              <a:spcAft>
                <a:spcPts val="800"/>
              </a:spcAft>
              <a:buSzPct val="100000"/>
              <a:buChar char="•"/>
            </a:pPr>
            <a:r>
              <a:rPr lang="en-US" sz="1150" dirty="0">
                <a:solidFill>
                  <a:srgbClr val="D6E2EC"/>
                </a:solidFill>
                <a:latin typeface="Calibri" pitchFamily="34" charset="0"/>
                <a:ea typeface="Calibri" pitchFamily="34" charset="-122"/>
                <a:cs typeface="Calibri" pitchFamily="34" charset="-120"/>
              </a:rPr>
              <a:t>A measured baseline of today's release effort</a:t>
            </a:r>
            <a:endParaRPr lang="en-US" sz="1150" dirty="0"/>
          </a:p>
          <a:p>
            <a:pPr marL="342900" indent="-342900">
              <a:spcAft>
                <a:spcPts val="800"/>
              </a:spcAft>
              <a:buSzPct val="100000"/>
              <a:buChar char="•"/>
            </a:pPr>
            <a:r>
              <a:rPr lang="en-US" sz="1150" dirty="0">
                <a:solidFill>
                  <a:srgbClr val="D6E2EC"/>
                </a:solidFill>
                <a:latin typeface="Calibri" pitchFamily="34" charset="0"/>
                <a:ea typeface="Calibri" pitchFamily="34" charset="-122"/>
                <a:cs typeface="Calibri" pitchFamily="34" charset="-120"/>
              </a:rPr>
              <a:t>Test suites you own and can extend</a:t>
            </a:r>
            <a:endParaRPr lang="en-US" sz="1150" dirty="0"/>
          </a:p>
          <a:p>
            <a:pPr marL="342900" indent="-342900">
              <a:spcAft>
                <a:spcPts val="800"/>
              </a:spcAft>
              <a:buSzPct val="100000"/>
              <a:buChar char="•"/>
            </a:pPr>
            <a:r>
              <a:rPr lang="en-US" sz="1150" dirty="0">
                <a:solidFill>
                  <a:srgbClr val="D6E2EC"/>
                </a:solidFill>
                <a:latin typeface="Calibri" pitchFamily="34" charset="0"/>
                <a:ea typeface="Calibri" pitchFamily="34" charset="-122"/>
                <a:cs typeface="Calibri" pitchFamily="34" charset="-120"/>
              </a:rPr>
              <a:t>A costed plan for the full rollout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1034"/>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A1E4A"/>
          </a:solidFill>
          <a:ln w="9525">
            <a:solidFill>
              <a:srgbClr val="007F80">
                <a:alpha val="45000"/>
              </a:srgbClr>
            </a:solidFill>
            <a:prstDash val="solid"/>
          </a:ln>
        </p:spPr>
      </p:sp>
      <p:sp>
        <p:nvSpPr>
          <p:cNvPr id="3" name="Shape 1"/>
          <p:cNvSpPr/>
          <p:nvPr/>
        </p:nvSpPr>
        <p:spPr>
          <a:xfrm>
            <a:off x="10881360" y="4754880"/>
            <a:ext cx="2926080" cy="2926080"/>
          </a:xfrm>
          <a:prstGeom prst="ellipse">
            <a:avLst/>
          </a:prstGeom>
          <a:solidFill>
            <a:srgbClr val="0A1E4A"/>
          </a:solidFill>
          <a:ln w="9525">
            <a:solidFill>
              <a:srgbClr val="00E1A0">
                <a:alpha val="35000"/>
              </a:srgbClr>
            </a:solidFill>
            <a:prstDash val="solid"/>
          </a:ln>
        </p:spPr>
      </p:sp>
      <p:sp>
        <p:nvSpPr>
          <p:cNvPr id="4" name="Text 2"/>
          <p:cNvSpPr/>
          <p:nvPr/>
        </p:nvSpPr>
        <p:spPr>
          <a:xfrm>
            <a:off x="640080" y="1828800"/>
            <a:ext cx="8046720" cy="173736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The upgrade is not the risk.</a:t>
            </a:r>
            <a:endParaRPr lang="en-US" sz="3600" dirty="0"/>
          </a:p>
          <a:p>
            <a:pPr indent="0" marL="0">
              <a:lnSpc>
                <a:spcPts val="4400"/>
              </a:lnSpc>
              <a:buNone/>
            </a:pPr>
            <a:r>
              <a:rPr lang="en-US" sz="3600" b="1" dirty="0">
                <a:solidFill>
                  <a:srgbClr val="FFFFFF"/>
                </a:solidFill>
                <a:latin typeface="Arial" pitchFamily="34" charset="0"/>
                <a:ea typeface="Arial" pitchFamily="34" charset="-122"/>
                <a:cs typeface="Arial" pitchFamily="34" charset="-120"/>
              </a:rPr>
              <a:t>The untested release is.</a:t>
            </a:r>
            <a:endParaRPr lang="en-US" sz="3600" dirty="0"/>
          </a:p>
        </p:txBody>
      </p:sp>
      <p:sp>
        <p:nvSpPr>
          <p:cNvPr id="5" name="Text 3"/>
          <p:cNvSpPr/>
          <p:nvPr/>
        </p:nvSpPr>
        <p:spPr>
          <a:xfrm>
            <a:off x="640080" y="3611880"/>
            <a:ext cx="7589520" cy="1005840"/>
          </a:xfrm>
          <a:prstGeom prst="rect">
            <a:avLst/>
          </a:prstGeom>
          <a:noFill/>
          <a:ln/>
        </p:spPr>
        <p:txBody>
          <a:bodyPr wrap="square" lIns="0" tIns="0" rIns="0" bIns="0" rtlCol="0" anchor="ctr"/>
          <a:lstStyle/>
          <a:p>
            <a:pPr indent="0" marL="0">
              <a:lnSpc>
                <a:spcPts val="2200"/>
              </a:lnSpc>
              <a:buNone/>
            </a:pPr>
            <a:r>
              <a:rPr lang="en-US" sz="1500" dirty="0">
                <a:solidFill>
                  <a:srgbClr val="C7D3DE"/>
                </a:solidFill>
                <a:latin typeface="Calibri" pitchFamily="34" charset="0"/>
                <a:ea typeface="Calibri" pitchFamily="34" charset="-122"/>
                <a:cs typeface="Calibri" pitchFamily="34" charset="-120"/>
              </a:rPr>
              <a:t>The pipeline, the deploy engine and the test framework already exist. The next step is proving them on a real environment and turning the result into a repeatable offer.</a:t>
            </a:r>
            <a:endParaRPr lang="en-US" sz="1500" dirty="0"/>
          </a:p>
        </p:txBody>
      </p:sp>
      <p:sp>
        <p:nvSpPr>
          <p:cNvPr id="6" name="Shape 4"/>
          <p:cNvSpPr/>
          <p:nvPr/>
        </p:nvSpPr>
        <p:spPr>
          <a:xfrm>
            <a:off x="640080" y="4846320"/>
            <a:ext cx="2606040" cy="685800"/>
          </a:xfrm>
          <a:prstGeom prst="roundRect">
            <a:avLst>
              <a:gd name="adj" fmla="val 16000"/>
            </a:avLst>
          </a:prstGeom>
          <a:solidFill>
            <a:srgbClr val="0A1E4A"/>
          </a:solidFill>
          <a:ln w="9525">
            <a:solidFill>
              <a:srgbClr val="00A5A6"/>
            </a:solidFill>
            <a:prstDash val="solid"/>
          </a:ln>
        </p:spPr>
      </p:sp>
      <p:sp>
        <p:nvSpPr>
          <p:cNvPr id="7" name="Text 5"/>
          <p:cNvSpPr/>
          <p:nvPr/>
        </p:nvSpPr>
        <p:spPr>
          <a:xfrm>
            <a:off x="868680" y="4846320"/>
            <a:ext cx="237744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Agree the pilot scope</a:t>
            </a:r>
            <a:endParaRPr lang="en-US" sz="1300" dirty="0"/>
          </a:p>
        </p:txBody>
      </p:sp>
      <p:sp>
        <p:nvSpPr>
          <p:cNvPr id="8" name="Shape 6"/>
          <p:cNvSpPr/>
          <p:nvPr/>
        </p:nvSpPr>
        <p:spPr>
          <a:xfrm>
            <a:off x="3429000" y="4846320"/>
            <a:ext cx="2606040" cy="685800"/>
          </a:xfrm>
          <a:prstGeom prst="roundRect">
            <a:avLst>
              <a:gd name="adj" fmla="val 16000"/>
            </a:avLst>
          </a:prstGeom>
          <a:solidFill>
            <a:srgbClr val="0A1E4A"/>
          </a:solidFill>
          <a:ln w="9525">
            <a:solidFill>
              <a:srgbClr val="00A5A6"/>
            </a:solidFill>
            <a:prstDash val="solid"/>
          </a:ln>
        </p:spPr>
      </p:sp>
      <p:sp>
        <p:nvSpPr>
          <p:cNvPr id="9" name="Text 7"/>
          <p:cNvSpPr/>
          <p:nvPr/>
        </p:nvSpPr>
        <p:spPr>
          <a:xfrm>
            <a:off x="3657600" y="4846320"/>
            <a:ext cx="237744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Confirm environment access</a:t>
            </a:r>
            <a:endParaRPr lang="en-US" sz="1300" dirty="0"/>
          </a:p>
        </p:txBody>
      </p:sp>
      <p:sp>
        <p:nvSpPr>
          <p:cNvPr id="10" name="Shape 8"/>
          <p:cNvSpPr/>
          <p:nvPr/>
        </p:nvSpPr>
        <p:spPr>
          <a:xfrm>
            <a:off x="6217920" y="4846320"/>
            <a:ext cx="2606040" cy="685800"/>
          </a:xfrm>
          <a:prstGeom prst="roundRect">
            <a:avLst>
              <a:gd name="adj" fmla="val 16000"/>
            </a:avLst>
          </a:prstGeom>
          <a:solidFill>
            <a:srgbClr val="0A1E4A"/>
          </a:solidFill>
          <a:ln w="9525">
            <a:solidFill>
              <a:srgbClr val="00A5A6"/>
            </a:solidFill>
            <a:prstDash val="solid"/>
          </a:ln>
        </p:spPr>
      </p:sp>
      <p:sp>
        <p:nvSpPr>
          <p:cNvPr id="11" name="Text 9"/>
          <p:cNvSpPr/>
          <p:nvPr/>
        </p:nvSpPr>
        <p:spPr>
          <a:xfrm>
            <a:off x="6446520" y="4846320"/>
            <a:ext cx="237744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Start week 1</a:t>
            </a:r>
            <a:endParaRPr lang="en-US" sz="1300" dirty="0"/>
          </a:p>
        </p:txBody>
      </p:sp>
      <p:sp>
        <p:nvSpPr>
          <p:cNvPr id="12" name="Text 10"/>
          <p:cNvSpPr/>
          <p:nvPr/>
        </p:nvSpPr>
        <p:spPr>
          <a:xfrm>
            <a:off x="640080" y="5989320"/>
            <a:ext cx="7315200" cy="274320"/>
          </a:xfrm>
          <a:prstGeom prst="rect">
            <a:avLst/>
          </a:prstGeom>
          <a:noFill/>
          <a:ln/>
        </p:spPr>
        <p:txBody>
          <a:bodyPr wrap="square" lIns="0" tIns="0" rIns="0" bIns="0" rtlCol="0" anchor="ctr"/>
          <a:lstStyle/>
          <a:p>
            <a:pPr indent="0" marL="0">
              <a:buNone/>
            </a:pPr>
            <a:r>
              <a:rPr lang="en-US" sz="1100" dirty="0">
                <a:solidFill>
                  <a:srgbClr val="8FA3B5"/>
                </a:solidFill>
                <a:latin typeface="Calibri" pitchFamily="34" charset="0"/>
                <a:ea typeface="Calibri" pitchFamily="34" charset="-122"/>
                <a:cs typeface="Calibri" pitchFamily="34" charset="-120"/>
              </a:rPr>
              <a:t>MHP  ·  PLM Engineering  ·  Teamcenter migration &amp; upgrade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Delivery for Teamcenter</dc:title>
  <dc:subject>PptxGenJS Presentation</dc:subject>
  <dc:creator>MHP</dc:creator>
  <cp:lastModifiedBy>MHP</cp:lastModifiedBy>
  <cp:revision>1</cp:revision>
  <dcterms:created xsi:type="dcterms:W3CDTF">2026-08-20T07:48:52Z</dcterms:created>
  <dcterms:modified xsi:type="dcterms:W3CDTF">2026-08-20T07:48:52Z</dcterms:modified>
</cp:coreProperties>
</file>